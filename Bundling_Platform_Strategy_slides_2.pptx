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274861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ONLY–CONFIDENTIAL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– as a Platform Capability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Funding Hub creates bundles as first-class services today. The strategy takes bundling from static — fixed at boarding, a release per bundle — to dynamic and serviceable, so any product team can compose and launch bundles as configuration.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02920" y="1207008"/>
            <a:ext cx="6812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MODEL — THREE COMPOSABLE LAYERS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502920" y="1481328"/>
            <a:ext cx="6812280" cy="749808"/>
          </a:xfrm>
          <a:prstGeom prst="roundRect">
            <a:avLst>
              <a:gd name="adj" fmla="val 6098"/>
            </a:avLst>
          </a:prstGeom>
          <a:solidFill>
            <a:srgbClr val="1F6FB2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31520" y="1481328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 · ANCHOR — Processing tier</a:t>
            </a:r>
          </a:p>
          <a:p>
            <a:pPr marL="0" indent="0">
              <a:lnSpc>
                <a:spcPts val="1500"/>
              </a:lnSpc>
              <a:buNone/>
            </a:pPr>
            <a:r>
              <a:rPr lang="en-US" sz="1000" dirty="0">
                <a:solidFill>
                  <a:srgbClr val="DC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merchant picks one. Carries the relationship — bundles attach to it.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502920" y="235915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· ATTACHABLE SERVICE BUNDLES (OR INDIVIDUAL PRODUCTS)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502920" y="2633472"/>
            <a:ext cx="1572768" cy="1298448"/>
          </a:xfrm>
          <a:prstGeom prst="roundRect">
            <a:avLst>
              <a:gd name="adj" fmla="val 3521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30936" y="2743200"/>
            <a:ext cx="1316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Optimization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Auth uplift · tokens · updater · retries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2249424" y="2633472"/>
            <a:ext cx="1572768" cy="1298448"/>
          </a:xfrm>
          <a:prstGeom prst="roundRect">
            <a:avLst>
              <a:gd name="adj" fmla="val 3521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2377440" y="2743200"/>
            <a:ext cx="1316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Protection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Fraud · 3DS · disputes · risk controls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3995928" y="2633472"/>
            <a:ext cx="1572768" cy="1298448"/>
          </a:xfrm>
          <a:prstGeom prst="roundRect">
            <a:avLst>
              <a:gd name="adj" fmla="val 3521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123944" y="2743200"/>
            <a:ext cx="1316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Reporting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· data products · recon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742432" y="2633472"/>
            <a:ext cx="1572768" cy="1298448"/>
          </a:xfrm>
          <a:prstGeom prst="roundRect">
            <a:avLst>
              <a:gd name="adj" fmla="val 3521"/>
            </a:avLst>
          </a:prstGeom>
          <a:solidFill>
            <a:srgbClr val="FFFFFF"/>
          </a:solidFill>
          <a:ln w="15875">
            <a:solidFill>
              <a:srgbClr val="2E7D9E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870448" y="2743200"/>
            <a:ext cx="1316736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1100" b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slot</a:t>
            </a:r>
            <a:endParaRPr lang="en-US" sz="1100" dirty="0"/>
          </a:p>
          <a:p>
            <a:pPr marL="0" indent="0">
              <a:lnSpc>
                <a:spcPts val="1200"/>
              </a:lnSpc>
              <a:buNone/>
            </a:pPr>
            <a:r>
              <a:rPr lang="en-US" sz="8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Any product team plugs in — loyalty, VAS, FX …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502920" y="4005072"/>
            <a:ext cx="6812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Examples today — target state: an open catalog where bundles are configuration, not releases.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02920" y="4370832"/>
            <a:ext cx="6812280" cy="749808"/>
          </a:xfrm>
          <a:prstGeom prst="roundRect">
            <a:avLst>
              <a:gd name="adj" fmla="val 6098"/>
            </a:avLst>
          </a:prstGeom>
          <a:solidFill>
            <a:srgbClr val="F6F0EA"/>
          </a:solidFill>
          <a:ln w="12700">
            <a:solidFill>
              <a:srgbClr val="8B5E3C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31520" y="4370832"/>
            <a:ext cx="63550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15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· ADJUSTMENTS — applied across the combined bill</a:t>
            </a:r>
            <a:endParaRPr lang="en-US" sz="1150" dirty="0"/>
          </a:p>
          <a:p>
            <a:pPr marL="0" indent="0">
              <a:lnSpc>
                <a:spcPts val="14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Rewards, tenure step-downs, multi-bundle discounts, Earned Credit Rate — levers, not price cuts.</a:t>
            </a:r>
            <a:endParaRPr lang="en-US" sz="1150" dirty="0"/>
          </a:p>
        </p:txBody>
      </p:sp>
      <p:sp>
        <p:nvSpPr>
          <p:cNvPr id="20" name="Text 18"/>
          <p:cNvSpPr/>
          <p:nvPr/>
        </p:nvSpPr>
        <p:spPr>
          <a:xfrm>
            <a:off x="7635240" y="1207008"/>
            <a:ext cx="4069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WHERE WE STAND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7635240" y="1481328"/>
            <a:ext cx="4069080" cy="1828800"/>
          </a:xfrm>
          <a:prstGeom prst="roundRect">
            <a:avLst>
              <a:gd name="adj" fmla="val 2500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7836408" y="1609344"/>
            <a:ext cx="3666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PLACE TODAY — static bundles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7836408" y="1901952"/>
            <a:ext cx="3666744" cy="13167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as a first-class service code, composing child service codes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Child services suppressed — no double-pricing when the bundle is billed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Bundle-level qualification; every service GL-mapped and certified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7635240" y="3474720"/>
            <a:ext cx="4069080" cy="1645920"/>
          </a:xfrm>
          <a:prstGeom prst="roundRect">
            <a:avLst>
              <a:gd name="adj" fmla="val 2778"/>
            </a:avLst>
          </a:prstGeom>
          <a:solidFill>
            <a:srgbClr val="F6F0EA"/>
          </a:solidFill>
          <a:ln w="12700">
            <a:solidFill>
              <a:srgbClr val="8B5E3C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7836408" y="3602736"/>
            <a:ext cx="36667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GAP — bundles are fixed, not serviceable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7836408" y="3895344"/>
            <a:ext cx="3666744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pro-ration or credits — merchants can’t switch into or between bundles mid-cycle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path from standalone services into a bundle</a:t>
            </a:r>
            <a:endParaRPr lang="en-US" sz="9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95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new bundle is a release — GL setup and a full test cycle per service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502920" y="5440680"/>
            <a:ext cx="11201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50" b="1" i="1" dirty="0">
                <a:solidFill>
                  <a:srgbClr val="16588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vision: any product team composes, prices, and launches a bundle as configuration — no GL project, no release train.</a:t>
            </a:r>
            <a:endParaRPr lang="en-US" sz="12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ONLY–CONFIDENTIAL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merchant motion — à la carte to bundle, without friction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shouldn’t have to choose a bundle on day one. They adopt services as needs emerge — and the platform moves them to the best packaging as they grow. 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443484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626364" y="1600200"/>
            <a:ext cx="384048" cy="38404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626364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120140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START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À la carte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4652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 on a processing tier adds a single service — e.g., network tokens — standalone. No bundle commitment required.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31236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3342132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EF5FB"/>
          </a:solidFill>
          <a:ln w="12700">
            <a:solidFill>
              <a:srgbClr val="1F6FB2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3525012" y="1600200"/>
            <a:ext cx="384048" cy="384048"/>
          </a:xfrm>
          <a:prstGeom prst="ellipse">
            <a:avLst/>
          </a:prstGeom>
          <a:solidFill>
            <a:srgbClr val="1F6FB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3525012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4018788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1F6FB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ACCUMULATE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Services add up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543300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and third service follow. The platform sees standalone spend approaching the bundle price point.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929884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6240780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EDF5F8"/>
          </a:solidFill>
          <a:ln w="12700">
            <a:solidFill>
              <a:srgbClr val="2E7D9E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6423660" y="1600200"/>
            <a:ext cx="384048" cy="384048"/>
          </a:xfrm>
          <a:prstGeom prst="ellipse">
            <a:avLst/>
          </a:prstGeom>
          <a:solidFill>
            <a:srgbClr val="2E7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6423660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6917436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2E7D9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CONVERT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Roll into the bundle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6441948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Standalone services roll into the right bundle — charges pro-rated back, credits applied, one line on the Commerce bill. Works in reverse: drop a service, the platform re-rates cleanly.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8828532" y="25786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▶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9139428" y="1417320"/>
            <a:ext cx="2606040" cy="2651760"/>
          </a:xfrm>
          <a:prstGeom prst="roundRect">
            <a:avLst>
              <a:gd name="adj" fmla="val 2105"/>
            </a:avLst>
          </a:prstGeom>
          <a:solidFill>
            <a:srgbClr val="F6F0EA"/>
          </a:solidFill>
          <a:ln w="12700">
            <a:solidFill>
              <a:srgbClr val="8B5E3C"/>
            </a:solidFill>
            <a:prstDash val="solid"/>
          </a:ln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9322308" y="1600200"/>
            <a:ext cx="384048" cy="384048"/>
          </a:xfrm>
          <a:prstGeom prst="ellipse">
            <a:avLst/>
          </a:prstGeom>
          <a:solidFill>
            <a:srgbClr val="8B5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9322308" y="16002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9816084" y="1581912"/>
            <a:ext cx="1783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300" b="1" dirty="0">
                <a:solidFill>
                  <a:srgbClr val="8B5E3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GROW</a:t>
            </a:r>
            <a:endParaRPr lang="en-US" sz="1300" dirty="0"/>
          </a:p>
          <a:p>
            <a:pPr marL="0" indent="0">
              <a:lnSpc>
                <a:spcPts val="1300"/>
              </a:lnSpc>
              <a:buNone/>
            </a:pPr>
            <a:r>
              <a:rPr lang="en-US" sz="9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Expand &amp; retain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9340596" y="2167128"/>
            <a:ext cx="2203704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00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Utilization drives the next conversation — a second bundle, a higher tier, enterprise adjustments. Attach compounds; churn drops.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443484" y="4434840"/>
            <a:ext cx="11301984" cy="960120"/>
          </a:xfrm>
          <a:prstGeom prst="roundRect">
            <a:avLst>
              <a:gd name="adj" fmla="val 4762"/>
            </a:avLst>
          </a:prstGeom>
          <a:solidFill>
            <a:srgbClr val="16588F"/>
          </a:solidFill>
          <a:ln/>
          <a:effectLst>
            <a:outerShdw blurRad="63500" dist="25400" dir="27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/>
          <p:nvPr/>
        </p:nvSpPr>
        <p:spPr>
          <a:xfrm>
            <a:off x="717804" y="4434840"/>
            <a:ext cx="10753344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None of this motion exists today.  </a:t>
            </a:r>
            <a:r>
              <a:rPr lang="en-US" sz="1050" dirty="0">
                <a:solidFill>
                  <a:srgbClr val="DCEBF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Bundles are fixed at boarding — no pro-ration, no switch credits, no conversion path from standalone services. And it only works on native Commerce billing: this cannot be assembled over ETL-to-Core. Once built, every added service makes the relationship harder to displace on price alone.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778240" y="201168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750" kern="0" spc="200" dirty="0">
                <a:solidFill>
                  <a:srgbClr val="8C8C8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JPMC INTERNAL USE ONLY–CONFIDENTIAL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256032"/>
            <a:ext cx="8229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Capability Status - Bundling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502920" y="694944"/>
            <a:ext cx="11155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400"/>
              </a:lnSpc>
              <a:buNone/>
            </a:pPr>
            <a:r>
              <a:rPr lang="en-US" sz="1050" i="1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creation exists. What’s missing is everything that happens after — switching, servicing, and composing bundles without a release. Four capabilities turn bundling from a per-bundle engineering project into a platform any product team can use.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02920" y="1371600"/>
            <a:ext cx="11201400" cy="365760"/>
          </a:xfrm>
          <a:prstGeom prst="rect">
            <a:avLst/>
          </a:prstGeom>
          <a:solidFill>
            <a:srgbClr val="16588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667512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CAPABILITY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3685032" y="1371600"/>
            <a:ext cx="6537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WHAT IT ENABLES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0241280" y="1371600"/>
            <a:ext cx="14630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STATUS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502920" y="1737360"/>
            <a:ext cx="11201400" cy="658368"/>
          </a:xfrm>
          <a:prstGeom prst="rect">
            <a:avLst/>
          </a:prstGeom>
          <a:solidFill>
            <a:srgbClr val="EDF5F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67512" y="1737360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as a first-class service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3685032" y="1737360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service code composes child services; children suppressed when the bundle is billed; bundle carries its own qualification; every service GL-mapped and certified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10497312" y="1938528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2E7D9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497312" y="1938528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667512" y="2395728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Pro-ration &amp; switch credits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3685032" y="2395728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Merchants move into a bundle — or between bundles — mid-cycle, with unused standalone charges credited automatically rather than by Ops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497312" y="2596896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497312" y="2596896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667512" y="3877056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Bundle servicing &amp; lifecycle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3685032" y="3877056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Upgrade, downgrade, add or drop a component, cancel — full lifecycle with automatic re-rating, no re-boarding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10497312" y="4078224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10497312" y="4078224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  <p:sp>
        <p:nvSpPr>
          <p:cNvPr id="27" name="Shape 25"/>
          <p:cNvSpPr/>
          <p:nvPr/>
        </p:nvSpPr>
        <p:spPr>
          <a:xfrm>
            <a:off x="502920" y="3182112"/>
            <a:ext cx="11201400" cy="658368"/>
          </a:xfrm>
          <a:prstGeom prst="rect">
            <a:avLst/>
          </a:prstGeom>
          <a:solidFill>
            <a:srgbClr val="F5F8F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667512" y="3182112"/>
            <a:ext cx="2743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300"/>
              </a:lnSpc>
              <a:buNone/>
            </a:pPr>
            <a:r>
              <a:rPr lang="en-US" sz="1050" b="1" dirty="0">
                <a:solidFill>
                  <a:srgbClr val="1A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Dynamic bundle composition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3685032" y="3182112"/>
            <a:ext cx="6400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ts val="1200"/>
              </a:lnSpc>
              <a:buNone/>
            </a:pPr>
            <a:r>
              <a:rPr lang="en-US" sz="950" dirty="0">
                <a:solidFill>
                  <a:srgbClr val="5959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bundles composed from pre-certified services — GL mapping inherited from constituents, no per-bundle test cycle. A bundle becomes configuration, not a release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10497312" y="3383280"/>
            <a:ext cx="950976" cy="256032"/>
          </a:xfrm>
          <a:prstGeom prst="roundRect">
            <a:avLst>
              <a:gd name="adj" fmla="val 50000"/>
            </a:avLst>
          </a:prstGeom>
          <a:solidFill>
            <a:srgbClr val="8B5E3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10497312" y="3383280"/>
            <a:ext cx="950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</TotalTime>
  <Words>689</Words>
  <Application>Microsoft Office PowerPoint</Application>
  <PresentationFormat>Widescreen</PresentationFormat>
  <Paragraphs>72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5" baseType="lpstr">
      <vt:lpstr>Arial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Bundling Platform Strategy</dc:title>
  <dc:subject>PptxGenJS Presentation</dc:subject>
  <dc:creator>Transaction Processing</dc:creator>
  <cp:lastModifiedBy>James Nampalam</cp:lastModifiedBy>
  <cp:revision>4</cp:revision>
  <dcterms:created xsi:type="dcterms:W3CDTF">2026-07-06T15:53:00Z</dcterms:created>
  <dcterms:modified xsi:type="dcterms:W3CDTF">2026-07-06T19:32:14Z</dcterms:modified>
</cp:coreProperties>
</file>