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5" d="100"/>
          <a:sy n="135" d="100"/>
        </p:scale>
        <p:origin x="92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0143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914400"/>
            <a:ext cx="7680960" cy="914400"/>
          </a:xfrm>
          <a:prstGeom prst="rect">
            <a:avLst/>
          </a:prstGeom>
          <a:noFill/>
          <a:ln/>
        </p:spPr>
        <p:txBody>
          <a:bodyPr wrap="square" lIns="0" tIns="0" rIns="0" bIns="0" rtlCol="0" anchor="ctr"/>
          <a:lstStyle/>
          <a:p>
            <a:pPr marL="0" indent="0">
              <a:buNone/>
            </a:pPr>
            <a:r>
              <a:rPr lang="en-US" sz="4000" b="1" dirty="0">
                <a:solidFill>
                  <a:srgbClr val="FFFFFF"/>
                </a:solidFill>
              </a:rPr>
              <a:t>Monetization Strategy</a:t>
            </a:r>
            <a:endParaRPr lang="en-US" sz="4000" dirty="0"/>
          </a:p>
        </p:txBody>
      </p:sp>
      <p:sp>
        <p:nvSpPr>
          <p:cNvPr id="3" name="Text 1"/>
          <p:cNvSpPr/>
          <p:nvPr/>
        </p:nvSpPr>
        <p:spPr>
          <a:xfrm>
            <a:off x="731520" y="1828800"/>
            <a:ext cx="7680960" cy="457200"/>
          </a:xfrm>
          <a:prstGeom prst="rect">
            <a:avLst/>
          </a:prstGeom>
          <a:noFill/>
          <a:ln/>
        </p:spPr>
        <p:txBody>
          <a:bodyPr wrap="square" lIns="0" tIns="0" rIns="0" bIns="0" rtlCol="0" anchor="ctr"/>
          <a:lstStyle/>
          <a:p>
            <a:pPr marL="0" indent="0">
              <a:buNone/>
            </a:pPr>
            <a:r>
              <a:rPr lang="en-US" sz="2000" dirty="0">
                <a:solidFill>
                  <a:srgbClr val="CADCFC"/>
                </a:solidFill>
              </a:rPr>
              <a:t>Transaction Processing Platform</a:t>
            </a:r>
            <a:endParaRPr lang="en-US" sz="2000" dirty="0"/>
          </a:p>
        </p:txBody>
      </p:sp>
      <p:sp>
        <p:nvSpPr>
          <p:cNvPr id="4" name="Shape 2"/>
          <p:cNvSpPr/>
          <p:nvPr/>
        </p:nvSpPr>
        <p:spPr>
          <a:xfrm>
            <a:off x="731520" y="2468880"/>
            <a:ext cx="2286000" cy="0"/>
          </a:xfrm>
          <a:prstGeom prst="line">
            <a:avLst/>
          </a:prstGeom>
          <a:noFill/>
          <a:ln w="38100">
            <a:solidFill>
              <a:srgbClr val="2D6CDF"/>
            </a:solidFill>
            <a:prstDash val="solid"/>
          </a:ln>
        </p:spPr>
        <p:txBody>
          <a:bodyPr/>
          <a:lstStyle/>
          <a:p>
            <a:endParaRPr lang="en-US"/>
          </a:p>
        </p:txBody>
      </p:sp>
      <p:sp>
        <p:nvSpPr>
          <p:cNvPr id="5" name="Text 3"/>
          <p:cNvSpPr/>
          <p:nvPr/>
        </p:nvSpPr>
        <p:spPr>
          <a:xfrm>
            <a:off x="731520" y="2651760"/>
            <a:ext cx="7315200" cy="548640"/>
          </a:xfrm>
          <a:prstGeom prst="rect">
            <a:avLst/>
          </a:prstGeom>
          <a:noFill/>
          <a:ln/>
        </p:spPr>
        <p:txBody>
          <a:bodyPr wrap="square" lIns="0" tIns="0" rIns="0" bIns="0" rtlCol="0" anchor="ctr"/>
          <a:lstStyle/>
          <a:p>
            <a:pPr marL="0" indent="0">
              <a:buNone/>
            </a:pPr>
            <a:r>
              <a:rPr lang="en-US" sz="1300" i="1" dirty="0">
                <a:solidFill>
                  <a:srgbClr val="AAB8D8"/>
                </a:solidFill>
              </a:rPr>
              <a:t>A platform strategy that converts products into revenue —</a:t>
            </a:r>
            <a:endParaRPr lang="en-US" sz="1300" dirty="0"/>
          </a:p>
          <a:p>
            <a:pPr marL="0" indent="0">
              <a:buNone/>
            </a:pPr>
            <a:r>
              <a:rPr lang="en-US" sz="1300" i="1" dirty="0">
                <a:solidFill>
                  <a:srgbClr val="AAB8D8"/>
                </a:solidFill>
              </a:rPr>
              <a:t>consistently, scalably, natively on Commerce.</a:t>
            </a:r>
            <a:endParaRPr lang="en-US" sz="1300" dirty="0"/>
          </a:p>
        </p:txBody>
      </p:sp>
      <p:sp>
        <p:nvSpPr>
          <p:cNvPr id="6" name="Text 4"/>
          <p:cNvSpPr/>
          <p:nvPr/>
        </p:nvSpPr>
        <p:spPr>
          <a:xfrm>
            <a:off x="731520" y="3383280"/>
            <a:ext cx="7315200" cy="365760"/>
          </a:xfrm>
          <a:prstGeom prst="rect">
            <a:avLst/>
          </a:prstGeom>
          <a:noFill/>
          <a:ln/>
        </p:spPr>
        <p:txBody>
          <a:bodyPr wrap="square" lIns="0" tIns="0" rIns="0" bIns="0" rtlCol="0" anchor="ctr"/>
          <a:lstStyle/>
          <a:p>
            <a:pPr marL="0" indent="0">
              <a:buNone/>
            </a:pPr>
            <a:r>
              <a:rPr lang="en-US" sz="1400" dirty="0">
                <a:solidFill>
                  <a:srgbClr val="8899BB"/>
                </a:solidFill>
              </a:rPr>
              <a:t>Working Draft v7  |  April 2026</a:t>
            </a:r>
            <a:endParaRPr lang="en-US" sz="1400" dirty="0"/>
          </a:p>
        </p:txBody>
      </p:sp>
      <p:sp>
        <p:nvSpPr>
          <p:cNvPr id="7" name="Text 5"/>
          <p:cNvSpPr/>
          <p:nvPr/>
        </p:nvSpPr>
        <p:spPr>
          <a:xfrm>
            <a:off x="731520" y="4389120"/>
            <a:ext cx="2743200" cy="274320"/>
          </a:xfrm>
          <a:prstGeom prst="rect">
            <a:avLst/>
          </a:prstGeom>
          <a:noFill/>
          <a:ln/>
        </p:spPr>
        <p:txBody>
          <a:bodyPr wrap="square" lIns="0" tIns="0" rIns="0" bIns="0" rtlCol="0" anchor="ctr"/>
          <a:lstStyle/>
          <a:p>
            <a:pPr marL="0" indent="0">
              <a:buNone/>
            </a:pPr>
            <a:r>
              <a:rPr lang="en-US" sz="1000" dirty="0">
                <a:solidFill>
                  <a:srgbClr val="6677AA"/>
                </a:solidFill>
              </a:rPr>
              <a:t>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400" b="1" dirty="0">
                <a:solidFill>
                  <a:srgbClr val="1E2761"/>
                </a:solidFill>
              </a:rPr>
              <a:t>Why a monetization platform strategy?</a:t>
            </a:r>
            <a:endParaRPr lang="en-US" sz="2400" dirty="0"/>
          </a:p>
        </p:txBody>
      </p:sp>
      <p:sp>
        <p:nvSpPr>
          <p:cNvPr id="3" name="Text 1"/>
          <p:cNvSpPr/>
          <p:nvPr/>
        </p:nvSpPr>
        <p:spPr>
          <a:xfrm>
            <a:off x="548640" y="731520"/>
            <a:ext cx="8229600" cy="457200"/>
          </a:xfrm>
          <a:prstGeom prst="rect">
            <a:avLst/>
          </a:prstGeom>
          <a:noFill/>
          <a:ln/>
        </p:spPr>
        <p:txBody>
          <a:bodyPr wrap="square" lIns="0" tIns="0" rIns="0" bIns="0" rtlCol="0" anchor="ctr"/>
          <a:lstStyle/>
          <a:p>
            <a:pPr marL="0" indent="0">
              <a:buNone/>
            </a:pPr>
            <a:r>
              <a:rPr lang="en-US" sz="1000" dirty="0">
                <a:solidFill>
                  <a:srgbClr val="5A5A5A"/>
                </a:solidFill>
              </a:rPr>
              <a:t>Products are being delivered faster than they can be monetized. The platform lacks a consistent, scalable mechanism to convert new services into billable revenue — creating fragmentation across Core and Commerce that compounds with every new product launch.</a:t>
            </a:r>
            <a:endParaRPr lang="en-US" sz="1000" dirty="0"/>
          </a:p>
        </p:txBody>
      </p:sp>
      <p:sp>
        <p:nvSpPr>
          <p:cNvPr id="4" name="Shape 2"/>
          <p:cNvSpPr/>
          <p:nvPr/>
        </p:nvSpPr>
        <p:spPr>
          <a:xfrm>
            <a:off x="365760" y="1280160"/>
            <a:ext cx="2697480" cy="1828800"/>
          </a:xfrm>
          <a:prstGeom prst="rect">
            <a:avLst/>
          </a:prstGeom>
          <a:solidFill>
            <a:srgbClr val="FCEBEB"/>
          </a:solidFill>
          <a:ln/>
        </p:spPr>
        <p:txBody>
          <a:bodyPr/>
          <a:lstStyle/>
          <a:p>
            <a:endParaRPr lang="en-US"/>
          </a:p>
        </p:txBody>
      </p:sp>
      <p:sp>
        <p:nvSpPr>
          <p:cNvPr id="5" name="Text 3"/>
          <p:cNvSpPr/>
          <p:nvPr/>
        </p:nvSpPr>
        <p:spPr>
          <a:xfrm>
            <a:off x="502920" y="1371600"/>
            <a:ext cx="2423160" cy="274320"/>
          </a:xfrm>
          <a:prstGeom prst="rect">
            <a:avLst/>
          </a:prstGeom>
          <a:noFill/>
          <a:ln/>
        </p:spPr>
        <p:txBody>
          <a:bodyPr wrap="square" lIns="0" tIns="0" rIns="0" bIns="0" rtlCol="0" anchor="ctr"/>
          <a:lstStyle/>
          <a:p>
            <a:pPr marL="0" indent="0">
              <a:buNone/>
            </a:pPr>
            <a:r>
              <a:rPr lang="en-US" sz="1400" b="1" dirty="0">
                <a:solidFill>
                  <a:srgbClr val="A32D2D"/>
                </a:solidFill>
              </a:rPr>
              <a:t>Speed</a:t>
            </a:r>
            <a:endParaRPr lang="en-US" sz="1400" dirty="0"/>
          </a:p>
        </p:txBody>
      </p:sp>
      <p:sp>
        <p:nvSpPr>
          <p:cNvPr id="6" name="Text 4"/>
          <p:cNvSpPr/>
          <p:nvPr/>
        </p:nvSpPr>
        <p:spPr>
          <a:xfrm>
            <a:off x="502920" y="1691640"/>
            <a:ext cx="2423160" cy="1280160"/>
          </a:xfrm>
          <a:prstGeom prst="rect">
            <a:avLst/>
          </a:prstGeom>
          <a:noFill/>
          <a:ln/>
        </p:spPr>
        <p:txBody>
          <a:bodyPr wrap="square" lIns="0" tIns="0" rIns="0" bIns="0" rtlCol="0" anchor="ctr"/>
          <a:lstStyle/>
          <a:p>
            <a:pPr marL="0" indent="0">
              <a:buNone/>
            </a:pPr>
            <a:r>
              <a:rPr lang="en-US" sz="900" dirty="0">
                <a:solidFill>
                  <a:srgbClr val="2B2B2B"/>
                </a:solidFill>
              </a:rPr>
              <a:t>Products are being built faster than they can be monetized. No standard path from delivery to revenue. Each product team solves billing independently — different integrations, different timelines. Time-to-revenue for a new VAS product is months, not days.</a:t>
            </a:r>
            <a:endParaRPr lang="en-US" sz="900" dirty="0"/>
          </a:p>
        </p:txBody>
      </p:sp>
      <p:sp>
        <p:nvSpPr>
          <p:cNvPr id="7" name="Shape 5"/>
          <p:cNvSpPr/>
          <p:nvPr/>
        </p:nvSpPr>
        <p:spPr>
          <a:xfrm>
            <a:off x="3246120" y="1280160"/>
            <a:ext cx="2697480" cy="1828800"/>
          </a:xfrm>
          <a:prstGeom prst="rect">
            <a:avLst/>
          </a:prstGeom>
          <a:solidFill>
            <a:srgbClr val="FFF2CC"/>
          </a:solidFill>
          <a:ln/>
        </p:spPr>
        <p:txBody>
          <a:bodyPr/>
          <a:lstStyle/>
          <a:p>
            <a:endParaRPr lang="en-US"/>
          </a:p>
        </p:txBody>
      </p:sp>
      <p:sp>
        <p:nvSpPr>
          <p:cNvPr id="8" name="Text 6"/>
          <p:cNvSpPr/>
          <p:nvPr/>
        </p:nvSpPr>
        <p:spPr>
          <a:xfrm>
            <a:off x="3383280" y="1371600"/>
            <a:ext cx="2423160" cy="274320"/>
          </a:xfrm>
          <a:prstGeom prst="rect">
            <a:avLst/>
          </a:prstGeom>
          <a:noFill/>
          <a:ln/>
        </p:spPr>
        <p:txBody>
          <a:bodyPr wrap="square" lIns="0" tIns="0" rIns="0" bIns="0" rtlCol="0" anchor="ctr"/>
          <a:lstStyle/>
          <a:p>
            <a:pPr marL="0" indent="0">
              <a:buNone/>
            </a:pPr>
            <a:r>
              <a:rPr lang="en-US" sz="1400" b="1" dirty="0">
                <a:solidFill>
                  <a:srgbClr val="854F0B"/>
                </a:solidFill>
              </a:rPr>
              <a:t>Consistency</a:t>
            </a:r>
            <a:endParaRPr lang="en-US" sz="1400" dirty="0"/>
          </a:p>
        </p:txBody>
      </p:sp>
      <p:sp>
        <p:nvSpPr>
          <p:cNvPr id="9" name="Text 7"/>
          <p:cNvSpPr/>
          <p:nvPr/>
        </p:nvSpPr>
        <p:spPr>
          <a:xfrm>
            <a:off x="3383280" y="1691640"/>
            <a:ext cx="2423160" cy="1280160"/>
          </a:xfrm>
          <a:prstGeom prst="rect">
            <a:avLst/>
          </a:prstGeom>
          <a:noFill/>
          <a:ln/>
        </p:spPr>
        <p:txBody>
          <a:bodyPr wrap="square" lIns="0" tIns="0" rIns="0" bIns="0" rtlCol="0" anchor="ctr"/>
          <a:lstStyle/>
          <a:p>
            <a:pPr marL="0" indent="0">
              <a:buNone/>
            </a:pPr>
            <a:r>
              <a:rPr lang="en-US" sz="900" dirty="0">
                <a:solidFill>
                  <a:srgbClr val="2B2B2B"/>
                </a:solidFill>
              </a:rPr>
              <a:t>Merchants on Commerce see a fragmented billing experience. Some charges come from Commerce, some from Core via ETL, some from offline Ops. Dashboard and reporting don’t reflect the full picture. As we add more services, the gap widens.</a:t>
            </a:r>
            <a:endParaRPr lang="en-US" sz="900" dirty="0"/>
          </a:p>
        </p:txBody>
      </p:sp>
      <p:sp>
        <p:nvSpPr>
          <p:cNvPr id="10" name="Shape 8"/>
          <p:cNvSpPr/>
          <p:nvPr/>
        </p:nvSpPr>
        <p:spPr>
          <a:xfrm>
            <a:off x="6126480" y="1280160"/>
            <a:ext cx="2697480" cy="1828800"/>
          </a:xfrm>
          <a:prstGeom prst="rect">
            <a:avLst/>
          </a:prstGeom>
          <a:solidFill>
            <a:srgbClr val="E6F1FB"/>
          </a:solidFill>
          <a:ln/>
        </p:spPr>
        <p:txBody>
          <a:bodyPr/>
          <a:lstStyle/>
          <a:p>
            <a:endParaRPr lang="en-US"/>
          </a:p>
        </p:txBody>
      </p:sp>
      <p:sp>
        <p:nvSpPr>
          <p:cNvPr id="11" name="Text 9"/>
          <p:cNvSpPr/>
          <p:nvPr/>
        </p:nvSpPr>
        <p:spPr>
          <a:xfrm>
            <a:off x="6263640" y="1371600"/>
            <a:ext cx="2423160" cy="274320"/>
          </a:xfrm>
          <a:prstGeom prst="rect">
            <a:avLst/>
          </a:prstGeom>
          <a:noFill/>
          <a:ln/>
        </p:spPr>
        <p:txBody>
          <a:bodyPr wrap="square" lIns="0" tIns="0" rIns="0" bIns="0" rtlCol="0" anchor="ctr"/>
          <a:lstStyle/>
          <a:p>
            <a:pPr marL="0" indent="0">
              <a:buNone/>
            </a:pPr>
            <a:r>
              <a:rPr lang="en-US" sz="1400" b="1" dirty="0">
                <a:solidFill>
                  <a:srgbClr val="185FA5"/>
                </a:solidFill>
              </a:rPr>
              <a:t>Scalability</a:t>
            </a:r>
            <a:endParaRPr lang="en-US" sz="1400" dirty="0"/>
          </a:p>
        </p:txBody>
      </p:sp>
      <p:sp>
        <p:nvSpPr>
          <p:cNvPr id="12" name="Text 10"/>
          <p:cNvSpPr/>
          <p:nvPr/>
        </p:nvSpPr>
        <p:spPr>
          <a:xfrm>
            <a:off x="6263640" y="1691640"/>
            <a:ext cx="2423160" cy="1280160"/>
          </a:xfrm>
          <a:prstGeom prst="rect">
            <a:avLst/>
          </a:prstGeom>
          <a:noFill/>
          <a:ln/>
        </p:spPr>
        <p:txBody>
          <a:bodyPr wrap="square" lIns="0" tIns="0" rIns="0" bIns="0" rtlCol="0" anchor="ctr"/>
          <a:lstStyle/>
          <a:p>
            <a:pPr marL="0" indent="0">
              <a:buNone/>
            </a:pPr>
            <a:r>
              <a:rPr lang="en-US" sz="900" dirty="0">
                <a:solidFill>
                  <a:srgbClr val="2B2B2B"/>
                </a:solidFill>
              </a:rPr>
              <a:t>Every new product requires its own billing integration or ETL pipeline. Every pricing change requires manual Ops work. With 10+ VAS products in the pipeline, ad-hoc integration is a dead end.</a:t>
            </a:r>
            <a:endParaRPr lang="en-US" sz="900" dirty="0"/>
          </a:p>
        </p:txBody>
      </p:sp>
      <p:sp>
        <p:nvSpPr>
          <p:cNvPr id="13" name="Shape 11"/>
          <p:cNvSpPr/>
          <p:nvPr/>
        </p:nvSpPr>
        <p:spPr>
          <a:xfrm>
            <a:off x="365760" y="3383280"/>
            <a:ext cx="8412480" cy="731520"/>
          </a:xfrm>
          <a:prstGeom prst="rect">
            <a:avLst/>
          </a:prstGeom>
          <a:solidFill>
            <a:srgbClr val="F5F6FA"/>
          </a:solidFill>
          <a:ln/>
        </p:spPr>
        <p:txBody>
          <a:bodyPr/>
          <a:lstStyle/>
          <a:p>
            <a:endParaRPr lang="en-US"/>
          </a:p>
        </p:txBody>
      </p:sp>
      <p:sp>
        <p:nvSpPr>
          <p:cNvPr id="14" name="Shape 12"/>
          <p:cNvSpPr/>
          <p:nvPr/>
        </p:nvSpPr>
        <p:spPr>
          <a:xfrm>
            <a:off x="365760" y="3383280"/>
            <a:ext cx="73152" cy="731520"/>
          </a:xfrm>
          <a:prstGeom prst="rect">
            <a:avLst/>
          </a:prstGeom>
          <a:solidFill>
            <a:srgbClr val="2D6CDF"/>
          </a:solidFill>
          <a:ln/>
        </p:spPr>
        <p:txBody>
          <a:bodyPr/>
          <a:lstStyle/>
          <a:p>
            <a:endParaRPr lang="en-US"/>
          </a:p>
        </p:txBody>
      </p:sp>
      <p:sp>
        <p:nvSpPr>
          <p:cNvPr id="15" name="Text 13"/>
          <p:cNvSpPr/>
          <p:nvPr/>
        </p:nvSpPr>
        <p:spPr>
          <a:xfrm>
            <a:off x="594360" y="3429000"/>
            <a:ext cx="8046720" cy="640080"/>
          </a:xfrm>
          <a:prstGeom prst="rect">
            <a:avLst/>
          </a:prstGeom>
          <a:noFill/>
          <a:ln/>
        </p:spPr>
        <p:txBody>
          <a:bodyPr wrap="square" lIns="0" tIns="0" rIns="0" bIns="0" rtlCol="0" anchor="ctr"/>
          <a:lstStyle/>
          <a:p>
            <a:pPr marL="0" indent="0">
              <a:buNone/>
            </a:pPr>
            <a:r>
              <a:rPr lang="en-US" sz="1000" b="1" dirty="0">
                <a:solidFill>
                  <a:srgbClr val="2B2B2B"/>
                </a:solidFill>
              </a:rPr>
              <a:t>The platform needs a unified monetization architecture — one that any product can plug into, that scales with the product portfolio, and that delivers a native Commerce billing experience.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What the platform enables</a:t>
            </a:r>
            <a:endParaRPr lang="en-US" sz="2400" dirty="0"/>
          </a:p>
        </p:txBody>
      </p:sp>
      <p:sp>
        <p:nvSpPr>
          <p:cNvPr id="3" name="Text 1"/>
          <p:cNvSpPr/>
          <p:nvPr/>
        </p:nvSpPr>
        <p:spPr>
          <a:xfrm>
            <a:off x="548640" y="6858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A unified monetization architecture on Commerce that any product can plug into — eliminating ad-hoc billing integrations and giving product teams a standard path from service delivery to revenue.</a:t>
            </a:r>
            <a:endParaRPr lang="en-US" sz="1000" dirty="0"/>
          </a:p>
        </p:txBody>
      </p:sp>
      <p:sp>
        <p:nvSpPr>
          <p:cNvPr id="4" name="Shape 2"/>
          <p:cNvSpPr/>
          <p:nvPr/>
        </p:nvSpPr>
        <p:spPr>
          <a:xfrm>
            <a:off x="365760" y="960120"/>
            <a:ext cx="4572000" cy="3200400"/>
          </a:xfrm>
          <a:prstGeom prst="rect">
            <a:avLst/>
          </a:prstGeom>
          <a:solidFill>
            <a:srgbClr val="E1F5EE"/>
          </a:solidFill>
          <a:ln/>
        </p:spPr>
        <p:txBody>
          <a:bodyPr/>
          <a:lstStyle/>
          <a:p>
            <a:endParaRPr lang="en-US"/>
          </a:p>
        </p:txBody>
      </p:sp>
      <p:sp>
        <p:nvSpPr>
          <p:cNvPr id="5" name="Text 3"/>
          <p:cNvSpPr/>
          <p:nvPr/>
        </p:nvSpPr>
        <p:spPr>
          <a:xfrm>
            <a:off x="502920" y="1005840"/>
            <a:ext cx="4297680" cy="274320"/>
          </a:xfrm>
          <a:prstGeom prst="rect">
            <a:avLst/>
          </a:prstGeom>
          <a:noFill/>
          <a:ln/>
        </p:spPr>
        <p:txBody>
          <a:bodyPr wrap="square" lIns="0" tIns="0" rIns="0" bIns="0" rtlCol="0" anchor="ctr"/>
          <a:lstStyle/>
          <a:p>
            <a:pPr marL="0" indent="0">
              <a:buNone/>
            </a:pPr>
            <a:r>
              <a:rPr lang="en-US" sz="1300" b="1" dirty="0">
                <a:solidFill>
                  <a:srgbClr val="0F6E56"/>
                </a:solidFill>
              </a:rPr>
              <a:t>Platform outcomes</a:t>
            </a:r>
            <a:endParaRPr lang="en-US" sz="1300" dirty="0"/>
          </a:p>
        </p:txBody>
      </p:sp>
      <p:sp>
        <p:nvSpPr>
          <p:cNvPr id="6" name="Text 4"/>
          <p:cNvSpPr/>
          <p:nvPr/>
        </p:nvSpPr>
        <p:spPr>
          <a:xfrm>
            <a:off x="502920" y="1417320"/>
            <a:ext cx="4297680" cy="594360"/>
          </a:xfrm>
          <a:prstGeom prst="rect">
            <a:avLst/>
          </a:prstGeom>
          <a:noFill/>
          <a:ln/>
        </p:spPr>
        <p:txBody>
          <a:bodyPr wrap="square" lIns="0" tIns="0" rIns="0" bIns="0" rtlCol="0" anchor="t"/>
          <a:lstStyle/>
          <a:p>
            <a:pPr marL="0" indent="0">
              <a:buNone/>
            </a:pPr>
            <a:r>
              <a:rPr lang="en-US" sz="1000" b="1" dirty="0">
                <a:solidFill>
                  <a:srgbClr val="0F6E56"/>
                </a:solidFill>
              </a:rPr>
              <a:t>Days, not months. </a:t>
            </a:r>
            <a:r>
              <a:rPr lang="en-US" sz="900" dirty="0">
                <a:solidFill>
                  <a:srgbClr val="2B2B2B"/>
                </a:solidFill>
              </a:rPr>
              <a:t>New product reaches revenue by defining an SC, configuring the qualification pipeline, and setting a rate. Platform handles the rest.</a:t>
            </a:r>
            <a:endParaRPr lang="en-US" sz="1000" dirty="0"/>
          </a:p>
        </p:txBody>
      </p:sp>
      <p:sp>
        <p:nvSpPr>
          <p:cNvPr id="7" name="Text 5"/>
          <p:cNvSpPr/>
          <p:nvPr/>
        </p:nvSpPr>
        <p:spPr>
          <a:xfrm>
            <a:off x="502920" y="2075688"/>
            <a:ext cx="4297680" cy="594360"/>
          </a:xfrm>
          <a:prstGeom prst="rect">
            <a:avLst/>
          </a:prstGeom>
          <a:noFill/>
          <a:ln/>
        </p:spPr>
        <p:txBody>
          <a:bodyPr wrap="square" lIns="0" tIns="0" rIns="0" bIns="0" rtlCol="0" anchor="t"/>
          <a:lstStyle/>
          <a:p>
            <a:pPr marL="0" indent="0">
              <a:buNone/>
            </a:pPr>
            <a:r>
              <a:rPr lang="en-US" sz="1000" b="1" dirty="0">
                <a:solidFill>
                  <a:srgbClr val="0F6E56"/>
                </a:solidFill>
              </a:rPr>
              <a:t>One Commerce experience. </a:t>
            </a:r>
            <a:r>
              <a:rPr lang="en-US" sz="900" dirty="0">
                <a:solidFill>
                  <a:srgbClr val="2B2B2B"/>
                </a:solidFill>
              </a:rPr>
              <a:t>Every service shows up natively — one dashboard, one statement, one reporting stack. No Core ETL. No offline invoices.</a:t>
            </a:r>
            <a:endParaRPr lang="en-US" sz="1000" dirty="0"/>
          </a:p>
        </p:txBody>
      </p:sp>
      <p:sp>
        <p:nvSpPr>
          <p:cNvPr id="8" name="Text 6"/>
          <p:cNvSpPr/>
          <p:nvPr/>
        </p:nvSpPr>
        <p:spPr>
          <a:xfrm>
            <a:off x="502920" y="2734056"/>
            <a:ext cx="4297680" cy="594360"/>
          </a:xfrm>
          <a:prstGeom prst="rect">
            <a:avLst/>
          </a:prstGeom>
          <a:noFill/>
          <a:ln/>
        </p:spPr>
        <p:txBody>
          <a:bodyPr wrap="square" lIns="0" tIns="0" rIns="0" bIns="0" rtlCol="0" anchor="t"/>
          <a:lstStyle/>
          <a:p>
            <a:pPr marL="0" indent="0">
              <a:buNone/>
            </a:pPr>
            <a:r>
              <a:rPr lang="en-US" sz="1000" b="1" dirty="0">
                <a:solidFill>
                  <a:srgbClr val="0F6E56"/>
                </a:solidFill>
              </a:rPr>
              <a:t>Built once, used by all. </a:t>
            </a:r>
            <a:r>
              <a:rPr lang="en-US" sz="900" dirty="0">
                <a:solidFill>
                  <a:srgbClr val="2B2B2B"/>
                </a:solidFill>
              </a:rPr>
              <a:t>Per-event, metered, recurring, one-time. Tiered, outcome-based, allocation-driven. Each product picks what it needs.</a:t>
            </a:r>
            <a:endParaRPr lang="en-US" sz="1000" dirty="0"/>
          </a:p>
        </p:txBody>
      </p:sp>
      <p:sp>
        <p:nvSpPr>
          <p:cNvPr id="9" name="Text 7"/>
          <p:cNvSpPr/>
          <p:nvPr/>
        </p:nvSpPr>
        <p:spPr>
          <a:xfrm>
            <a:off x="502920" y="3392424"/>
            <a:ext cx="4297680" cy="594360"/>
          </a:xfrm>
          <a:prstGeom prst="rect">
            <a:avLst/>
          </a:prstGeom>
          <a:noFill/>
          <a:ln/>
        </p:spPr>
        <p:txBody>
          <a:bodyPr wrap="square" lIns="0" tIns="0" rIns="0" bIns="0" rtlCol="0" anchor="t"/>
          <a:lstStyle/>
          <a:p>
            <a:pPr marL="0" indent="0">
              <a:buNone/>
            </a:pPr>
            <a:r>
              <a:rPr lang="en-US" sz="1000" b="1" dirty="0">
                <a:solidFill>
                  <a:srgbClr val="0F6E56"/>
                </a:solidFill>
              </a:rPr>
              <a:t>Products own their strategy. </a:t>
            </a:r>
            <a:r>
              <a:rPr lang="en-US" sz="900" dirty="0">
                <a:solidFill>
                  <a:srgbClr val="2B2B2B"/>
                </a:solidFill>
              </a:rPr>
              <a:t>Platform provides the primitives. Products decide: billing pattern, rate, segments, packaging.</a:t>
            </a:r>
            <a:endParaRPr lang="en-US" sz="1000" dirty="0"/>
          </a:p>
        </p:txBody>
      </p:sp>
      <p:sp>
        <p:nvSpPr>
          <p:cNvPr id="10" name="Shape 8"/>
          <p:cNvSpPr/>
          <p:nvPr/>
        </p:nvSpPr>
        <p:spPr>
          <a:xfrm>
            <a:off x="5120640" y="960120"/>
            <a:ext cx="3749040" cy="1371600"/>
          </a:xfrm>
          <a:prstGeom prst="rect">
            <a:avLst/>
          </a:prstGeom>
          <a:solidFill>
            <a:srgbClr val="FCEBEB"/>
          </a:solidFill>
          <a:ln/>
        </p:spPr>
        <p:txBody>
          <a:bodyPr/>
          <a:lstStyle/>
          <a:p>
            <a:endParaRPr lang="en-US"/>
          </a:p>
        </p:txBody>
      </p:sp>
      <p:sp>
        <p:nvSpPr>
          <p:cNvPr id="11" name="Text 9"/>
          <p:cNvSpPr/>
          <p:nvPr/>
        </p:nvSpPr>
        <p:spPr>
          <a:xfrm>
            <a:off x="5257800" y="1005840"/>
            <a:ext cx="3474720" cy="228600"/>
          </a:xfrm>
          <a:prstGeom prst="rect">
            <a:avLst/>
          </a:prstGeom>
          <a:noFill/>
          <a:ln/>
        </p:spPr>
        <p:txBody>
          <a:bodyPr wrap="square" lIns="0" tIns="0" rIns="0" bIns="0" rtlCol="0" anchor="ctr"/>
          <a:lstStyle/>
          <a:p>
            <a:pPr marL="0" indent="0">
              <a:buNone/>
            </a:pPr>
            <a:r>
              <a:rPr lang="en-US" sz="1200" b="1" dirty="0">
                <a:solidFill>
                  <a:srgbClr val="A32D2D"/>
                </a:solidFill>
              </a:rPr>
              <a:t>Today</a:t>
            </a:r>
            <a:endParaRPr lang="en-US" sz="1200" dirty="0"/>
          </a:p>
        </p:txBody>
      </p:sp>
      <p:sp>
        <p:nvSpPr>
          <p:cNvPr id="12" name="Text 10"/>
          <p:cNvSpPr/>
          <p:nvPr/>
        </p:nvSpPr>
        <p:spPr>
          <a:xfrm>
            <a:off x="5257800" y="1280160"/>
            <a:ext cx="3474720" cy="914400"/>
          </a:xfrm>
          <a:prstGeom prst="rect">
            <a:avLst/>
          </a:prstGeom>
          <a:noFill/>
          <a:ln/>
        </p:spPr>
        <p:txBody>
          <a:bodyPr wrap="square" lIns="0" tIns="0" rIns="0" bIns="0" rtlCol="0" anchor="t"/>
          <a:lstStyle/>
          <a:p>
            <a:pPr marL="0" indent="0">
              <a:buNone/>
            </a:pPr>
            <a:r>
              <a:rPr lang="en-US" sz="900" b="1" dirty="0">
                <a:solidFill>
                  <a:srgbClr val="2B2B2B"/>
                </a:solidFill>
              </a:rPr>
              <a:t>Commerce: </a:t>
            </a:r>
            <a:r>
              <a:rPr lang="en-US" sz="900" dirty="0">
                <a:solidFill>
                  <a:srgbClr val="2B2B2B"/>
                </a:solidFill>
              </a:rPr>
              <a:t>Accept billing only</a:t>
            </a:r>
            <a:endParaRPr lang="en-US" sz="900" dirty="0"/>
          </a:p>
          <a:p>
            <a:pPr marL="0" indent="0">
              <a:buNone/>
            </a:pPr>
            <a:r>
              <a:rPr lang="en-US" sz="900" b="1" dirty="0">
                <a:solidFill>
                  <a:srgbClr val="2B2B2B"/>
                </a:solidFill>
              </a:rPr>
              <a:t>Core: </a:t>
            </a:r>
            <a:r>
              <a:rPr lang="en-US" sz="900" dirty="0">
                <a:solidFill>
                  <a:srgbClr val="2B2B2B"/>
                </a:solidFill>
              </a:rPr>
              <a:t>VAS billing, batch, ETL</a:t>
            </a:r>
            <a:endParaRPr lang="en-US" sz="900" dirty="0"/>
          </a:p>
          <a:p>
            <a:pPr marL="0" indent="0">
              <a:buNone/>
            </a:pPr>
            <a:r>
              <a:rPr lang="en-US" sz="900" b="1" dirty="0">
                <a:solidFill>
                  <a:srgbClr val="A32D2D"/>
                </a:solidFill>
              </a:rPr>
              <a:t>No native Commerce VAS monetization</a:t>
            </a:r>
            <a:endParaRPr lang="en-US" sz="900" dirty="0"/>
          </a:p>
        </p:txBody>
      </p:sp>
      <p:sp>
        <p:nvSpPr>
          <p:cNvPr id="13" name="Text 11"/>
          <p:cNvSpPr/>
          <p:nvPr/>
        </p:nvSpPr>
        <p:spPr>
          <a:xfrm>
            <a:off x="6675120" y="2377440"/>
            <a:ext cx="457200" cy="320040"/>
          </a:xfrm>
          <a:prstGeom prst="rect">
            <a:avLst/>
          </a:prstGeom>
          <a:noFill/>
          <a:ln/>
        </p:spPr>
        <p:txBody>
          <a:bodyPr wrap="square" lIns="0" tIns="0" rIns="0" bIns="0" rtlCol="0" anchor="ctr"/>
          <a:lstStyle/>
          <a:p>
            <a:pPr marL="0" indent="0" algn="ctr">
              <a:buNone/>
            </a:pPr>
            <a:r>
              <a:rPr lang="en-US" sz="2000" b="1" dirty="0">
                <a:solidFill>
                  <a:srgbClr val="0F6E56"/>
                </a:solidFill>
              </a:rPr>
              <a:t>↓</a:t>
            </a:r>
            <a:endParaRPr lang="en-US" sz="2000" dirty="0"/>
          </a:p>
        </p:txBody>
      </p:sp>
      <p:sp>
        <p:nvSpPr>
          <p:cNvPr id="14" name="Shape 12"/>
          <p:cNvSpPr/>
          <p:nvPr/>
        </p:nvSpPr>
        <p:spPr>
          <a:xfrm>
            <a:off x="5120640" y="2743200"/>
            <a:ext cx="3749040" cy="1371600"/>
          </a:xfrm>
          <a:prstGeom prst="rect">
            <a:avLst/>
          </a:prstGeom>
          <a:solidFill>
            <a:srgbClr val="E1F5EE"/>
          </a:solidFill>
          <a:ln/>
        </p:spPr>
        <p:txBody>
          <a:bodyPr/>
          <a:lstStyle/>
          <a:p>
            <a:endParaRPr lang="en-US"/>
          </a:p>
        </p:txBody>
      </p:sp>
      <p:sp>
        <p:nvSpPr>
          <p:cNvPr id="15" name="Text 13"/>
          <p:cNvSpPr/>
          <p:nvPr/>
        </p:nvSpPr>
        <p:spPr>
          <a:xfrm>
            <a:off x="5257800" y="2788920"/>
            <a:ext cx="3474720" cy="228600"/>
          </a:xfrm>
          <a:prstGeom prst="rect">
            <a:avLst/>
          </a:prstGeom>
          <a:noFill/>
          <a:ln/>
        </p:spPr>
        <p:txBody>
          <a:bodyPr wrap="square" lIns="0" tIns="0" rIns="0" bIns="0" rtlCol="0" anchor="ctr"/>
          <a:lstStyle/>
          <a:p>
            <a:pPr marL="0" indent="0">
              <a:buNone/>
            </a:pPr>
            <a:r>
              <a:rPr lang="en-US" sz="1200" b="1" dirty="0">
                <a:solidFill>
                  <a:srgbClr val="0F6E56"/>
                </a:solidFill>
              </a:rPr>
              <a:t>Target</a:t>
            </a:r>
            <a:endParaRPr lang="en-US" sz="1200" dirty="0"/>
          </a:p>
        </p:txBody>
      </p:sp>
      <p:sp>
        <p:nvSpPr>
          <p:cNvPr id="16" name="Text 14"/>
          <p:cNvSpPr/>
          <p:nvPr/>
        </p:nvSpPr>
        <p:spPr>
          <a:xfrm>
            <a:off x="5257800" y="3063240"/>
            <a:ext cx="3474720" cy="1005840"/>
          </a:xfrm>
          <a:prstGeom prst="rect">
            <a:avLst/>
          </a:prstGeom>
          <a:noFill/>
          <a:ln/>
        </p:spPr>
        <p:txBody>
          <a:bodyPr wrap="square" lIns="0" tIns="0" rIns="0" bIns="0" rtlCol="0" anchor="t"/>
          <a:lstStyle/>
          <a:p>
            <a:pPr marL="0" indent="0">
              <a:buNone/>
            </a:pPr>
            <a:r>
              <a:rPr lang="en-US" sz="900" b="1" dirty="0">
                <a:solidFill>
                  <a:srgbClr val="2B2B2B"/>
                </a:solidFill>
              </a:rPr>
              <a:t>Commerce: </a:t>
            </a:r>
            <a:r>
              <a:rPr lang="en-US" sz="900" dirty="0">
                <a:solidFill>
                  <a:srgbClr val="2B2B2B"/>
                </a:solidFill>
              </a:rPr>
              <a:t>Unified qualification engine</a:t>
            </a:r>
            <a:endParaRPr lang="en-US" sz="900" dirty="0"/>
          </a:p>
          <a:p>
            <a:pPr marL="0" indent="0">
              <a:buNone/>
            </a:pPr>
            <a:r>
              <a:rPr lang="en-US" sz="900" dirty="0">
                <a:solidFill>
                  <a:srgbClr val="2B2B2B"/>
                </a:solidFill>
              </a:rPr>
              <a:t>→ Pricing → Allocation → Sub-ledger</a:t>
            </a:r>
            <a:endParaRPr lang="en-US" sz="900" dirty="0"/>
          </a:p>
          <a:p>
            <a:pPr marL="0" indent="0">
              <a:buNone/>
            </a:pPr>
            <a:r>
              <a:rPr lang="en-US" sz="900" b="1" dirty="0">
                <a:solidFill>
                  <a:srgbClr val="0F6E56"/>
                </a:solidFill>
              </a:rPr>
              <a:t>All products, one path</a:t>
            </a:r>
            <a:endParaRPr lang="en-US" sz="900" dirty="0"/>
          </a:p>
          <a:p>
            <a:pPr marL="0" indent="0">
              <a:buNone/>
            </a:pPr>
            <a:r>
              <a:rPr lang="en-US" sz="900" dirty="0">
                <a:solidFill>
                  <a:srgbClr val="2B2B2B"/>
                </a:solidFill>
              </a:rPr>
              <a:t>Core billing phases out as products migrate</a:t>
            </a:r>
            <a:endParaRPr lang="en-US" sz="900" dirty="0"/>
          </a:p>
        </p:txBody>
      </p:sp>
      <p:sp>
        <p:nvSpPr>
          <p:cNvPr id="17" name="Text 15"/>
          <p:cNvSpPr/>
          <p:nvPr/>
        </p:nvSpPr>
        <p:spPr>
          <a:xfrm>
            <a:off x="548640" y="4389120"/>
            <a:ext cx="8229600" cy="274320"/>
          </a:xfrm>
          <a:prstGeom prst="rect">
            <a:avLst/>
          </a:prstGeom>
          <a:noFill/>
          <a:ln/>
        </p:spPr>
        <p:txBody>
          <a:bodyPr wrap="square" lIns="0" tIns="0" rIns="0" bIns="0" rtlCol="0" anchor="ctr"/>
          <a:lstStyle/>
          <a:p>
            <a:pPr marL="0" indent="0">
              <a:buNone/>
            </a:pPr>
            <a:r>
              <a:rPr lang="en-US" sz="1000" i="1" dirty="0">
                <a:solidFill>
                  <a:srgbClr val="5A5A5A"/>
                </a:solidFill>
              </a:rPr>
              <a:t>This document defines the platform’s capability model. Individual products plug in with their own pricing and commercial strategy.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Three-layer monetization framework</a:t>
            </a:r>
            <a:endParaRPr lang="en-US" sz="2400" dirty="0"/>
          </a:p>
        </p:txBody>
      </p:sp>
      <p:sp>
        <p:nvSpPr>
          <p:cNvPr id="3" name="Text 1"/>
          <p:cNvSpPr/>
          <p:nvPr/>
        </p:nvSpPr>
        <p:spPr>
          <a:xfrm>
            <a:off x="548640" y="6858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Every monetizable event flows through three layers: what was delivered, how it’s priced, and whether the economics were adjusted. This framework is universal across all products and surfaces on Commerce.</a:t>
            </a:r>
            <a:endParaRPr lang="en-US" sz="1000" dirty="0"/>
          </a:p>
        </p:txBody>
      </p:sp>
      <p:sp>
        <p:nvSpPr>
          <p:cNvPr id="4" name="Shape 2"/>
          <p:cNvSpPr/>
          <p:nvPr/>
        </p:nvSpPr>
        <p:spPr>
          <a:xfrm>
            <a:off x="548640" y="1188720"/>
            <a:ext cx="8046720" cy="1005840"/>
          </a:xfrm>
          <a:prstGeom prst="rect">
            <a:avLst/>
          </a:prstGeom>
          <a:solidFill>
            <a:srgbClr val="F5F6FA"/>
          </a:solidFill>
          <a:ln/>
        </p:spPr>
        <p:txBody>
          <a:bodyPr/>
          <a:lstStyle/>
          <a:p>
            <a:endParaRPr lang="en-US"/>
          </a:p>
        </p:txBody>
      </p:sp>
      <p:sp>
        <p:nvSpPr>
          <p:cNvPr id="5" name="Shape 3"/>
          <p:cNvSpPr/>
          <p:nvPr/>
        </p:nvSpPr>
        <p:spPr>
          <a:xfrm>
            <a:off x="548640" y="1188720"/>
            <a:ext cx="73152" cy="1005840"/>
          </a:xfrm>
          <a:prstGeom prst="rect">
            <a:avLst/>
          </a:prstGeom>
          <a:solidFill>
            <a:srgbClr val="2D6CDF"/>
          </a:solidFill>
          <a:ln/>
        </p:spPr>
        <p:txBody>
          <a:bodyPr/>
          <a:lstStyle/>
          <a:p>
            <a:endParaRPr lang="en-US"/>
          </a:p>
        </p:txBody>
      </p:sp>
      <p:sp>
        <p:nvSpPr>
          <p:cNvPr id="6" name="Text 4"/>
          <p:cNvSpPr/>
          <p:nvPr/>
        </p:nvSpPr>
        <p:spPr>
          <a:xfrm>
            <a:off x="777240" y="1188720"/>
            <a:ext cx="457200" cy="1005840"/>
          </a:xfrm>
          <a:prstGeom prst="rect">
            <a:avLst/>
          </a:prstGeom>
          <a:noFill/>
          <a:ln/>
        </p:spPr>
        <p:txBody>
          <a:bodyPr wrap="square" lIns="0" tIns="0" rIns="0" bIns="0" rtlCol="0" anchor="ctr"/>
          <a:lstStyle/>
          <a:p>
            <a:pPr marL="0" indent="0">
              <a:buNone/>
            </a:pPr>
            <a:r>
              <a:rPr lang="en-US" sz="2800" b="1" dirty="0">
                <a:solidFill>
                  <a:srgbClr val="2D6CDF"/>
                </a:solidFill>
              </a:rPr>
              <a:t>1</a:t>
            </a:r>
            <a:endParaRPr lang="en-US" sz="2800" dirty="0"/>
          </a:p>
        </p:txBody>
      </p:sp>
      <p:sp>
        <p:nvSpPr>
          <p:cNvPr id="7" name="Text 5"/>
          <p:cNvSpPr/>
          <p:nvPr/>
        </p:nvSpPr>
        <p:spPr>
          <a:xfrm>
            <a:off x="1371600" y="1325880"/>
            <a:ext cx="6858000" cy="274320"/>
          </a:xfrm>
          <a:prstGeom prst="rect">
            <a:avLst/>
          </a:prstGeom>
          <a:noFill/>
          <a:ln/>
        </p:spPr>
        <p:txBody>
          <a:bodyPr wrap="square" lIns="0" tIns="0" rIns="0" bIns="0" rtlCol="0" anchor="ctr"/>
          <a:lstStyle/>
          <a:p>
            <a:pPr marL="0" indent="0">
              <a:buNone/>
            </a:pPr>
            <a:r>
              <a:rPr lang="en-US" sz="1500" b="1" dirty="0">
                <a:solidFill>
                  <a:srgbClr val="2B2B2B"/>
                </a:solidFill>
              </a:rPr>
              <a:t>Revenue surfaces</a:t>
            </a:r>
            <a:endParaRPr lang="en-US" sz="1500" dirty="0"/>
          </a:p>
        </p:txBody>
      </p:sp>
      <p:sp>
        <p:nvSpPr>
          <p:cNvPr id="8" name="Text 6"/>
          <p:cNvSpPr/>
          <p:nvPr/>
        </p:nvSpPr>
        <p:spPr>
          <a:xfrm>
            <a:off x="1371600" y="1645920"/>
            <a:ext cx="6858000" cy="457200"/>
          </a:xfrm>
          <a:prstGeom prst="rect">
            <a:avLst/>
          </a:prstGeom>
          <a:noFill/>
          <a:ln/>
        </p:spPr>
        <p:txBody>
          <a:bodyPr wrap="square" lIns="0" tIns="0" rIns="0" bIns="0" rtlCol="0" anchor="ctr"/>
          <a:lstStyle/>
          <a:p>
            <a:pPr marL="0" indent="0">
              <a:buNone/>
            </a:pPr>
            <a:r>
              <a:rPr lang="en-US" sz="1000" dirty="0">
                <a:solidFill>
                  <a:srgbClr val="5A5A5A"/>
                </a:solidFill>
              </a:rPr>
              <a:t>What was delivered? The catalog of products and services that can be monetized. Each surface maps to service codes that the qualification engine recognizes. This is the “what” of every charge.</a:t>
            </a:r>
            <a:endParaRPr lang="en-US" sz="1000" dirty="0"/>
          </a:p>
        </p:txBody>
      </p:sp>
      <p:sp>
        <p:nvSpPr>
          <p:cNvPr id="9" name="Shape 7"/>
          <p:cNvSpPr/>
          <p:nvPr/>
        </p:nvSpPr>
        <p:spPr>
          <a:xfrm>
            <a:off x="548640" y="2377440"/>
            <a:ext cx="8046720" cy="1005840"/>
          </a:xfrm>
          <a:prstGeom prst="rect">
            <a:avLst/>
          </a:prstGeom>
          <a:solidFill>
            <a:srgbClr val="F5F6FA"/>
          </a:solidFill>
          <a:ln/>
        </p:spPr>
        <p:txBody>
          <a:bodyPr/>
          <a:lstStyle/>
          <a:p>
            <a:endParaRPr lang="en-US"/>
          </a:p>
        </p:txBody>
      </p:sp>
      <p:sp>
        <p:nvSpPr>
          <p:cNvPr id="10" name="Shape 8"/>
          <p:cNvSpPr/>
          <p:nvPr/>
        </p:nvSpPr>
        <p:spPr>
          <a:xfrm>
            <a:off x="548640" y="2377440"/>
            <a:ext cx="73152" cy="1005840"/>
          </a:xfrm>
          <a:prstGeom prst="rect">
            <a:avLst/>
          </a:prstGeom>
          <a:solidFill>
            <a:srgbClr val="0F6E56"/>
          </a:solidFill>
          <a:ln/>
        </p:spPr>
        <p:txBody>
          <a:bodyPr/>
          <a:lstStyle/>
          <a:p>
            <a:endParaRPr lang="en-US"/>
          </a:p>
        </p:txBody>
      </p:sp>
      <p:sp>
        <p:nvSpPr>
          <p:cNvPr id="11" name="Text 9"/>
          <p:cNvSpPr/>
          <p:nvPr/>
        </p:nvSpPr>
        <p:spPr>
          <a:xfrm>
            <a:off x="777240" y="2377440"/>
            <a:ext cx="457200" cy="1005840"/>
          </a:xfrm>
          <a:prstGeom prst="rect">
            <a:avLst/>
          </a:prstGeom>
          <a:noFill/>
          <a:ln/>
        </p:spPr>
        <p:txBody>
          <a:bodyPr wrap="square" lIns="0" tIns="0" rIns="0" bIns="0" rtlCol="0" anchor="ctr"/>
          <a:lstStyle/>
          <a:p>
            <a:pPr marL="0" indent="0">
              <a:buNone/>
            </a:pPr>
            <a:r>
              <a:rPr lang="en-US" sz="2800" b="1" dirty="0">
                <a:solidFill>
                  <a:srgbClr val="0F6E56"/>
                </a:solidFill>
              </a:rPr>
              <a:t>2</a:t>
            </a:r>
            <a:endParaRPr lang="en-US" sz="2800" dirty="0"/>
          </a:p>
        </p:txBody>
      </p:sp>
      <p:sp>
        <p:nvSpPr>
          <p:cNvPr id="12" name="Text 10"/>
          <p:cNvSpPr/>
          <p:nvPr/>
        </p:nvSpPr>
        <p:spPr>
          <a:xfrm>
            <a:off x="1371600" y="2514600"/>
            <a:ext cx="6858000" cy="274320"/>
          </a:xfrm>
          <a:prstGeom prst="rect">
            <a:avLst/>
          </a:prstGeom>
          <a:noFill/>
          <a:ln/>
        </p:spPr>
        <p:txBody>
          <a:bodyPr wrap="square" lIns="0" tIns="0" rIns="0" bIns="0" rtlCol="0" anchor="ctr"/>
          <a:lstStyle/>
          <a:p>
            <a:pPr marL="0" indent="0">
              <a:buNone/>
            </a:pPr>
            <a:r>
              <a:rPr lang="en-US" sz="1500" b="1" dirty="0">
                <a:solidFill>
                  <a:srgbClr val="2B2B2B"/>
                </a:solidFill>
              </a:rPr>
              <a:t>Pricing architecture</a:t>
            </a:r>
            <a:endParaRPr lang="en-US" sz="1500" dirty="0"/>
          </a:p>
        </p:txBody>
      </p:sp>
      <p:sp>
        <p:nvSpPr>
          <p:cNvPr id="13" name="Text 11"/>
          <p:cNvSpPr/>
          <p:nvPr/>
        </p:nvSpPr>
        <p:spPr>
          <a:xfrm>
            <a:off x="1371600" y="2834640"/>
            <a:ext cx="6858000" cy="457200"/>
          </a:xfrm>
          <a:prstGeom prst="rect">
            <a:avLst/>
          </a:prstGeom>
          <a:noFill/>
          <a:ln/>
        </p:spPr>
        <p:txBody>
          <a:bodyPr wrap="square" lIns="0" tIns="0" rIns="0" bIns="0" rtlCol="0" anchor="ctr"/>
          <a:lstStyle/>
          <a:p>
            <a:pPr marL="0" indent="0">
              <a:buNone/>
            </a:pPr>
            <a:r>
              <a:rPr lang="en-US" sz="1000" dirty="0">
                <a:solidFill>
                  <a:srgbClr val="5A5A5A"/>
                </a:solidFill>
              </a:rPr>
              <a:t>How is it calculated? The billing mechanics that determine how an event becomes a charge. Billing patterns, rate structures, modifiers, and ingestion modes — the engine’s capability set. This is the “how” of every charge.</a:t>
            </a:r>
            <a:endParaRPr lang="en-US" sz="1000" dirty="0"/>
          </a:p>
        </p:txBody>
      </p:sp>
      <p:sp>
        <p:nvSpPr>
          <p:cNvPr id="14" name="Shape 12"/>
          <p:cNvSpPr/>
          <p:nvPr/>
        </p:nvSpPr>
        <p:spPr>
          <a:xfrm>
            <a:off x="548640" y="3566160"/>
            <a:ext cx="8046720" cy="1005840"/>
          </a:xfrm>
          <a:prstGeom prst="rect">
            <a:avLst/>
          </a:prstGeom>
          <a:solidFill>
            <a:srgbClr val="F5F6FA"/>
          </a:solidFill>
          <a:ln/>
        </p:spPr>
        <p:txBody>
          <a:bodyPr/>
          <a:lstStyle/>
          <a:p>
            <a:endParaRPr lang="en-US"/>
          </a:p>
        </p:txBody>
      </p:sp>
      <p:sp>
        <p:nvSpPr>
          <p:cNvPr id="15" name="Shape 13"/>
          <p:cNvSpPr/>
          <p:nvPr/>
        </p:nvSpPr>
        <p:spPr>
          <a:xfrm>
            <a:off x="548640" y="3566160"/>
            <a:ext cx="73152" cy="1005840"/>
          </a:xfrm>
          <a:prstGeom prst="rect">
            <a:avLst/>
          </a:prstGeom>
          <a:solidFill>
            <a:srgbClr val="7B2D8E"/>
          </a:solidFill>
          <a:ln/>
        </p:spPr>
        <p:txBody>
          <a:bodyPr/>
          <a:lstStyle/>
          <a:p>
            <a:endParaRPr lang="en-US"/>
          </a:p>
        </p:txBody>
      </p:sp>
      <p:sp>
        <p:nvSpPr>
          <p:cNvPr id="16" name="Text 14"/>
          <p:cNvSpPr/>
          <p:nvPr/>
        </p:nvSpPr>
        <p:spPr>
          <a:xfrm>
            <a:off x="777240" y="3566160"/>
            <a:ext cx="457200" cy="1005840"/>
          </a:xfrm>
          <a:prstGeom prst="rect">
            <a:avLst/>
          </a:prstGeom>
          <a:noFill/>
          <a:ln/>
        </p:spPr>
        <p:txBody>
          <a:bodyPr wrap="square" lIns="0" tIns="0" rIns="0" bIns="0" rtlCol="0" anchor="ctr"/>
          <a:lstStyle/>
          <a:p>
            <a:pPr marL="0" indent="0">
              <a:buNone/>
            </a:pPr>
            <a:r>
              <a:rPr lang="en-US" sz="2800" b="1" dirty="0">
                <a:solidFill>
                  <a:srgbClr val="7B2D8E"/>
                </a:solidFill>
              </a:rPr>
              <a:t>3</a:t>
            </a:r>
            <a:endParaRPr lang="en-US" sz="2800" dirty="0"/>
          </a:p>
        </p:txBody>
      </p:sp>
      <p:sp>
        <p:nvSpPr>
          <p:cNvPr id="17" name="Text 15"/>
          <p:cNvSpPr/>
          <p:nvPr/>
        </p:nvSpPr>
        <p:spPr>
          <a:xfrm>
            <a:off x="1371600" y="3703320"/>
            <a:ext cx="6858000" cy="274320"/>
          </a:xfrm>
          <a:prstGeom prst="rect">
            <a:avLst/>
          </a:prstGeom>
          <a:noFill/>
          <a:ln/>
        </p:spPr>
        <p:txBody>
          <a:bodyPr wrap="square" lIns="0" tIns="0" rIns="0" bIns="0" rtlCol="0" anchor="ctr"/>
          <a:lstStyle/>
          <a:p>
            <a:pPr marL="0" indent="0">
              <a:buNone/>
            </a:pPr>
            <a:r>
              <a:rPr lang="en-US" sz="1500" b="1" dirty="0">
                <a:solidFill>
                  <a:srgbClr val="2B2B2B"/>
                </a:solidFill>
              </a:rPr>
              <a:t>Economic levers</a:t>
            </a:r>
            <a:endParaRPr lang="en-US" sz="1500" dirty="0"/>
          </a:p>
        </p:txBody>
      </p:sp>
      <p:sp>
        <p:nvSpPr>
          <p:cNvPr id="18" name="Text 16"/>
          <p:cNvSpPr/>
          <p:nvPr/>
        </p:nvSpPr>
        <p:spPr>
          <a:xfrm>
            <a:off x="1371600" y="4023360"/>
            <a:ext cx="6858000" cy="457200"/>
          </a:xfrm>
          <a:prstGeom prst="rect">
            <a:avLst/>
          </a:prstGeom>
          <a:noFill/>
          <a:ln/>
        </p:spPr>
        <p:txBody>
          <a:bodyPr wrap="square" lIns="0" tIns="0" rIns="0" bIns="0" rtlCol="0" anchor="ctr"/>
          <a:lstStyle/>
          <a:p>
            <a:pPr marL="0" indent="0">
              <a:buNone/>
            </a:pPr>
            <a:r>
              <a:rPr lang="en-US" sz="1000" dirty="0">
                <a:solidFill>
                  <a:srgbClr val="5A5A5A"/>
                </a:solidFill>
              </a:rPr>
              <a:t>Was it adjusted? The commercial and allocation mechanisms that modify pricing after rating. Deal structures that set rate lines, and allocation overlays that apply downstream. This is the “why” behind any deviation from standard.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Layer 1: Revenue surfaces</a:t>
            </a:r>
            <a:endParaRPr lang="en-US" sz="2400" dirty="0"/>
          </a:p>
        </p:txBody>
      </p:sp>
      <p:sp>
        <p:nvSpPr>
          <p:cNvPr id="3" name="Text 1"/>
          <p:cNvSpPr/>
          <p:nvPr/>
        </p:nvSpPr>
        <p:spPr>
          <a:xfrm>
            <a:off x="548640" y="6858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The full catalog of products and services that can be monetized on the platform. VAS represents the primary margin expansion opportunity — most surfaces exist today but lack qualification pipelines and pricing on Commerce.</a:t>
            </a:r>
            <a:endParaRPr lang="en-US" sz="1000" dirty="0"/>
          </a:p>
        </p:txBody>
      </p:sp>
      <p:sp>
        <p:nvSpPr>
          <p:cNvPr id="4" name="Shape 2"/>
          <p:cNvSpPr/>
          <p:nvPr/>
        </p:nvSpPr>
        <p:spPr>
          <a:xfrm>
            <a:off x="365760" y="1097280"/>
            <a:ext cx="1828800" cy="3017520"/>
          </a:xfrm>
          <a:prstGeom prst="rect">
            <a:avLst/>
          </a:prstGeom>
          <a:solidFill>
            <a:srgbClr val="E6F1FB"/>
          </a:solidFill>
          <a:ln/>
        </p:spPr>
        <p:txBody>
          <a:bodyPr/>
          <a:lstStyle/>
          <a:p>
            <a:endParaRPr lang="en-US"/>
          </a:p>
        </p:txBody>
      </p:sp>
      <p:sp>
        <p:nvSpPr>
          <p:cNvPr id="5" name="Text 3"/>
          <p:cNvSpPr/>
          <p:nvPr/>
        </p:nvSpPr>
        <p:spPr>
          <a:xfrm>
            <a:off x="365760" y="1097280"/>
            <a:ext cx="1828800" cy="320040"/>
          </a:xfrm>
          <a:prstGeom prst="rect">
            <a:avLst/>
          </a:prstGeom>
          <a:noFill/>
          <a:ln/>
        </p:spPr>
        <p:txBody>
          <a:bodyPr wrap="square" rtlCol="0" anchor="ctr"/>
          <a:lstStyle/>
          <a:p>
            <a:pPr marL="0" indent="0" algn="ctr">
              <a:buNone/>
            </a:pPr>
            <a:r>
              <a:rPr lang="en-US" sz="1200" b="1" dirty="0">
                <a:solidFill>
                  <a:srgbClr val="185FA5"/>
                </a:solidFill>
              </a:rPr>
              <a:t>Accept</a:t>
            </a:r>
            <a:endParaRPr lang="en-US" sz="1200" dirty="0"/>
          </a:p>
        </p:txBody>
      </p:sp>
      <p:sp>
        <p:nvSpPr>
          <p:cNvPr id="6" name="Text 4"/>
          <p:cNvSpPr/>
          <p:nvPr/>
        </p:nvSpPr>
        <p:spPr>
          <a:xfrm>
            <a:off x="457200" y="1463040"/>
            <a:ext cx="1645920" cy="182880"/>
          </a:xfrm>
          <a:prstGeom prst="rect">
            <a:avLst/>
          </a:prstGeom>
          <a:noFill/>
          <a:ln/>
        </p:spPr>
        <p:txBody>
          <a:bodyPr wrap="square" lIns="0" tIns="0" rIns="0" bIns="0" rtlCol="0" anchor="ctr"/>
          <a:lstStyle/>
          <a:p>
            <a:pPr marL="0" indent="0">
              <a:buNone/>
            </a:pPr>
            <a:r>
              <a:rPr lang="en-US" sz="800" dirty="0">
                <a:solidFill>
                  <a:srgbClr val="2B2B2B"/>
                </a:solidFill>
              </a:rPr>
              <a:t>Card processing</a:t>
            </a:r>
            <a:endParaRPr lang="en-US" sz="800" dirty="0"/>
          </a:p>
        </p:txBody>
      </p:sp>
      <p:sp>
        <p:nvSpPr>
          <p:cNvPr id="7" name="Text 5"/>
          <p:cNvSpPr/>
          <p:nvPr/>
        </p:nvSpPr>
        <p:spPr>
          <a:xfrm>
            <a:off x="457200" y="1645920"/>
            <a:ext cx="1645920" cy="182880"/>
          </a:xfrm>
          <a:prstGeom prst="rect">
            <a:avLst/>
          </a:prstGeom>
          <a:noFill/>
          <a:ln/>
        </p:spPr>
        <p:txBody>
          <a:bodyPr wrap="square" lIns="0" tIns="0" rIns="0" bIns="0" rtlCol="0" anchor="ctr"/>
          <a:lstStyle/>
          <a:p>
            <a:pPr marL="0" indent="0">
              <a:buNone/>
            </a:pPr>
            <a:r>
              <a:rPr lang="en-US" sz="800" dirty="0">
                <a:solidFill>
                  <a:srgbClr val="2B2B2B"/>
                </a:solidFill>
              </a:rPr>
              <a:t>ACH / bank pay</a:t>
            </a:r>
            <a:endParaRPr lang="en-US" sz="800" dirty="0"/>
          </a:p>
        </p:txBody>
      </p:sp>
      <p:sp>
        <p:nvSpPr>
          <p:cNvPr id="8" name="Text 6"/>
          <p:cNvSpPr/>
          <p:nvPr/>
        </p:nvSpPr>
        <p:spPr>
          <a:xfrm>
            <a:off x="457200" y="1828800"/>
            <a:ext cx="1645920" cy="182880"/>
          </a:xfrm>
          <a:prstGeom prst="rect">
            <a:avLst/>
          </a:prstGeom>
          <a:noFill/>
          <a:ln/>
        </p:spPr>
        <p:txBody>
          <a:bodyPr wrap="square" lIns="0" tIns="0" rIns="0" bIns="0" rtlCol="0" anchor="ctr"/>
          <a:lstStyle/>
          <a:p>
            <a:pPr marL="0" indent="0">
              <a:buNone/>
            </a:pPr>
            <a:r>
              <a:rPr lang="en-US" sz="800" dirty="0">
                <a:solidFill>
                  <a:srgbClr val="2B2B2B"/>
                </a:solidFill>
              </a:rPr>
              <a:t>Digital wallets</a:t>
            </a:r>
            <a:endParaRPr lang="en-US" sz="800" dirty="0"/>
          </a:p>
        </p:txBody>
      </p:sp>
      <p:sp>
        <p:nvSpPr>
          <p:cNvPr id="9" name="Text 7"/>
          <p:cNvSpPr/>
          <p:nvPr/>
        </p:nvSpPr>
        <p:spPr>
          <a:xfrm>
            <a:off x="457200" y="2011680"/>
            <a:ext cx="1645920" cy="182880"/>
          </a:xfrm>
          <a:prstGeom prst="rect">
            <a:avLst/>
          </a:prstGeom>
          <a:noFill/>
          <a:ln/>
        </p:spPr>
        <p:txBody>
          <a:bodyPr wrap="square" lIns="0" tIns="0" rIns="0" bIns="0" rtlCol="0" anchor="ctr"/>
          <a:lstStyle/>
          <a:p>
            <a:pPr marL="0" indent="0">
              <a:buNone/>
            </a:pPr>
            <a:r>
              <a:rPr lang="en-US" sz="800" dirty="0">
                <a:solidFill>
                  <a:srgbClr val="2B2B2B"/>
                </a:solidFill>
              </a:rPr>
              <a:t>Local methods</a:t>
            </a:r>
            <a:endParaRPr lang="en-US" sz="800" dirty="0"/>
          </a:p>
        </p:txBody>
      </p:sp>
      <p:sp>
        <p:nvSpPr>
          <p:cNvPr id="10" name="Text 8"/>
          <p:cNvSpPr/>
          <p:nvPr/>
        </p:nvSpPr>
        <p:spPr>
          <a:xfrm>
            <a:off x="457200" y="2194560"/>
            <a:ext cx="1645920" cy="182880"/>
          </a:xfrm>
          <a:prstGeom prst="rect">
            <a:avLst/>
          </a:prstGeom>
          <a:noFill/>
          <a:ln/>
        </p:spPr>
        <p:txBody>
          <a:bodyPr wrap="square" lIns="0" tIns="0" rIns="0" bIns="0" rtlCol="0" anchor="ctr"/>
          <a:lstStyle/>
          <a:p>
            <a:pPr marL="0" indent="0">
              <a:buNone/>
            </a:pPr>
            <a:r>
              <a:rPr lang="en-US" sz="800" dirty="0">
                <a:solidFill>
                  <a:srgbClr val="2B2B2B"/>
                </a:solidFill>
              </a:rPr>
              <a:t>MCP / DCC</a:t>
            </a:r>
            <a:endParaRPr lang="en-US" sz="800" dirty="0"/>
          </a:p>
        </p:txBody>
      </p:sp>
      <p:sp>
        <p:nvSpPr>
          <p:cNvPr id="11" name="Text 9"/>
          <p:cNvSpPr/>
          <p:nvPr/>
        </p:nvSpPr>
        <p:spPr>
          <a:xfrm>
            <a:off x="457200" y="2377440"/>
            <a:ext cx="1645920" cy="182880"/>
          </a:xfrm>
          <a:prstGeom prst="rect">
            <a:avLst/>
          </a:prstGeom>
          <a:noFill/>
          <a:ln/>
        </p:spPr>
        <p:txBody>
          <a:bodyPr wrap="square" lIns="0" tIns="0" rIns="0" bIns="0" rtlCol="0" anchor="ctr"/>
          <a:lstStyle/>
          <a:p>
            <a:pPr marL="0" indent="0">
              <a:buNone/>
            </a:pPr>
            <a:r>
              <a:rPr lang="en-US" sz="800" dirty="0">
                <a:solidFill>
                  <a:srgbClr val="2B2B2B"/>
                </a:solidFill>
              </a:rPr>
              <a:t>VT usage</a:t>
            </a:r>
            <a:endParaRPr lang="en-US" sz="800" dirty="0"/>
          </a:p>
        </p:txBody>
      </p:sp>
      <p:sp>
        <p:nvSpPr>
          <p:cNvPr id="12" name="Text 10"/>
          <p:cNvSpPr/>
          <p:nvPr/>
        </p:nvSpPr>
        <p:spPr>
          <a:xfrm>
            <a:off x="457200" y="2560320"/>
            <a:ext cx="1645920" cy="182880"/>
          </a:xfrm>
          <a:prstGeom prst="rect">
            <a:avLst/>
          </a:prstGeom>
          <a:noFill/>
          <a:ln/>
        </p:spPr>
        <p:txBody>
          <a:bodyPr wrap="square" lIns="0" tIns="0" rIns="0" bIns="0" rtlCol="0" anchor="ctr"/>
          <a:lstStyle/>
          <a:p>
            <a:pPr marL="0" indent="0">
              <a:buNone/>
            </a:pPr>
            <a:r>
              <a:rPr lang="en-US" sz="800" dirty="0">
                <a:solidFill>
                  <a:srgbClr val="2B2B2B"/>
                </a:solidFill>
              </a:rPr>
              <a:t>Pay-By-Link usage</a:t>
            </a:r>
            <a:endParaRPr lang="en-US" sz="800" dirty="0"/>
          </a:p>
        </p:txBody>
      </p:sp>
      <p:sp>
        <p:nvSpPr>
          <p:cNvPr id="13" name="Text 11"/>
          <p:cNvSpPr/>
          <p:nvPr/>
        </p:nvSpPr>
        <p:spPr>
          <a:xfrm>
            <a:off x="2377440" y="960120"/>
            <a:ext cx="4572000" cy="182880"/>
          </a:xfrm>
          <a:prstGeom prst="rect">
            <a:avLst/>
          </a:prstGeom>
          <a:noFill/>
          <a:ln/>
        </p:spPr>
        <p:txBody>
          <a:bodyPr wrap="square" lIns="0" tIns="0" rIns="0" bIns="0" rtlCol="0" anchor="ctr"/>
          <a:lstStyle/>
          <a:p>
            <a:pPr marL="0" indent="0" algn="ctr">
              <a:buNone/>
            </a:pPr>
            <a:r>
              <a:rPr lang="en-US" sz="1000" b="1" dirty="0">
                <a:solidFill>
                  <a:srgbClr val="0F6E56"/>
                </a:solidFill>
              </a:rPr>
              <a:t>VAS (Value-Added Services)</a:t>
            </a:r>
            <a:endParaRPr lang="en-US" sz="1000" dirty="0"/>
          </a:p>
        </p:txBody>
      </p:sp>
      <p:sp>
        <p:nvSpPr>
          <p:cNvPr id="14" name="Shape 12"/>
          <p:cNvSpPr/>
          <p:nvPr/>
        </p:nvSpPr>
        <p:spPr>
          <a:xfrm>
            <a:off x="2377440" y="1097280"/>
            <a:ext cx="1051560" cy="3017520"/>
          </a:xfrm>
          <a:prstGeom prst="rect">
            <a:avLst/>
          </a:prstGeom>
          <a:solidFill>
            <a:srgbClr val="E1F5EE"/>
          </a:solidFill>
          <a:ln/>
        </p:spPr>
        <p:txBody>
          <a:bodyPr/>
          <a:lstStyle/>
          <a:p>
            <a:endParaRPr lang="en-US"/>
          </a:p>
        </p:txBody>
      </p:sp>
      <p:sp>
        <p:nvSpPr>
          <p:cNvPr id="15" name="Text 13"/>
          <p:cNvSpPr/>
          <p:nvPr/>
        </p:nvSpPr>
        <p:spPr>
          <a:xfrm>
            <a:off x="2377440" y="1097280"/>
            <a:ext cx="1051560" cy="320040"/>
          </a:xfrm>
          <a:prstGeom prst="rect">
            <a:avLst/>
          </a:prstGeom>
          <a:noFill/>
          <a:ln/>
        </p:spPr>
        <p:txBody>
          <a:bodyPr wrap="square" rtlCol="0" anchor="ctr"/>
          <a:lstStyle/>
          <a:p>
            <a:pPr marL="0" indent="0" algn="ctr">
              <a:buNone/>
            </a:pPr>
            <a:r>
              <a:rPr lang="en-US" sz="1000" b="1" dirty="0">
                <a:solidFill>
                  <a:srgbClr val="0F6E56"/>
                </a:solidFill>
              </a:rPr>
              <a:t>Secure</a:t>
            </a:r>
            <a:endParaRPr lang="en-US" sz="1000" dirty="0"/>
          </a:p>
        </p:txBody>
      </p:sp>
      <p:sp>
        <p:nvSpPr>
          <p:cNvPr id="16" name="Text 14"/>
          <p:cNvSpPr/>
          <p:nvPr/>
        </p:nvSpPr>
        <p:spPr>
          <a:xfrm>
            <a:off x="2423160" y="1463040"/>
            <a:ext cx="960120" cy="182880"/>
          </a:xfrm>
          <a:prstGeom prst="rect">
            <a:avLst/>
          </a:prstGeom>
          <a:noFill/>
          <a:ln/>
        </p:spPr>
        <p:txBody>
          <a:bodyPr wrap="square" lIns="0" tIns="0" rIns="0" bIns="0" rtlCol="0" anchor="ctr"/>
          <a:lstStyle/>
          <a:p>
            <a:pPr marL="0" indent="0">
              <a:buNone/>
            </a:pPr>
            <a:r>
              <a:rPr lang="en-US" sz="800" dirty="0">
                <a:solidFill>
                  <a:srgbClr val="2B2B2B"/>
                </a:solidFill>
              </a:rPr>
              <a:t>SafeTech Token</a:t>
            </a:r>
            <a:endParaRPr lang="en-US" sz="800" dirty="0"/>
          </a:p>
        </p:txBody>
      </p:sp>
      <p:sp>
        <p:nvSpPr>
          <p:cNvPr id="17" name="Text 15"/>
          <p:cNvSpPr/>
          <p:nvPr/>
        </p:nvSpPr>
        <p:spPr>
          <a:xfrm>
            <a:off x="2423160" y="1645920"/>
            <a:ext cx="960120" cy="182880"/>
          </a:xfrm>
          <a:prstGeom prst="rect">
            <a:avLst/>
          </a:prstGeom>
          <a:noFill/>
          <a:ln/>
        </p:spPr>
        <p:txBody>
          <a:bodyPr wrap="square" lIns="0" tIns="0" rIns="0" bIns="0" rtlCol="0" anchor="ctr"/>
          <a:lstStyle/>
          <a:p>
            <a:pPr marL="0" indent="0">
              <a:buNone/>
            </a:pPr>
            <a:r>
              <a:rPr lang="en-US" sz="800" dirty="0">
                <a:solidFill>
                  <a:srgbClr val="2B2B2B"/>
                </a:solidFill>
              </a:rPr>
              <a:t>Vault / Tokenization</a:t>
            </a:r>
            <a:endParaRPr lang="en-US" sz="800" dirty="0"/>
          </a:p>
        </p:txBody>
      </p:sp>
      <p:sp>
        <p:nvSpPr>
          <p:cNvPr id="18" name="Text 16"/>
          <p:cNvSpPr/>
          <p:nvPr/>
        </p:nvSpPr>
        <p:spPr>
          <a:xfrm>
            <a:off x="2423160" y="1828800"/>
            <a:ext cx="960120" cy="182880"/>
          </a:xfrm>
          <a:prstGeom prst="rect">
            <a:avLst/>
          </a:prstGeom>
          <a:noFill/>
          <a:ln/>
        </p:spPr>
        <p:txBody>
          <a:bodyPr wrap="square" lIns="0" tIns="0" rIns="0" bIns="0" rtlCol="0" anchor="ctr"/>
          <a:lstStyle/>
          <a:p>
            <a:pPr marL="0" indent="0">
              <a:buNone/>
            </a:pPr>
            <a:r>
              <a:rPr lang="en-US" sz="800" dirty="0">
                <a:solidFill>
                  <a:srgbClr val="2B2B2B"/>
                </a:solidFill>
              </a:rPr>
              <a:t>Page Encryption</a:t>
            </a:r>
            <a:endParaRPr lang="en-US" sz="800" dirty="0"/>
          </a:p>
        </p:txBody>
      </p:sp>
      <p:sp>
        <p:nvSpPr>
          <p:cNvPr id="19" name="Text 17"/>
          <p:cNvSpPr/>
          <p:nvPr/>
        </p:nvSpPr>
        <p:spPr>
          <a:xfrm>
            <a:off x="2423160" y="2011680"/>
            <a:ext cx="960120" cy="182880"/>
          </a:xfrm>
          <a:prstGeom prst="rect">
            <a:avLst/>
          </a:prstGeom>
          <a:noFill/>
          <a:ln/>
        </p:spPr>
        <p:txBody>
          <a:bodyPr wrap="square" lIns="0" tIns="0" rIns="0" bIns="0" rtlCol="0" anchor="ctr"/>
          <a:lstStyle/>
          <a:p>
            <a:pPr marL="0" indent="0">
              <a:buNone/>
            </a:pPr>
            <a:r>
              <a:rPr lang="en-US" sz="800" dirty="0">
                <a:solidFill>
                  <a:srgbClr val="2B2B2B"/>
                </a:solidFill>
              </a:rPr>
              <a:t>Hosted Fields</a:t>
            </a:r>
            <a:endParaRPr lang="en-US" sz="800" dirty="0"/>
          </a:p>
        </p:txBody>
      </p:sp>
      <p:sp>
        <p:nvSpPr>
          <p:cNvPr id="20" name="Shape 18"/>
          <p:cNvSpPr/>
          <p:nvPr/>
        </p:nvSpPr>
        <p:spPr>
          <a:xfrm>
            <a:off x="3520440" y="1097280"/>
            <a:ext cx="1051560" cy="3017520"/>
          </a:xfrm>
          <a:prstGeom prst="rect">
            <a:avLst/>
          </a:prstGeom>
          <a:solidFill>
            <a:srgbClr val="E1F5EE"/>
          </a:solidFill>
          <a:ln/>
        </p:spPr>
        <p:txBody>
          <a:bodyPr/>
          <a:lstStyle/>
          <a:p>
            <a:endParaRPr lang="en-US"/>
          </a:p>
        </p:txBody>
      </p:sp>
      <p:sp>
        <p:nvSpPr>
          <p:cNvPr id="21" name="Text 19"/>
          <p:cNvSpPr/>
          <p:nvPr/>
        </p:nvSpPr>
        <p:spPr>
          <a:xfrm>
            <a:off x="3520440" y="1097280"/>
            <a:ext cx="1051560" cy="320040"/>
          </a:xfrm>
          <a:prstGeom prst="rect">
            <a:avLst/>
          </a:prstGeom>
          <a:noFill/>
          <a:ln/>
        </p:spPr>
        <p:txBody>
          <a:bodyPr wrap="square" rtlCol="0" anchor="ctr"/>
          <a:lstStyle/>
          <a:p>
            <a:pPr marL="0" indent="0" algn="ctr">
              <a:buNone/>
            </a:pPr>
            <a:r>
              <a:rPr lang="en-US" sz="1000" b="1" dirty="0">
                <a:solidFill>
                  <a:srgbClr val="0F6E56"/>
                </a:solidFill>
              </a:rPr>
              <a:t>Optimize</a:t>
            </a:r>
            <a:endParaRPr lang="en-US" sz="1000" dirty="0"/>
          </a:p>
        </p:txBody>
      </p:sp>
      <p:sp>
        <p:nvSpPr>
          <p:cNvPr id="22" name="Text 20"/>
          <p:cNvSpPr/>
          <p:nvPr/>
        </p:nvSpPr>
        <p:spPr>
          <a:xfrm>
            <a:off x="3566160" y="1463040"/>
            <a:ext cx="960120" cy="182880"/>
          </a:xfrm>
          <a:prstGeom prst="rect">
            <a:avLst/>
          </a:prstGeom>
          <a:noFill/>
          <a:ln/>
        </p:spPr>
        <p:txBody>
          <a:bodyPr wrap="square" lIns="0" tIns="0" rIns="0" bIns="0" rtlCol="0" anchor="ctr"/>
          <a:lstStyle/>
          <a:p>
            <a:pPr marL="0" indent="0">
              <a:buNone/>
            </a:pPr>
            <a:r>
              <a:rPr lang="en-US" sz="800" dirty="0">
                <a:solidFill>
                  <a:srgbClr val="2B2B2B"/>
                </a:solidFill>
              </a:rPr>
              <a:t>Smart Routing</a:t>
            </a:r>
            <a:endParaRPr lang="en-US" sz="800" dirty="0"/>
          </a:p>
        </p:txBody>
      </p:sp>
      <p:sp>
        <p:nvSpPr>
          <p:cNvPr id="23" name="Text 21"/>
          <p:cNvSpPr/>
          <p:nvPr/>
        </p:nvSpPr>
        <p:spPr>
          <a:xfrm>
            <a:off x="3566160" y="1645920"/>
            <a:ext cx="960120" cy="182880"/>
          </a:xfrm>
          <a:prstGeom prst="rect">
            <a:avLst/>
          </a:prstGeom>
          <a:noFill/>
          <a:ln/>
        </p:spPr>
        <p:txBody>
          <a:bodyPr wrap="square" lIns="0" tIns="0" rIns="0" bIns="0" rtlCol="0" anchor="ctr"/>
          <a:lstStyle/>
          <a:p>
            <a:pPr marL="0" indent="0">
              <a:buNone/>
            </a:pPr>
            <a:r>
              <a:rPr lang="en-US" sz="800" b="1" dirty="0">
                <a:solidFill>
                  <a:srgbClr val="2B2B2B"/>
                </a:solidFill>
              </a:rPr>
              <a:t>Payment Optimization:</a:t>
            </a:r>
            <a:endParaRPr lang="en-US" sz="800" dirty="0"/>
          </a:p>
        </p:txBody>
      </p:sp>
      <p:sp>
        <p:nvSpPr>
          <p:cNvPr id="24" name="Text 22"/>
          <p:cNvSpPr/>
          <p:nvPr/>
        </p:nvSpPr>
        <p:spPr>
          <a:xfrm>
            <a:off x="3566160" y="1828800"/>
            <a:ext cx="960120" cy="182880"/>
          </a:xfrm>
          <a:prstGeom prst="rect">
            <a:avLst/>
          </a:prstGeom>
          <a:noFill/>
          <a:ln/>
        </p:spPr>
        <p:txBody>
          <a:bodyPr wrap="square" lIns="0" tIns="0" rIns="0" bIns="0" rtlCol="0" anchor="ctr"/>
          <a:lstStyle/>
          <a:p>
            <a:pPr marL="0" indent="0">
              <a:buNone/>
            </a:pPr>
            <a:r>
              <a:rPr lang="en-US" sz="800" dirty="0">
                <a:solidFill>
                  <a:srgbClr val="2B2B2B"/>
                </a:solidFill>
              </a:rPr>
              <a:t>  • Network Tokens</a:t>
            </a:r>
            <a:endParaRPr lang="en-US" sz="800" dirty="0"/>
          </a:p>
        </p:txBody>
      </p:sp>
      <p:sp>
        <p:nvSpPr>
          <p:cNvPr id="25" name="Text 23"/>
          <p:cNvSpPr/>
          <p:nvPr/>
        </p:nvSpPr>
        <p:spPr>
          <a:xfrm>
            <a:off x="3566160" y="2011680"/>
            <a:ext cx="960120" cy="182880"/>
          </a:xfrm>
          <a:prstGeom prst="rect">
            <a:avLst/>
          </a:prstGeom>
          <a:noFill/>
          <a:ln/>
        </p:spPr>
        <p:txBody>
          <a:bodyPr wrap="square" lIns="0" tIns="0" rIns="0" bIns="0" rtlCol="0" anchor="ctr"/>
          <a:lstStyle/>
          <a:p>
            <a:pPr marL="0" indent="0">
              <a:buNone/>
            </a:pPr>
            <a:r>
              <a:rPr lang="en-US" sz="800" dirty="0">
                <a:solidFill>
                  <a:srgbClr val="2B2B2B"/>
                </a:solidFill>
              </a:rPr>
              <a:t>  • Account Updater</a:t>
            </a:r>
            <a:endParaRPr lang="en-US" sz="800" dirty="0"/>
          </a:p>
        </p:txBody>
      </p:sp>
      <p:sp>
        <p:nvSpPr>
          <p:cNvPr id="26" name="Text 24"/>
          <p:cNvSpPr/>
          <p:nvPr/>
        </p:nvSpPr>
        <p:spPr>
          <a:xfrm>
            <a:off x="3566160" y="2194560"/>
            <a:ext cx="960120" cy="182880"/>
          </a:xfrm>
          <a:prstGeom prst="rect">
            <a:avLst/>
          </a:prstGeom>
          <a:noFill/>
          <a:ln/>
        </p:spPr>
        <p:txBody>
          <a:bodyPr wrap="square" lIns="0" tIns="0" rIns="0" bIns="0" rtlCol="0" anchor="ctr"/>
          <a:lstStyle/>
          <a:p>
            <a:pPr marL="0" indent="0">
              <a:buNone/>
            </a:pPr>
            <a:r>
              <a:rPr lang="en-US" sz="800" dirty="0">
                <a:solidFill>
                  <a:srgbClr val="2B2B2B"/>
                </a:solidFill>
              </a:rPr>
              <a:t>  • Smart Retries</a:t>
            </a:r>
            <a:endParaRPr lang="en-US" sz="800" dirty="0"/>
          </a:p>
        </p:txBody>
      </p:sp>
      <p:sp>
        <p:nvSpPr>
          <p:cNvPr id="27" name="Shape 25"/>
          <p:cNvSpPr/>
          <p:nvPr/>
        </p:nvSpPr>
        <p:spPr>
          <a:xfrm>
            <a:off x="4663440" y="1097280"/>
            <a:ext cx="1051560" cy="3017520"/>
          </a:xfrm>
          <a:prstGeom prst="rect">
            <a:avLst/>
          </a:prstGeom>
          <a:solidFill>
            <a:srgbClr val="E1F5EE"/>
          </a:solidFill>
          <a:ln/>
        </p:spPr>
        <p:txBody>
          <a:bodyPr/>
          <a:lstStyle/>
          <a:p>
            <a:endParaRPr lang="en-US"/>
          </a:p>
        </p:txBody>
      </p:sp>
      <p:sp>
        <p:nvSpPr>
          <p:cNvPr id="28" name="Text 26"/>
          <p:cNvSpPr/>
          <p:nvPr/>
        </p:nvSpPr>
        <p:spPr>
          <a:xfrm>
            <a:off x="4663440" y="1097280"/>
            <a:ext cx="1051560" cy="320040"/>
          </a:xfrm>
          <a:prstGeom prst="rect">
            <a:avLst/>
          </a:prstGeom>
          <a:noFill/>
          <a:ln/>
        </p:spPr>
        <p:txBody>
          <a:bodyPr wrap="square" rtlCol="0" anchor="ctr"/>
          <a:lstStyle/>
          <a:p>
            <a:pPr marL="0" indent="0" algn="ctr">
              <a:buNone/>
            </a:pPr>
            <a:r>
              <a:rPr lang="en-US" sz="1000" b="1" dirty="0">
                <a:solidFill>
                  <a:srgbClr val="0F6E56"/>
                </a:solidFill>
              </a:rPr>
              <a:t>Protect</a:t>
            </a:r>
            <a:endParaRPr lang="en-US" sz="1000" dirty="0"/>
          </a:p>
        </p:txBody>
      </p:sp>
      <p:sp>
        <p:nvSpPr>
          <p:cNvPr id="29" name="Text 27"/>
          <p:cNvSpPr/>
          <p:nvPr/>
        </p:nvSpPr>
        <p:spPr>
          <a:xfrm>
            <a:off x="4709160" y="1463040"/>
            <a:ext cx="960120" cy="182880"/>
          </a:xfrm>
          <a:prstGeom prst="rect">
            <a:avLst/>
          </a:prstGeom>
          <a:noFill/>
          <a:ln/>
        </p:spPr>
        <p:txBody>
          <a:bodyPr wrap="square" lIns="0" tIns="0" rIns="0" bIns="0" rtlCol="0" anchor="ctr"/>
          <a:lstStyle/>
          <a:p>
            <a:pPr marL="0" indent="0">
              <a:buNone/>
            </a:pPr>
            <a:r>
              <a:rPr lang="en-US" sz="800" dirty="0">
                <a:solidFill>
                  <a:srgbClr val="2B2B2B"/>
                </a:solidFill>
              </a:rPr>
              <a:t>Fraud Screening</a:t>
            </a:r>
            <a:endParaRPr lang="en-US" sz="800" dirty="0"/>
          </a:p>
        </p:txBody>
      </p:sp>
      <p:sp>
        <p:nvSpPr>
          <p:cNvPr id="30" name="Text 28"/>
          <p:cNvSpPr/>
          <p:nvPr/>
        </p:nvSpPr>
        <p:spPr>
          <a:xfrm>
            <a:off x="4709160" y="1645920"/>
            <a:ext cx="960120" cy="182880"/>
          </a:xfrm>
          <a:prstGeom prst="rect">
            <a:avLst/>
          </a:prstGeom>
          <a:noFill/>
          <a:ln/>
        </p:spPr>
        <p:txBody>
          <a:bodyPr wrap="square" lIns="0" tIns="0" rIns="0" bIns="0" rtlCol="0" anchor="ctr"/>
          <a:lstStyle/>
          <a:p>
            <a:pPr marL="0" indent="0">
              <a:buNone/>
            </a:pPr>
            <a:r>
              <a:rPr lang="en-US" sz="800" dirty="0">
                <a:solidFill>
                  <a:srgbClr val="2B2B2B"/>
                </a:solidFill>
              </a:rPr>
              <a:t>3DS / SCA</a:t>
            </a:r>
            <a:endParaRPr lang="en-US" sz="800" dirty="0"/>
          </a:p>
        </p:txBody>
      </p:sp>
      <p:sp>
        <p:nvSpPr>
          <p:cNvPr id="31" name="Text 29"/>
          <p:cNvSpPr/>
          <p:nvPr/>
        </p:nvSpPr>
        <p:spPr>
          <a:xfrm>
            <a:off x="4709160" y="1828800"/>
            <a:ext cx="960120" cy="182880"/>
          </a:xfrm>
          <a:prstGeom prst="rect">
            <a:avLst/>
          </a:prstGeom>
          <a:noFill/>
          <a:ln/>
        </p:spPr>
        <p:txBody>
          <a:bodyPr wrap="square" lIns="0" tIns="0" rIns="0" bIns="0" rtlCol="0" anchor="ctr"/>
          <a:lstStyle/>
          <a:p>
            <a:pPr marL="0" indent="0">
              <a:buNone/>
            </a:pPr>
            <a:r>
              <a:rPr lang="en-US" sz="800" dirty="0">
                <a:solidFill>
                  <a:srgbClr val="2B2B2B"/>
                </a:solidFill>
              </a:rPr>
              <a:t>Smart Disputes</a:t>
            </a:r>
            <a:endParaRPr lang="en-US" sz="800" dirty="0"/>
          </a:p>
        </p:txBody>
      </p:sp>
      <p:sp>
        <p:nvSpPr>
          <p:cNvPr id="32" name="Shape 30"/>
          <p:cNvSpPr/>
          <p:nvPr/>
        </p:nvSpPr>
        <p:spPr>
          <a:xfrm>
            <a:off x="5806440" y="1097280"/>
            <a:ext cx="1051560" cy="3017520"/>
          </a:xfrm>
          <a:prstGeom prst="rect">
            <a:avLst/>
          </a:prstGeom>
          <a:solidFill>
            <a:srgbClr val="E1F5EE"/>
          </a:solidFill>
          <a:ln/>
        </p:spPr>
        <p:txBody>
          <a:bodyPr/>
          <a:lstStyle/>
          <a:p>
            <a:endParaRPr lang="en-US"/>
          </a:p>
        </p:txBody>
      </p:sp>
      <p:sp>
        <p:nvSpPr>
          <p:cNvPr id="33" name="Text 31"/>
          <p:cNvSpPr/>
          <p:nvPr/>
        </p:nvSpPr>
        <p:spPr>
          <a:xfrm>
            <a:off x="5806440" y="1097280"/>
            <a:ext cx="1051560" cy="320040"/>
          </a:xfrm>
          <a:prstGeom prst="rect">
            <a:avLst/>
          </a:prstGeom>
          <a:noFill/>
          <a:ln/>
        </p:spPr>
        <p:txBody>
          <a:bodyPr wrap="square" rtlCol="0" anchor="ctr"/>
          <a:lstStyle/>
          <a:p>
            <a:pPr marL="0" indent="0" algn="ctr">
              <a:buNone/>
            </a:pPr>
            <a:r>
              <a:rPr lang="en-US" sz="1000" b="1" dirty="0">
                <a:solidFill>
                  <a:srgbClr val="0F6E56"/>
                </a:solidFill>
              </a:rPr>
              <a:t>Grow</a:t>
            </a:r>
            <a:endParaRPr lang="en-US" sz="1000" dirty="0"/>
          </a:p>
        </p:txBody>
      </p:sp>
      <p:sp>
        <p:nvSpPr>
          <p:cNvPr id="34" name="Text 32"/>
          <p:cNvSpPr/>
          <p:nvPr/>
        </p:nvSpPr>
        <p:spPr>
          <a:xfrm>
            <a:off x="5852160" y="1463040"/>
            <a:ext cx="960120" cy="182880"/>
          </a:xfrm>
          <a:prstGeom prst="rect">
            <a:avLst/>
          </a:prstGeom>
          <a:noFill/>
          <a:ln/>
        </p:spPr>
        <p:txBody>
          <a:bodyPr wrap="square" lIns="0" tIns="0" rIns="0" bIns="0" rtlCol="0" anchor="ctr"/>
          <a:lstStyle/>
          <a:p>
            <a:pPr marL="0" indent="0">
              <a:buNone/>
            </a:pPr>
            <a:r>
              <a:rPr lang="en-US" sz="800" dirty="0">
                <a:solidFill>
                  <a:srgbClr val="2B2B2B"/>
                </a:solidFill>
              </a:rPr>
              <a:t>Analytics</a:t>
            </a:r>
            <a:endParaRPr lang="en-US" sz="800" dirty="0"/>
          </a:p>
        </p:txBody>
      </p:sp>
      <p:sp>
        <p:nvSpPr>
          <p:cNvPr id="35" name="Text 33"/>
          <p:cNvSpPr/>
          <p:nvPr/>
        </p:nvSpPr>
        <p:spPr>
          <a:xfrm>
            <a:off x="5852160" y="1645920"/>
            <a:ext cx="960120" cy="182880"/>
          </a:xfrm>
          <a:prstGeom prst="rect">
            <a:avLst/>
          </a:prstGeom>
          <a:noFill/>
          <a:ln/>
        </p:spPr>
        <p:txBody>
          <a:bodyPr wrap="square" lIns="0" tIns="0" rIns="0" bIns="0" rtlCol="0" anchor="ctr"/>
          <a:lstStyle/>
          <a:p>
            <a:pPr marL="0" indent="0">
              <a:buNone/>
            </a:pPr>
            <a:r>
              <a:rPr lang="en-US" sz="800" dirty="0">
                <a:solidFill>
                  <a:srgbClr val="2B2B2B"/>
                </a:solidFill>
              </a:rPr>
              <a:t>Subscription Billing</a:t>
            </a:r>
            <a:endParaRPr lang="en-US" sz="800" dirty="0"/>
          </a:p>
        </p:txBody>
      </p:sp>
      <p:sp>
        <p:nvSpPr>
          <p:cNvPr id="36" name="Text 34"/>
          <p:cNvSpPr/>
          <p:nvPr/>
        </p:nvSpPr>
        <p:spPr>
          <a:xfrm>
            <a:off x="7223760" y="1828800"/>
            <a:ext cx="960120" cy="182880"/>
          </a:xfrm>
          <a:prstGeom prst="rect">
            <a:avLst/>
          </a:prstGeom>
          <a:noFill/>
          <a:ln/>
        </p:spPr>
        <p:txBody>
          <a:bodyPr wrap="square" lIns="0" tIns="0" rIns="0" bIns="0" rtlCol="0" anchor="ctr"/>
          <a:lstStyle/>
          <a:p>
            <a:pPr marL="0" indent="0">
              <a:buNone/>
            </a:pPr>
            <a:r>
              <a:rPr lang="en-US" sz="700" i="1" dirty="0">
                <a:solidFill>
                  <a:srgbClr val="5A5A5A"/>
                </a:solidFill>
              </a:rPr>
              <a:t>Capital / Cash Advance</a:t>
            </a:r>
            <a:endParaRPr lang="en-US" sz="700" dirty="0"/>
          </a:p>
        </p:txBody>
      </p:sp>
      <p:sp>
        <p:nvSpPr>
          <p:cNvPr id="37" name="Text 35"/>
          <p:cNvSpPr/>
          <p:nvPr/>
        </p:nvSpPr>
        <p:spPr>
          <a:xfrm>
            <a:off x="7223760" y="2011680"/>
            <a:ext cx="960120" cy="182880"/>
          </a:xfrm>
          <a:prstGeom prst="rect">
            <a:avLst/>
          </a:prstGeom>
          <a:noFill/>
          <a:ln/>
        </p:spPr>
        <p:txBody>
          <a:bodyPr wrap="square" lIns="0" tIns="0" rIns="0" bIns="0" rtlCol="0" anchor="ctr"/>
          <a:lstStyle/>
          <a:p>
            <a:pPr marL="0" indent="0">
              <a:buNone/>
            </a:pPr>
            <a:r>
              <a:rPr lang="en-US" sz="700" i="1" dirty="0">
                <a:solidFill>
                  <a:srgbClr val="5A5A5A"/>
                </a:solidFill>
              </a:rPr>
              <a:t>Currency Wallet</a:t>
            </a:r>
            <a:endParaRPr lang="en-US" sz="700" dirty="0"/>
          </a:p>
        </p:txBody>
      </p:sp>
      <p:sp>
        <p:nvSpPr>
          <p:cNvPr id="38" name="Text 36"/>
          <p:cNvSpPr/>
          <p:nvPr/>
        </p:nvSpPr>
        <p:spPr>
          <a:xfrm>
            <a:off x="7223760" y="2194560"/>
            <a:ext cx="960120" cy="182880"/>
          </a:xfrm>
          <a:prstGeom prst="rect">
            <a:avLst/>
          </a:prstGeom>
          <a:noFill/>
          <a:ln/>
        </p:spPr>
        <p:txBody>
          <a:bodyPr wrap="square" lIns="0" tIns="0" rIns="0" bIns="0" rtlCol="0" anchor="ctr"/>
          <a:lstStyle/>
          <a:p>
            <a:pPr marL="0" indent="0">
              <a:buNone/>
            </a:pPr>
            <a:r>
              <a:rPr lang="en-US" sz="700" i="1" dirty="0">
                <a:solidFill>
                  <a:srgbClr val="5A5A5A"/>
                </a:solidFill>
              </a:rPr>
              <a:t>(future)</a:t>
            </a:r>
            <a:endParaRPr lang="en-US" sz="700" dirty="0"/>
          </a:p>
        </p:txBody>
      </p:sp>
      <p:sp>
        <p:nvSpPr>
          <p:cNvPr id="39" name="Shape 37"/>
          <p:cNvSpPr/>
          <p:nvPr/>
        </p:nvSpPr>
        <p:spPr>
          <a:xfrm>
            <a:off x="7040880" y="1097280"/>
            <a:ext cx="1737360" cy="3017520"/>
          </a:xfrm>
          <a:prstGeom prst="rect">
            <a:avLst/>
          </a:prstGeom>
          <a:solidFill>
            <a:srgbClr val="F0E6FB"/>
          </a:solidFill>
          <a:ln/>
        </p:spPr>
        <p:txBody>
          <a:bodyPr/>
          <a:lstStyle/>
          <a:p>
            <a:endParaRPr lang="en-US"/>
          </a:p>
        </p:txBody>
      </p:sp>
      <p:sp>
        <p:nvSpPr>
          <p:cNvPr id="40" name="Text 38"/>
          <p:cNvSpPr/>
          <p:nvPr/>
        </p:nvSpPr>
        <p:spPr>
          <a:xfrm>
            <a:off x="7040880" y="1097280"/>
            <a:ext cx="1737360" cy="320040"/>
          </a:xfrm>
          <a:prstGeom prst="rect">
            <a:avLst/>
          </a:prstGeom>
          <a:noFill/>
          <a:ln/>
        </p:spPr>
        <p:txBody>
          <a:bodyPr wrap="square" rtlCol="0" anchor="ctr"/>
          <a:lstStyle/>
          <a:p>
            <a:pPr marL="0" indent="0" algn="ctr">
              <a:buNone/>
            </a:pPr>
            <a:r>
              <a:rPr lang="en-US" sz="1000" b="1" dirty="0">
                <a:solidFill>
                  <a:srgbClr val="7B2D8E"/>
                </a:solidFill>
              </a:rPr>
              <a:t>Settle</a:t>
            </a:r>
            <a:endParaRPr lang="en-US" sz="1000" dirty="0"/>
          </a:p>
        </p:txBody>
      </p:sp>
      <p:sp>
        <p:nvSpPr>
          <p:cNvPr id="41" name="Text 39"/>
          <p:cNvSpPr/>
          <p:nvPr/>
        </p:nvSpPr>
        <p:spPr>
          <a:xfrm>
            <a:off x="7132320" y="1463040"/>
            <a:ext cx="1554480" cy="182880"/>
          </a:xfrm>
          <a:prstGeom prst="rect">
            <a:avLst/>
          </a:prstGeom>
          <a:noFill/>
          <a:ln/>
        </p:spPr>
        <p:txBody>
          <a:bodyPr wrap="square" lIns="0" tIns="0" rIns="0" bIns="0" rtlCol="0" anchor="ctr"/>
          <a:lstStyle/>
          <a:p>
            <a:pPr marL="0" indent="0">
              <a:buNone/>
            </a:pPr>
            <a:r>
              <a:rPr lang="en-US" sz="800" dirty="0">
                <a:solidFill>
                  <a:srgbClr val="2B2B2B"/>
                </a:solidFill>
              </a:rPr>
              <a:t>Standard settlement</a:t>
            </a:r>
            <a:endParaRPr lang="en-US" sz="800" dirty="0"/>
          </a:p>
        </p:txBody>
      </p:sp>
      <p:sp>
        <p:nvSpPr>
          <p:cNvPr id="42" name="Text 40"/>
          <p:cNvSpPr/>
          <p:nvPr/>
        </p:nvSpPr>
        <p:spPr>
          <a:xfrm>
            <a:off x="7132320" y="1645920"/>
            <a:ext cx="1554480" cy="182880"/>
          </a:xfrm>
          <a:prstGeom prst="rect">
            <a:avLst/>
          </a:prstGeom>
          <a:noFill/>
          <a:ln/>
        </p:spPr>
        <p:txBody>
          <a:bodyPr wrap="square" lIns="0" tIns="0" rIns="0" bIns="0" rtlCol="0" anchor="ctr"/>
          <a:lstStyle/>
          <a:p>
            <a:pPr marL="0" indent="0">
              <a:buNone/>
            </a:pPr>
            <a:r>
              <a:rPr lang="en-US" sz="800" dirty="0">
                <a:solidFill>
                  <a:srgbClr val="2B2B2B"/>
                </a:solidFill>
              </a:rPr>
              <a:t>Accelerated funding</a:t>
            </a:r>
            <a:endParaRPr lang="en-US" sz="800" dirty="0"/>
          </a:p>
        </p:txBody>
      </p:sp>
      <p:sp>
        <p:nvSpPr>
          <p:cNvPr id="43" name="Text 41"/>
          <p:cNvSpPr/>
          <p:nvPr/>
        </p:nvSpPr>
        <p:spPr>
          <a:xfrm>
            <a:off x="7132320" y="1828800"/>
            <a:ext cx="1554480" cy="182880"/>
          </a:xfrm>
          <a:prstGeom prst="rect">
            <a:avLst/>
          </a:prstGeom>
          <a:noFill/>
          <a:ln/>
        </p:spPr>
        <p:txBody>
          <a:bodyPr wrap="square" lIns="0" tIns="0" rIns="0" bIns="0" rtlCol="0" anchor="ctr"/>
          <a:lstStyle/>
          <a:p>
            <a:pPr marL="0" indent="0">
              <a:buNone/>
            </a:pPr>
            <a:r>
              <a:rPr lang="en-US" sz="800" dirty="0">
                <a:solidFill>
                  <a:srgbClr val="2B2B2B"/>
                </a:solidFill>
              </a:rPr>
              <a:t>FX spread / conversion</a:t>
            </a:r>
            <a:endParaRPr lang="en-US" sz="800" dirty="0"/>
          </a:p>
        </p:txBody>
      </p:sp>
      <p:sp>
        <p:nvSpPr>
          <p:cNvPr id="44" name="Text 42"/>
          <p:cNvSpPr/>
          <p:nvPr/>
        </p:nvSpPr>
        <p:spPr>
          <a:xfrm>
            <a:off x="7132320" y="2011680"/>
            <a:ext cx="1554480" cy="182880"/>
          </a:xfrm>
          <a:prstGeom prst="rect">
            <a:avLst/>
          </a:prstGeom>
          <a:noFill/>
          <a:ln/>
        </p:spPr>
        <p:txBody>
          <a:bodyPr wrap="square" lIns="0" tIns="0" rIns="0" bIns="0" rtlCol="0" anchor="ctr"/>
          <a:lstStyle/>
          <a:p>
            <a:pPr marL="0" indent="0">
              <a:buNone/>
            </a:pPr>
            <a:r>
              <a:rPr lang="en-US" sz="800" dirty="0">
                <a:solidFill>
                  <a:srgbClr val="2B2B2B"/>
                </a:solidFill>
              </a:rPr>
              <a:t>Split payouts</a:t>
            </a:r>
            <a:endParaRPr lang="en-US" sz="800" dirty="0"/>
          </a:p>
        </p:txBody>
      </p:sp>
      <p:sp>
        <p:nvSpPr>
          <p:cNvPr id="45" name="Shape 43"/>
          <p:cNvSpPr/>
          <p:nvPr/>
        </p:nvSpPr>
        <p:spPr>
          <a:xfrm>
            <a:off x="365760" y="4251960"/>
            <a:ext cx="8412480" cy="502920"/>
          </a:xfrm>
          <a:prstGeom prst="rect">
            <a:avLst/>
          </a:prstGeom>
          <a:solidFill>
            <a:srgbClr val="F5F6FA"/>
          </a:solidFill>
          <a:ln/>
        </p:spPr>
        <p:txBody>
          <a:bodyPr/>
          <a:lstStyle/>
          <a:p>
            <a:endParaRPr lang="en-US"/>
          </a:p>
        </p:txBody>
      </p:sp>
      <p:sp>
        <p:nvSpPr>
          <p:cNvPr id="46" name="Text 44"/>
          <p:cNvSpPr/>
          <p:nvPr/>
        </p:nvSpPr>
        <p:spPr>
          <a:xfrm>
            <a:off x="457200" y="4251960"/>
            <a:ext cx="1097280" cy="502920"/>
          </a:xfrm>
          <a:prstGeom prst="rect">
            <a:avLst/>
          </a:prstGeom>
          <a:noFill/>
          <a:ln/>
        </p:spPr>
        <p:txBody>
          <a:bodyPr wrap="square" lIns="0" tIns="0" rIns="0" bIns="0" rtlCol="0" anchor="ctr"/>
          <a:lstStyle/>
          <a:p>
            <a:pPr marL="0" indent="0">
              <a:buNone/>
            </a:pPr>
            <a:r>
              <a:rPr lang="en-US" sz="1000" b="1" dirty="0">
                <a:solidFill>
                  <a:srgbClr val="2B2B2B"/>
                </a:solidFill>
              </a:rPr>
              <a:t>Infrastructure:</a:t>
            </a:r>
            <a:endParaRPr lang="en-US" sz="1000" dirty="0"/>
          </a:p>
        </p:txBody>
      </p:sp>
      <p:sp>
        <p:nvSpPr>
          <p:cNvPr id="47" name="Text 45"/>
          <p:cNvSpPr/>
          <p:nvPr/>
        </p:nvSpPr>
        <p:spPr>
          <a:xfrm>
            <a:off x="1554480" y="4251960"/>
            <a:ext cx="7132320" cy="502920"/>
          </a:xfrm>
          <a:prstGeom prst="rect">
            <a:avLst/>
          </a:prstGeom>
          <a:noFill/>
          <a:ln/>
        </p:spPr>
        <p:txBody>
          <a:bodyPr wrap="square" lIns="0" tIns="0" rIns="0" bIns="0" rtlCol="0" anchor="ctr"/>
          <a:lstStyle/>
          <a:p>
            <a:pPr marL="0" indent="0">
              <a:buNone/>
            </a:pPr>
            <a:r>
              <a:rPr lang="en-US" sz="900" dirty="0">
                <a:solidFill>
                  <a:srgbClr val="2B2B2B"/>
                </a:solidFill>
              </a:rPr>
              <a:t>Gateway / API  |  Terminal hardware  |  Connectivity  |  Onboarding / setup  |  Maintenance / SLA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Layer 2: Four billing patterns</a:t>
            </a:r>
            <a:endParaRPr lang="en-US" sz="2400" dirty="0"/>
          </a:p>
        </p:txBody>
      </p:sp>
      <p:sp>
        <p:nvSpPr>
          <p:cNvPr id="3" name="Text 1"/>
          <p:cNvSpPr/>
          <p:nvPr/>
        </p:nvSpPr>
        <p:spPr>
          <a:xfrm>
            <a:off x="548640" y="6858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Every service enters the pricing engine through one of four billing patterns — the first-order fork that determines how an event becomes a charge. A single service can combine patterns (e.g., vault = subscription for storage + per-event for retrieval).</a:t>
            </a:r>
            <a:endParaRPr lang="en-US" sz="1000" dirty="0"/>
          </a:p>
        </p:txBody>
      </p:sp>
      <p:sp>
        <p:nvSpPr>
          <p:cNvPr id="4" name="Shape 2"/>
          <p:cNvSpPr/>
          <p:nvPr/>
        </p:nvSpPr>
        <p:spPr>
          <a:xfrm>
            <a:off x="457200" y="1097280"/>
            <a:ext cx="1965960" cy="2743200"/>
          </a:xfrm>
          <a:prstGeom prst="rect">
            <a:avLst/>
          </a:prstGeom>
          <a:solidFill>
            <a:srgbClr val="F5F6FA"/>
          </a:solidFill>
          <a:ln/>
        </p:spPr>
        <p:txBody>
          <a:bodyPr/>
          <a:lstStyle/>
          <a:p>
            <a:endParaRPr lang="en-US"/>
          </a:p>
        </p:txBody>
      </p:sp>
      <p:sp>
        <p:nvSpPr>
          <p:cNvPr id="5" name="Shape 3"/>
          <p:cNvSpPr/>
          <p:nvPr/>
        </p:nvSpPr>
        <p:spPr>
          <a:xfrm>
            <a:off x="457200" y="1097280"/>
            <a:ext cx="1965960" cy="54864"/>
          </a:xfrm>
          <a:prstGeom prst="rect">
            <a:avLst/>
          </a:prstGeom>
          <a:solidFill>
            <a:srgbClr val="2D6CDF"/>
          </a:solidFill>
          <a:ln/>
        </p:spPr>
        <p:txBody>
          <a:bodyPr/>
          <a:lstStyle/>
          <a:p>
            <a:endParaRPr lang="en-US"/>
          </a:p>
        </p:txBody>
      </p:sp>
      <p:sp>
        <p:nvSpPr>
          <p:cNvPr id="6" name="Text 4"/>
          <p:cNvSpPr/>
          <p:nvPr/>
        </p:nvSpPr>
        <p:spPr>
          <a:xfrm>
            <a:off x="548640" y="1234440"/>
            <a:ext cx="1783080" cy="320040"/>
          </a:xfrm>
          <a:prstGeom prst="rect">
            <a:avLst/>
          </a:prstGeom>
          <a:noFill/>
          <a:ln/>
        </p:spPr>
        <p:txBody>
          <a:bodyPr wrap="square" lIns="0" tIns="0" rIns="0" bIns="0" rtlCol="0" anchor="ctr"/>
          <a:lstStyle/>
          <a:p>
            <a:pPr marL="0" indent="0">
              <a:buNone/>
            </a:pPr>
            <a:r>
              <a:rPr lang="en-US" sz="1300" b="1" dirty="0">
                <a:solidFill>
                  <a:srgbClr val="2D6CDF"/>
                </a:solidFill>
              </a:rPr>
              <a:t>Per-event</a:t>
            </a:r>
            <a:endParaRPr lang="en-US" sz="1300" dirty="0"/>
          </a:p>
        </p:txBody>
      </p:sp>
      <p:sp>
        <p:nvSpPr>
          <p:cNvPr id="7" name="Text 5"/>
          <p:cNvSpPr/>
          <p:nvPr/>
        </p:nvSpPr>
        <p:spPr>
          <a:xfrm>
            <a:off x="548640" y="1600200"/>
            <a:ext cx="1783080" cy="777240"/>
          </a:xfrm>
          <a:prstGeom prst="rect">
            <a:avLst/>
          </a:prstGeom>
          <a:noFill/>
          <a:ln/>
        </p:spPr>
        <p:txBody>
          <a:bodyPr wrap="square" lIns="0" tIns="0" rIns="0" bIns="0" rtlCol="0" anchor="ctr"/>
          <a:lstStyle/>
          <a:p>
            <a:pPr marL="0" indent="0">
              <a:buNone/>
            </a:pPr>
            <a:r>
              <a:rPr lang="en-US" sz="900" dirty="0">
                <a:solidFill>
                  <a:srgbClr val="2B2B2B"/>
                </a:solidFill>
              </a:rPr>
              <a:t>Each event triggers a charge.</a:t>
            </a:r>
            <a:endParaRPr lang="en-US" sz="900" dirty="0"/>
          </a:p>
          <a:p>
            <a:pPr marL="0" indent="0">
              <a:buNone/>
            </a:pPr>
            <a:r>
              <a:rPr lang="en-US" sz="900" dirty="0">
                <a:solidFill>
                  <a:srgbClr val="2B2B2B"/>
                </a:solidFill>
              </a:rPr>
              <a:t>Floor/ceiling per event.</a:t>
            </a:r>
            <a:endParaRPr lang="en-US" sz="900" dirty="0"/>
          </a:p>
        </p:txBody>
      </p:sp>
      <p:sp>
        <p:nvSpPr>
          <p:cNvPr id="8" name="Text 6"/>
          <p:cNvSpPr/>
          <p:nvPr/>
        </p:nvSpPr>
        <p:spPr>
          <a:xfrm>
            <a:off x="548640" y="2423160"/>
            <a:ext cx="1783080" cy="182880"/>
          </a:xfrm>
          <a:prstGeom prst="rect">
            <a:avLst/>
          </a:prstGeom>
          <a:noFill/>
          <a:ln/>
        </p:spPr>
        <p:txBody>
          <a:bodyPr wrap="square" lIns="0" tIns="0" rIns="0" bIns="0" rtlCol="0" anchor="ctr"/>
          <a:lstStyle/>
          <a:p>
            <a:pPr marL="0" indent="0">
              <a:buNone/>
            </a:pPr>
            <a:r>
              <a:rPr lang="en-US" sz="800" b="1" dirty="0">
                <a:solidFill>
                  <a:srgbClr val="5A5A5A"/>
                </a:solidFill>
              </a:rPr>
              <a:t>Examples:</a:t>
            </a:r>
            <a:endParaRPr lang="en-US" sz="800" dirty="0"/>
          </a:p>
        </p:txBody>
      </p:sp>
      <p:sp>
        <p:nvSpPr>
          <p:cNvPr id="9" name="Text 7"/>
          <p:cNvSpPr/>
          <p:nvPr/>
        </p:nvSpPr>
        <p:spPr>
          <a:xfrm>
            <a:off x="548640" y="2606040"/>
            <a:ext cx="1783080" cy="731520"/>
          </a:xfrm>
          <a:prstGeom prst="rect">
            <a:avLst/>
          </a:prstGeom>
          <a:noFill/>
          <a:ln/>
        </p:spPr>
        <p:txBody>
          <a:bodyPr wrap="square" lIns="0" tIns="0" rIns="0" bIns="0" rtlCol="0" anchor="ctr"/>
          <a:lstStyle/>
          <a:p>
            <a:pPr marL="0" indent="0">
              <a:buNone/>
            </a:pPr>
            <a:r>
              <a:rPr lang="en-US" sz="800" dirty="0">
                <a:solidFill>
                  <a:srgbClr val="5A5A5A"/>
                </a:solidFill>
              </a:rPr>
              <a:t>Card auth, fraud screen,</a:t>
            </a:r>
            <a:endParaRPr lang="en-US" sz="800" dirty="0"/>
          </a:p>
          <a:p>
            <a:pPr marL="0" indent="0">
              <a:buNone/>
            </a:pPr>
            <a:r>
              <a:rPr lang="en-US" sz="800" dirty="0">
                <a:solidFill>
                  <a:srgbClr val="5A5A5A"/>
                </a:solidFill>
              </a:rPr>
              <a:t>3DS, VT usage, PBL usage</a:t>
            </a:r>
            <a:endParaRPr lang="en-US" sz="800" dirty="0"/>
          </a:p>
        </p:txBody>
      </p:sp>
      <p:sp>
        <p:nvSpPr>
          <p:cNvPr id="10" name="Shape 8"/>
          <p:cNvSpPr/>
          <p:nvPr/>
        </p:nvSpPr>
        <p:spPr>
          <a:xfrm>
            <a:off x="2606040" y="1097280"/>
            <a:ext cx="1965960" cy="2743200"/>
          </a:xfrm>
          <a:prstGeom prst="rect">
            <a:avLst/>
          </a:prstGeom>
          <a:solidFill>
            <a:srgbClr val="F5F6FA"/>
          </a:solidFill>
          <a:ln/>
        </p:spPr>
        <p:txBody>
          <a:bodyPr/>
          <a:lstStyle/>
          <a:p>
            <a:endParaRPr lang="en-US"/>
          </a:p>
        </p:txBody>
      </p:sp>
      <p:sp>
        <p:nvSpPr>
          <p:cNvPr id="11" name="Shape 9"/>
          <p:cNvSpPr/>
          <p:nvPr/>
        </p:nvSpPr>
        <p:spPr>
          <a:xfrm>
            <a:off x="2606040" y="1097280"/>
            <a:ext cx="1965960" cy="54864"/>
          </a:xfrm>
          <a:prstGeom prst="rect">
            <a:avLst/>
          </a:prstGeom>
          <a:solidFill>
            <a:srgbClr val="0F6E56"/>
          </a:solidFill>
          <a:ln/>
        </p:spPr>
        <p:txBody>
          <a:bodyPr/>
          <a:lstStyle/>
          <a:p>
            <a:endParaRPr lang="en-US"/>
          </a:p>
        </p:txBody>
      </p:sp>
      <p:sp>
        <p:nvSpPr>
          <p:cNvPr id="12" name="Text 10"/>
          <p:cNvSpPr/>
          <p:nvPr/>
        </p:nvSpPr>
        <p:spPr>
          <a:xfrm>
            <a:off x="2697480" y="1234440"/>
            <a:ext cx="1783080" cy="320040"/>
          </a:xfrm>
          <a:prstGeom prst="rect">
            <a:avLst/>
          </a:prstGeom>
          <a:noFill/>
          <a:ln/>
        </p:spPr>
        <p:txBody>
          <a:bodyPr wrap="square" lIns="0" tIns="0" rIns="0" bIns="0" rtlCol="0" anchor="ctr"/>
          <a:lstStyle/>
          <a:p>
            <a:pPr marL="0" indent="0">
              <a:buNone/>
            </a:pPr>
            <a:r>
              <a:rPr lang="en-US" sz="1300" b="1" dirty="0">
                <a:solidFill>
                  <a:srgbClr val="0F6E56"/>
                </a:solidFill>
              </a:rPr>
              <a:t>Metered usage</a:t>
            </a:r>
            <a:endParaRPr lang="en-US" sz="1300" dirty="0"/>
          </a:p>
        </p:txBody>
      </p:sp>
      <p:sp>
        <p:nvSpPr>
          <p:cNvPr id="13" name="Text 11"/>
          <p:cNvSpPr/>
          <p:nvPr/>
        </p:nvSpPr>
        <p:spPr>
          <a:xfrm>
            <a:off x="2697480" y="1600200"/>
            <a:ext cx="1783080" cy="777240"/>
          </a:xfrm>
          <a:prstGeom prst="rect">
            <a:avLst/>
          </a:prstGeom>
          <a:noFill/>
          <a:ln/>
        </p:spPr>
        <p:txBody>
          <a:bodyPr wrap="square" lIns="0" tIns="0" rIns="0" bIns="0" rtlCol="0" anchor="ctr"/>
          <a:lstStyle/>
          <a:p>
            <a:pPr marL="0" indent="0">
              <a:buNone/>
            </a:pPr>
            <a:r>
              <a:rPr lang="en-US" sz="900" dirty="0">
                <a:solidFill>
                  <a:srgbClr val="2B2B2B"/>
                </a:solidFill>
              </a:rPr>
              <a:t>Aggregate events, rate on</a:t>
            </a:r>
            <a:endParaRPr lang="en-US" sz="900" dirty="0"/>
          </a:p>
          <a:p>
            <a:pPr marL="0" indent="0">
              <a:buNone/>
            </a:pPr>
            <a:r>
              <a:rPr lang="en-US" sz="900" dirty="0">
                <a:solidFill>
                  <a:srgbClr val="2B2B2B"/>
                </a:solidFill>
              </a:rPr>
              <a:t>volume. Progressive or flat</a:t>
            </a:r>
            <a:endParaRPr lang="en-US" sz="900" dirty="0"/>
          </a:p>
          <a:p>
            <a:pPr marL="0" indent="0">
              <a:buNone/>
            </a:pPr>
            <a:r>
              <a:rPr lang="en-US" sz="900" dirty="0">
                <a:solidFill>
                  <a:srgbClr val="2B2B2B"/>
                </a:solidFill>
              </a:rPr>
              <a:t>tiered.</a:t>
            </a:r>
            <a:endParaRPr lang="en-US" sz="900" dirty="0"/>
          </a:p>
        </p:txBody>
      </p:sp>
      <p:sp>
        <p:nvSpPr>
          <p:cNvPr id="14" name="Text 12"/>
          <p:cNvSpPr/>
          <p:nvPr/>
        </p:nvSpPr>
        <p:spPr>
          <a:xfrm>
            <a:off x="2697480" y="2423160"/>
            <a:ext cx="1783080" cy="182880"/>
          </a:xfrm>
          <a:prstGeom prst="rect">
            <a:avLst/>
          </a:prstGeom>
          <a:noFill/>
          <a:ln/>
        </p:spPr>
        <p:txBody>
          <a:bodyPr wrap="square" lIns="0" tIns="0" rIns="0" bIns="0" rtlCol="0" anchor="ctr"/>
          <a:lstStyle/>
          <a:p>
            <a:pPr marL="0" indent="0">
              <a:buNone/>
            </a:pPr>
            <a:r>
              <a:rPr lang="en-US" sz="800" b="1" dirty="0">
                <a:solidFill>
                  <a:srgbClr val="5A5A5A"/>
                </a:solidFill>
              </a:rPr>
              <a:t>Examples:</a:t>
            </a:r>
            <a:endParaRPr lang="en-US" sz="800" dirty="0"/>
          </a:p>
        </p:txBody>
      </p:sp>
      <p:sp>
        <p:nvSpPr>
          <p:cNvPr id="15" name="Text 13"/>
          <p:cNvSpPr/>
          <p:nvPr/>
        </p:nvSpPr>
        <p:spPr>
          <a:xfrm>
            <a:off x="2697480" y="2606040"/>
            <a:ext cx="1783080" cy="731520"/>
          </a:xfrm>
          <a:prstGeom prst="rect">
            <a:avLst/>
          </a:prstGeom>
          <a:noFill/>
          <a:ln/>
        </p:spPr>
        <p:txBody>
          <a:bodyPr wrap="square" lIns="0" tIns="0" rIns="0" bIns="0" rtlCol="0" anchor="ctr"/>
          <a:lstStyle/>
          <a:p>
            <a:pPr marL="0" indent="0">
              <a:buNone/>
            </a:pPr>
            <a:r>
              <a:rPr lang="en-US" sz="800" dirty="0">
                <a:solidFill>
                  <a:srgbClr val="5A5A5A"/>
                </a:solidFill>
              </a:rPr>
              <a:t>Vault API at scale,</a:t>
            </a:r>
            <a:endParaRPr lang="en-US" sz="800" dirty="0"/>
          </a:p>
          <a:p>
            <a:pPr marL="0" indent="0">
              <a:buNone/>
            </a:pPr>
            <a:r>
              <a:rPr lang="en-US" sz="800" dirty="0">
                <a:solidFill>
                  <a:srgbClr val="5A5A5A"/>
                </a:solidFill>
              </a:rPr>
              <a:t>network tokens, AU batch</a:t>
            </a:r>
            <a:endParaRPr lang="en-US" sz="800" dirty="0"/>
          </a:p>
        </p:txBody>
      </p:sp>
      <p:sp>
        <p:nvSpPr>
          <p:cNvPr id="16" name="Shape 14"/>
          <p:cNvSpPr/>
          <p:nvPr/>
        </p:nvSpPr>
        <p:spPr>
          <a:xfrm>
            <a:off x="4754880" y="1097280"/>
            <a:ext cx="1965960" cy="2743200"/>
          </a:xfrm>
          <a:prstGeom prst="rect">
            <a:avLst/>
          </a:prstGeom>
          <a:solidFill>
            <a:srgbClr val="F5F6FA"/>
          </a:solidFill>
          <a:ln/>
        </p:spPr>
        <p:txBody>
          <a:bodyPr/>
          <a:lstStyle/>
          <a:p>
            <a:endParaRPr lang="en-US"/>
          </a:p>
        </p:txBody>
      </p:sp>
      <p:sp>
        <p:nvSpPr>
          <p:cNvPr id="17" name="Shape 15"/>
          <p:cNvSpPr/>
          <p:nvPr/>
        </p:nvSpPr>
        <p:spPr>
          <a:xfrm>
            <a:off x="4754880" y="1097280"/>
            <a:ext cx="1965960" cy="54864"/>
          </a:xfrm>
          <a:prstGeom prst="rect">
            <a:avLst/>
          </a:prstGeom>
          <a:solidFill>
            <a:srgbClr val="854F0B"/>
          </a:solidFill>
          <a:ln/>
        </p:spPr>
        <p:txBody>
          <a:bodyPr/>
          <a:lstStyle/>
          <a:p>
            <a:endParaRPr lang="en-US"/>
          </a:p>
        </p:txBody>
      </p:sp>
      <p:sp>
        <p:nvSpPr>
          <p:cNvPr id="18" name="Text 16"/>
          <p:cNvSpPr/>
          <p:nvPr/>
        </p:nvSpPr>
        <p:spPr>
          <a:xfrm>
            <a:off x="4846320" y="1234440"/>
            <a:ext cx="1783080" cy="320040"/>
          </a:xfrm>
          <a:prstGeom prst="rect">
            <a:avLst/>
          </a:prstGeom>
          <a:noFill/>
          <a:ln/>
        </p:spPr>
        <p:txBody>
          <a:bodyPr wrap="square" lIns="0" tIns="0" rIns="0" bIns="0" rtlCol="0" anchor="ctr"/>
          <a:lstStyle/>
          <a:p>
            <a:pPr marL="0" indent="0">
              <a:buNone/>
            </a:pPr>
            <a:r>
              <a:rPr lang="en-US" sz="1300" b="1" dirty="0">
                <a:solidFill>
                  <a:srgbClr val="854F0B"/>
                </a:solidFill>
              </a:rPr>
              <a:t>Recurring</a:t>
            </a:r>
            <a:endParaRPr lang="en-US" sz="1300" dirty="0"/>
          </a:p>
        </p:txBody>
      </p:sp>
      <p:sp>
        <p:nvSpPr>
          <p:cNvPr id="19" name="Text 17"/>
          <p:cNvSpPr/>
          <p:nvPr/>
        </p:nvSpPr>
        <p:spPr>
          <a:xfrm>
            <a:off x="4846320" y="1600200"/>
            <a:ext cx="1783080" cy="777240"/>
          </a:xfrm>
          <a:prstGeom prst="rect">
            <a:avLst/>
          </a:prstGeom>
          <a:noFill/>
          <a:ln/>
        </p:spPr>
        <p:txBody>
          <a:bodyPr wrap="square" lIns="0" tIns="0" rIns="0" bIns="0" rtlCol="0" anchor="ctr"/>
          <a:lstStyle/>
          <a:p>
            <a:pPr marL="0" indent="0">
              <a:buNone/>
            </a:pPr>
            <a:r>
              <a:rPr lang="en-US" sz="900" dirty="0">
                <a:solidFill>
                  <a:srgbClr val="2B2B2B"/>
                </a:solidFill>
              </a:rPr>
              <a:t>Fixed charge on schedule.</a:t>
            </a:r>
            <a:endParaRPr lang="en-US" sz="900" dirty="0"/>
          </a:p>
          <a:p>
            <a:pPr marL="0" indent="0">
              <a:buNone/>
            </a:pPr>
            <a:r>
              <a:rPr lang="en-US" sz="900" dirty="0">
                <a:solidFill>
                  <a:srgbClr val="2B2B2B"/>
                </a:solidFill>
              </a:rPr>
              <a:t>Time-triggered.</a:t>
            </a:r>
            <a:endParaRPr lang="en-US" sz="900" dirty="0"/>
          </a:p>
          <a:p>
            <a:pPr marL="0" indent="0">
              <a:buNone/>
            </a:pPr>
            <a:r>
              <a:rPr lang="en-US" sz="900" dirty="0">
                <a:solidFill>
                  <a:srgbClr val="2B2B2B"/>
                </a:solidFill>
              </a:rPr>
              <a:t>Activate/deactivate.</a:t>
            </a:r>
            <a:endParaRPr lang="en-US" sz="900" dirty="0"/>
          </a:p>
        </p:txBody>
      </p:sp>
      <p:sp>
        <p:nvSpPr>
          <p:cNvPr id="20" name="Text 18"/>
          <p:cNvSpPr/>
          <p:nvPr/>
        </p:nvSpPr>
        <p:spPr>
          <a:xfrm>
            <a:off x="4846320" y="2423160"/>
            <a:ext cx="1783080" cy="182880"/>
          </a:xfrm>
          <a:prstGeom prst="rect">
            <a:avLst/>
          </a:prstGeom>
          <a:noFill/>
          <a:ln/>
        </p:spPr>
        <p:txBody>
          <a:bodyPr wrap="square" lIns="0" tIns="0" rIns="0" bIns="0" rtlCol="0" anchor="ctr"/>
          <a:lstStyle/>
          <a:p>
            <a:pPr marL="0" indent="0">
              <a:buNone/>
            </a:pPr>
            <a:r>
              <a:rPr lang="en-US" sz="800" b="1" dirty="0">
                <a:solidFill>
                  <a:srgbClr val="5A5A5A"/>
                </a:solidFill>
              </a:rPr>
              <a:t>Examples:</a:t>
            </a:r>
            <a:endParaRPr lang="en-US" sz="800" dirty="0"/>
          </a:p>
        </p:txBody>
      </p:sp>
      <p:sp>
        <p:nvSpPr>
          <p:cNvPr id="21" name="Text 19"/>
          <p:cNvSpPr/>
          <p:nvPr/>
        </p:nvSpPr>
        <p:spPr>
          <a:xfrm>
            <a:off x="4846320" y="2606040"/>
            <a:ext cx="1783080" cy="731520"/>
          </a:xfrm>
          <a:prstGeom prst="rect">
            <a:avLst/>
          </a:prstGeom>
          <a:noFill/>
          <a:ln/>
        </p:spPr>
        <p:txBody>
          <a:bodyPr wrap="square" lIns="0" tIns="0" rIns="0" bIns="0" rtlCol="0" anchor="ctr"/>
          <a:lstStyle/>
          <a:p>
            <a:pPr marL="0" indent="0">
              <a:buNone/>
            </a:pPr>
            <a:r>
              <a:rPr lang="en-US" sz="800" dirty="0">
                <a:solidFill>
                  <a:srgbClr val="5A5A5A"/>
                </a:solidFill>
              </a:rPr>
              <a:t>Gateway access, terminal</a:t>
            </a:r>
            <a:endParaRPr lang="en-US" sz="800" dirty="0"/>
          </a:p>
          <a:p>
            <a:pPr marL="0" indent="0">
              <a:buNone/>
            </a:pPr>
            <a:r>
              <a:rPr lang="en-US" sz="800" dirty="0">
                <a:solidFill>
                  <a:srgbClr val="5A5A5A"/>
                </a:solidFill>
              </a:rPr>
              <a:t>rental, analytics tier,</a:t>
            </a:r>
            <a:endParaRPr lang="en-US" sz="800" dirty="0"/>
          </a:p>
          <a:p>
            <a:pPr marL="0" indent="0">
              <a:buNone/>
            </a:pPr>
            <a:r>
              <a:rPr lang="en-US" sz="800" dirty="0">
                <a:solidFill>
                  <a:srgbClr val="5A5A5A"/>
                </a:solidFill>
              </a:rPr>
              <a:t>vault storage</a:t>
            </a:r>
            <a:endParaRPr lang="en-US" sz="800" dirty="0"/>
          </a:p>
        </p:txBody>
      </p:sp>
      <p:sp>
        <p:nvSpPr>
          <p:cNvPr id="22" name="Shape 20"/>
          <p:cNvSpPr/>
          <p:nvPr/>
        </p:nvSpPr>
        <p:spPr>
          <a:xfrm>
            <a:off x="6903720" y="1097280"/>
            <a:ext cx="1965960" cy="2743200"/>
          </a:xfrm>
          <a:prstGeom prst="rect">
            <a:avLst/>
          </a:prstGeom>
          <a:solidFill>
            <a:srgbClr val="F5F6FA"/>
          </a:solidFill>
          <a:ln/>
        </p:spPr>
        <p:txBody>
          <a:bodyPr/>
          <a:lstStyle/>
          <a:p>
            <a:endParaRPr lang="en-US"/>
          </a:p>
        </p:txBody>
      </p:sp>
      <p:sp>
        <p:nvSpPr>
          <p:cNvPr id="23" name="Shape 21"/>
          <p:cNvSpPr/>
          <p:nvPr/>
        </p:nvSpPr>
        <p:spPr>
          <a:xfrm>
            <a:off x="6903720" y="1097280"/>
            <a:ext cx="1965960" cy="54864"/>
          </a:xfrm>
          <a:prstGeom prst="rect">
            <a:avLst/>
          </a:prstGeom>
          <a:solidFill>
            <a:srgbClr val="7B2D8E"/>
          </a:solidFill>
          <a:ln/>
        </p:spPr>
        <p:txBody>
          <a:bodyPr/>
          <a:lstStyle/>
          <a:p>
            <a:endParaRPr lang="en-US"/>
          </a:p>
        </p:txBody>
      </p:sp>
      <p:sp>
        <p:nvSpPr>
          <p:cNvPr id="24" name="Text 22"/>
          <p:cNvSpPr/>
          <p:nvPr/>
        </p:nvSpPr>
        <p:spPr>
          <a:xfrm>
            <a:off x="6995160" y="1234440"/>
            <a:ext cx="1783080" cy="320040"/>
          </a:xfrm>
          <a:prstGeom prst="rect">
            <a:avLst/>
          </a:prstGeom>
          <a:noFill/>
          <a:ln/>
        </p:spPr>
        <p:txBody>
          <a:bodyPr wrap="square" lIns="0" tIns="0" rIns="0" bIns="0" rtlCol="0" anchor="ctr"/>
          <a:lstStyle/>
          <a:p>
            <a:pPr marL="0" indent="0">
              <a:buNone/>
            </a:pPr>
            <a:r>
              <a:rPr lang="en-US" sz="1300" b="1" dirty="0">
                <a:solidFill>
                  <a:srgbClr val="7B2D8E"/>
                </a:solidFill>
              </a:rPr>
              <a:t>One-time</a:t>
            </a:r>
            <a:endParaRPr lang="en-US" sz="1300" dirty="0"/>
          </a:p>
        </p:txBody>
      </p:sp>
      <p:sp>
        <p:nvSpPr>
          <p:cNvPr id="25" name="Text 23"/>
          <p:cNvSpPr/>
          <p:nvPr/>
        </p:nvSpPr>
        <p:spPr>
          <a:xfrm>
            <a:off x="6995160" y="1600200"/>
            <a:ext cx="1783080" cy="777240"/>
          </a:xfrm>
          <a:prstGeom prst="rect">
            <a:avLst/>
          </a:prstGeom>
          <a:noFill/>
          <a:ln/>
        </p:spPr>
        <p:txBody>
          <a:bodyPr wrap="square" lIns="0" tIns="0" rIns="0" bIns="0" rtlCol="0" anchor="ctr"/>
          <a:lstStyle/>
          <a:p>
            <a:pPr marL="0" indent="0">
              <a:buNone/>
            </a:pPr>
            <a:r>
              <a:rPr lang="en-US" sz="900" dirty="0">
                <a:solidFill>
                  <a:srgbClr val="2B2B2B"/>
                </a:solidFill>
              </a:rPr>
              <a:t>Single charge on trigger.</a:t>
            </a:r>
            <a:endParaRPr lang="en-US" sz="900" dirty="0"/>
          </a:p>
          <a:p>
            <a:pPr marL="0" indent="0">
              <a:buNone/>
            </a:pPr>
            <a:r>
              <a:rPr lang="en-US" sz="900" dirty="0">
                <a:solidFill>
                  <a:srgbClr val="2B2B2B"/>
                </a:solidFill>
              </a:rPr>
              <a:t>No recurrence.</a:t>
            </a:r>
            <a:endParaRPr lang="en-US" sz="900" dirty="0"/>
          </a:p>
        </p:txBody>
      </p:sp>
      <p:sp>
        <p:nvSpPr>
          <p:cNvPr id="26" name="Text 24"/>
          <p:cNvSpPr/>
          <p:nvPr/>
        </p:nvSpPr>
        <p:spPr>
          <a:xfrm>
            <a:off x="6995160" y="2423160"/>
            <a:ext cx="1783080" cy="182880"/>
          </a:xfrm>
          <a:prstGeom prst="rect">
            <a:avLst/>
          </a:prstGeom>
          <a:noFill/>
          <a:ln/>
        </p:spPr>
        <p:txBody>
          <a:bodyPr wrap="square" lIns="0" tIns="0" rIns="0" bIns="0" rtlCol="0" anchor="ctr"/>
          <a:lstStyle/>
          <a:p>
            <a:pPr marL="0" indent="0">
              <a:buNone/>
            </a:pPr>
            <a:r>
              <a:rPr lang="en-US" sz="800" b="1" dirty="0">
                <a:solidFill>
                  <a:srgbClr val="5A5A5A"/>
                </a:solidFill>
              </a:rPr>
              <a:t>Examples:</a:t>
            </a:r>
            <a:endParaRPr lang="en-US" sz="800" dirty="0"/>
          </a:p>
        </p:txBody>
      </p:sp>
      <p:sp>
        <p:nvSpPr>
          <p:cNvPr id="27" name="Text 25"/>
          <p:cNvSpPr/>
          <p:nvPr/>
        </p:nvSpPr>
        <p:spPr>
          <a:xfrm>
            <a:off x="6995160" y="2606040"/>
            <a:ext cx="1783080" cy="731520"/>
          </a:xfrm>
          <a:prstGeom prst="rect">
            <a:avLst/>
          </a:prstGeom>
          <a:noFill/>
          <a:ln/>
        </p:spPr>
        <p:txBody>
          <a:bodyPr wrap="square" lIns="0" tIns="0" rIns="0" bIns="0" rtlCol="0" anchor="ctr"/>
          <a:lstStyle/>
          <a:p>
            <a:pPr marL="0" indent="0">
              <a:buNone/>
            </a:pPr>
            <a:r>
              <a:rPr lang="en-US" sz="800" dirty="0">
                <a:solidFill>
                  <a:srgbClr val="5A5A5A"/>
                </a:solidFill>
              </a:rPr>
              <a:t>Onboarding/setup,</a:t>
            </a:r>
            <a:endParaRPr lang="en-US" sz="800" dirty="0"/>
          </a:p>
          <a:p>
            <a:pPr marL="0" indent="0">
              <a:buNone/>
            </a:pPr>
            <a:r>
              <a:rPr lang="en-US" sz="800" dirty="0">
                <a:solidFill>
                  <a:srgbClr val="5A5A5A"/>
                </a:solidFill>
              </a:rPr>
              <a:t>capital advance,</a:t>
            </a:r>
            <a:endParaRPr lang="en-US" sz="800" dirty="0"/>
          </a:p>
          <a:p>
            <a:pPr marL="0" indent="0">
              <a:buNone/>
            </a:pPr>
            <a:r>
              <a:rPr lang="en-US" sz="800" dirty="0">
                <a:solidFill>
                  <a:srgbClr val="5A5A5A"/>
                </a:solidFill>
              </a:rPr>
              <a:t>terminal purchase</a:t>
            </a:r>
            <a:endParaRPr lang="en-US" sz="800" dirty="0"/>
          </a:p>
        </p:txBody>
      </p:sp>
      <p:sp>
        <p:nvSpPr>
          <p:cNvPr id="28" name="Text 26"/>
          <p:cNvSpPr/>
          <p:nvPr/>
        </p:nvSpPr>
        <p:spPr>
          <a:xfrm>
            <a:off x="548640" y="4114800"/>
            <a:ext cx="8229600" cy="274320"/>
          </a:xfrm>
          <a:prstGeom prst="rect">
            <a:avLst/>
          </a:prstGeom>
          <a:noFill/>
          <a:ln/>
        </p:spPr>
        <p:txBody>
          <a:bodyPr wrap="square" lIns="0" tIns="0" rIns="0" bIns="0" rtlCol="0" anchor="ctr"/>
          <a:lstStyle/>
          <a:p>
            <a:pPr marL="0" indent="0">
              <a:buNone/>
            </a:pPr>
            <a:r>
              <a:rPr lang="en-US" sz="1000" i="1" dirty="0">
                <a:solidFill>
                  <a:srgbClr val="5A5A5A"/>
                </a:solidFill>
              </a:rPr>
              <a:t>A single service can combine patterns. Vault = subscription for cards stored + per-event per credential retrieved.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Layer 2: Three configuration dimensions</a:t>
            </a:r>
            <a:endParaRPr lang="en-US" sz="2400" dirty="0"/>
          </a:p>
        </p:txBody>
      </p:sp>
      <p:sp>
        <p:nvSpPr>
          <p:cNvPr id="3" name="Text 1"/>
          <p:cNvSpPr/>
          <p:nvPr/>
        </p:nvSpPr>
        <p:spPr>
          <a:xfrm>
            <a:off x="548640" y="6858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Three dimensions applied on top of every billing pattern — rate structure, rate modifiers, and ingestion mode — that together fully specify how an event is rated. These dimensions also enable legacy pricing model simulation for Core-to-Commerce migration.</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0">
                <a:tc>
                  <a:txBody>
                    <a:bodyPr/>
                    <a:lstStyle/>
                    <a:p>
                      <a:pPr marL="0" indent="0" algn="l">
                        <a:buNone/>
                      </a:pPr>
                      <a:r>
                        <a:rPr lang="en-US" sz="1000" b="1" dirty="0">
                          <a:solidFill>
                            <a:srgbClr val="FFFFFF"/>
                          </a:solidFill>
                        </a:rPr>
                        <a:t>Dimension</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Options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Notes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Rate structure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Flat (fixed per event), bps (% of value), hybrid (bps + fixed), tiered progressive (marginal per bracket), tiered flat (lookback), outcome-based (charge on positive result)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How the rate is calculated.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Rate modifiers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Per-unit floor (min fee), per-unit ceiling (max fee), per-cycle minimum, rate conditions (entry mode, card category, currency, region, channel, amount threshold)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Rate conditions enable legacy model simulation (DRSK entry mode, 3TN qual tier).</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Ingestion mode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Pull (event stream, real-time), push (service-initiated API, batch/async), subscription (scheduler, no event needed)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Pull = high-volume per-event. Push = on-demand. Subscription = periodic.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Layer 2: 4×4 matrix</a:t>
            </a:r>
            <a:endParaRPr lang="en-US" sz="2400" dirty="0"/>
          </a:p>
        </p:txBody>
      </p:sp>
      <p:sp>
        <p:nvSpPr>
          <p:cNvPr id="3" name="Text 1"/>
          <p:cNvSpPr/>
          <p:nvPr/>
        </p:nvSpPr>
        <p:spPr>
          <a:xfrm>
            <a:off x="548640" y="6858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The complete pricing capability set of the engine — every combination of billing pattern and configuration dimension, with concrete examples showing how each applies to real products and services.</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0">
                <a:tc>
                  <a:txBody>
                    <a:bodyPr/>
                    <a:lstStyle/>
                    <a:p>
                      <a:pPr marL="0" indent="0" algn="l">
                        <a:buNone/>
                      </a:pPr>
                      <a:r>
                        <a:rPr lang="en-US" sz="1000" b="1" dirty="0">
                          <a:solidFill>
                            <a:srgbClr val="FFFFFF"/>
                          </a:solidFill>
                        </a:rPr>
                        <a:t>Pattern</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Rate structure</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Rate modifiers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Ingestion</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Example</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Per-event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Flat, bps, hybrid, outcome-based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Floor, ceiling, rate conditions (entry mode, card cat, currency, region)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Pull</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Card auth: 10bps + $0.10, $0.25 floor</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Metered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Progressive tiered (marginal/bracket), flat tiered (lookback)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Per-cycle minimum, tier brackets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Pull</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Vault API: 0-10K $0.04, 10-50K $0.02, 50K+ $0.01</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Recurring</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Flat periodic, per-unit periodic (rate × count)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Quantity multiplier, rate conditions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Subscription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Terminal: $25/device/mo × active count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2B2B2B"/>
                          </a:solidFill>
                        </a:rPr>
                        <a:t>One-time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Flat, tiered by complexity, factor rate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Waiver (allocation), rate conditions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Push</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Onboarding: $500 std, $5K custom</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Layer 3: Economic levers</a:t>
            </a:r>
            <a:endParaRPr lang="en-US" sz="2400" dirty="0"/>
          </a:p>
        </p:txBody>
      </p:sp>
      <p:sp>
        <p:nvSpPr>
          <p:cNvPr id="3" name="Text 1"/>
          <p:cNvSpPr/>
          <p:nvPr/>
        </p:nvSpPr>
        <p:spPr>
          <a:xfrm>
            <a:off x="548640" y="685800"/>
            <a:ext cx="8229600" cy="457200"/>
          </a:xfrm>
          <a:prstGeom prst="rect">
            <a:avLst/>
          </a:prstGeom>
          <a:noFill/>
          <a:ln/>
        </p:spPr>
        <p:txBody>
          <a:bodyPr wrap="square" lIns="0" tIns="0" rIns="0" bIns="0" rtlCol="0" anchor="ctr"/>
          <a:lstStyle/>
          <a:p>
            <a:pPr marL="0" indent="0">
              <a:buNone/>
            </a:pPr>
            <a:r>
              <a:rPr lang="en-US" sz="1000" dirty="0">
                <a:solidFill>
                  <a:srgbClr val="5A5A5A"/>
                </a:solidFill>
              </a:rPr>
              <a:t>Two mechanisms adjust pricing for commercial outcomes. Commercial deal structures produce rate lines in the pricing instruction — the engine doesn’t know the “why.” Allocation-driven levers apply downstream as overlays, keeping the pricing instruction clean and enabling time-bound adjustments without modifying merchant pricing.</a:t>
            </a:r>
            <a:endParaRPr lang="en-US" sz="1000" dirty="0"/>
          </a:p>
        </p:txBody>
      </p:sp>
      <p:sp>
        <p:nvSpPr>
          <p:cNvPr id="4" name="Shape 2"/>
          <p:cNvSpPr/>
          <p:nvPr/>
        </p:nvSpPr>
        <p:spPr>
          <a:xfrm>
            <a:off x="365760" y="1280160"/>
            <a:ext cx="4114800" cy="3017520"/>
          </a:xfrm>
          <a:prstGeom prst="rect">
            <a:avLst/>
          </a:prstGeom>
          <a:solidFill>
            <a:srgbClr val="F5F6FA"/>
          </a:solidFill>
          <a:ln/>
        </p:spPr>
        <p:txBody>
          <a:bodyPr/>
          <a:lstStyle/>
          <a:p>
            <a:endParaRPr lang="en-US"/>
          </a:p>
        </p:txBody>
      </p:sp>
      <p:sp>
        <p:nvSpPr>
          <p:cNvPr id="5" name="Text 3"/>
          <p:cNvSpPr/>
          <p:nvPr/>
        </p:nvSpPr>
        <p:spPr>
          <a:xfrm>
            <a:off x="457200" y="1371600"/>
            <a:ext cx="3931920" cy="274320"/>
          </a:xfrm>
          <a:prstGeom prst="rect">
            <a:avLst/>
          </a:prstGeom>
          <a:noFill/>
          <a:ln/>
        </p:spPr>
        <p:txBody>
          <a:bodyPr wrap="square" lIns="0" tIns="0" rIns="0" bIns="0" rtlCol="0" anchor="ctr"/>
          <a:lstStyle/>
          <a:p>
            <a:pPr marL="0" indent="0">
              <a:buNone/>
            </a:pPr>
            <a:r>
              <a:rPr lang="en-US" sz="1200" b="1" dirty="0">
                <a:solidFill>
                  <a:srgbClr val="1E2761"/>
                </a:solidFill>
              </a:rPr>
              <a:t>Commercial deal structures</a:t>
            </a:r>
            <a:endParaRPr lang="en-US" sz="1200" dirty="0"/>
          </a:p>
        </p:txBody>
      </p:sp>
      <p:sp>
        <p:nvSpPr>
          <p:cNvPr id="6" name="Text 4"/>
          <p:cNvSpPr/>
          <p:nvPr/>
        </p:nvSpPr>
        <p:spPr>
          <a:xfrm>
            <a:off x="457200" y="1645920"/>
            <a:ext cx="3931920" cy="228600"/>
          </a:xfrm>
          <a:prstGeom prst="rect">
            <a:avLst/>
          </a:prstGeom>
          <a:noFill/>
          <a:ln/>
        </p:spPr>
        <p:txBody>
          <a:bodyPr wrap="square" lIns="0" tIns="0" rIns="0" bIns="0" rtlCol="0" anchor="ctr"/>
          <a:lstStyle/>
          <a:p>
            <a:pPr marL="0" indent="0">
              <a:buNone/>
            </a:pPr>
            <a:r>
              <a:rPr lang="en-US" sz="900" i="1" dirty="0">
                <a:solidFill>
                  <a:srgbClr val="5A5A5A"/>
                </a:solidFill>
              </a:rPr>
              <a:t>Rate lines in pricing instruction. Engine doesn’t know the “why.”</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393192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0">
                <a:tc>
                  <a:txBody>
                    <a:bodyPr/>
                    <a:lstStyle/>
                    <a:p>
                      <a:pPr marL="0" indent="0" algn="l">
                        <a:buNone/>
                      </a:pPr>
                      <a:r>
                        <a:rPr lang="en-US" sz="1000" b="1" dirty="0">
                          <a:solidFill>
                            <a:srgbClr val="FFFFFF"/>
                          </a:solidFill>
                        </a:rPr>
                        <a:t>Deal type</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Shows up as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Volume commitment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Better brackets or flat rate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Enterprise negotiated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Custom rate lines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Multi-product adoption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Lower rate baked in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2B2B2B"/>
                          </a:solidFill>
                        </a:rPr>
                        <a:t>Loyalty / retention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Adjusted rate at renewal</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900" b="1" dirty="0">
                          <a:solidFill>
                            <a:srgbClr val="2B2B2B"/>
                          </a:solidFill>
                        </a:rPr>
                        <a:t>Bundle discount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Lower rates on SCs in bundle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5"/>
          <p:cNvSpPr/>
          <p:nvPr/>
        </p:nvSpPr>
        <p:spPr>
          <a:xfrm>
            <a:off x="4663440" y="1280160"/>
            <a:ext cx="4114800" cy="3017520"/>
          </a:xfrm>
          <a:prstGeom prst="rect">
            <a:avLst/>
          </a:prstGeom>
          <a:solidFill>
            <a:srgbClr val="E1F5EE"/>
          </a:solidFill>
          <a:ln/>
        </p:spPr>
        <p:txBody>
          <a:bodyPr/>
          <a:lstStyle/>
          <a:p>
            <a:endParaRPr lang="en-US"/>
          </a:p>
        </p:txBody>
      </p:sp>
      <p:sp>
        <p:nvSpPr>
          <p:cNvPr id="9" name="Text 6"/>
          <p:cNvSpPr/>
          <p:nvPr/>
        </p:nvSpPr>
        <p:spPr>
          <a:xfrm>
            <a:off x="4754880" y="1371600"/>
            <a:ext cx="3931920" cy="274320"/>
          </a:xfrm>
          <a:prstGeom prst="rect">
            <a:avLst/>
          </a:prstGeom>
          <a:noFill/>
          <a:ln/>
        </p:spPr>
        <p:txBody>
          <a:bodyPr wrap="square" lIns="0" tIns="0" rIns="0" bIns="0" rtlCol="0" anchor="ctr"/>
          <a:lstStyle/>
          <a:p>
            <a:pPr marL="0" indent="0">
              <a:buNone/>
            </a:pPr>
            <a:r>
              <a:rPr lang="en-US" sz="1200" b="1" dirty="0">
                <a:solidFill>
                  <a:srgbClr val="0F6E56"/>
                </a:solidFill>
              </a:rPr>
              <a:t>Allocation-driven levers</a:t>
            </a:r>
            <a:endParaRPr lang="en-US" sz="1200" dirty="0"/>
          </a:p>
        </p:txBody>
      </p:sp>
      <p:sp>
        <p:nvSpPr>
          <p:cNvPr id="7" name="Text 7"/>
          <p:cNvSpPr/>
          <p:nvPr/>
        </p:nvSpPr>
        <p:spPr>
          <a:xfrm>
            <a:off x="4754880" y="1645920"/>
            <a:ext cx="3931920" cy="228600"/>
          </a:xfrm>
          <a:prstGeom prst="rect">
            <a:avLst/>
          </a:prstGeom>
          <a:noFill/>
          <a:ln/>
        </p:spPr>
        <p:txBody>
          <a:bodyPr wrap="square" lIns="0" tIns="0" rIns="0" bIns="0" rtlCol="0" anchor="ctr"/>
          <a:lstStyle/>
          <a:p>
            <a:pPr marL="0" indent="0">
              <a:buNone/>
            </a:pPr>
            <a:r>
              <a:rPr lang="en-US" sz="900" i="1" dirty="0">
                <a:solidFill>
                  <a:srgbClr val="5A5A5A"/>
                </a:solidFill>
              </a:rPr>
              <a:t>Allocation service overlays. Pricing instruction untouched.</a:t>
            </a:r>
            <a:endParaRPr lang="en-US" sz="9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754880" y="1965960"/>
          <a:ext cx="393192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0">
                <a:tc>
                  <a:txBody>
                    <a:bodyPr/>
                    <a:lstStyle/>
                    <a:p>
                      <a:pPr marL="0" indent="0" algn="l">
                        <a:buNone/>
                      </a:pPr>
                      <a:r>
                        <a:rPr lang="en-US" sz="1000" b="1" dirty="0">
                          <a:solidFill>
                            <a:srgbClr val="FFFFFF"/>
                          </a:solidFill>
                        </a:rPr>
                        <a:t>Lever</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Status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Revenue share (integrator, platform, DCC)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 Active today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Time-bound (promos, waivers, free trials)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Extension — overlay with start/end date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Cycle minimum / shortfall</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Extension — end-of-cycle enforcement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Pricing delivery: six merchant segments</a:t>
            </a:r>
            <a:endParaRPr lang="en-US" sz="2400" dirty="0"/>
          </a:p>
        </p:txBody>
      </p:sp>
      <p:sp>
        <p:nvSpPr>
          <p:cNvPr id="3" name="Text 1"/>
          <p:cNvSpPr/>
          <p:nvPr/>
        </p:nvSpPr>
        <p:spPr>
          <a:xfrm>
            <a:off x="548640" y="6858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Six segments define who we sell to, what pricing model applies, and how pricing is configured and delivered. The segment determines the commercial relationship — the framework (Layers 1-3) determines the pricing mechanics that apply universally across all segments.</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0">
                <a:tc>
                  <a:txBody>
                    <a:bodyPr/>
                    <a:lstStyle/>
                    <a:p>
                      <a:pPr marL="0" indent="0" algn="l">
                        <a:buNone/>
                      </a:pPr>
                      <a:r>
                        <a:rPr lang="en-US" sz="1000" b="1" dirty="0">
                          <a:solidFill>
                            <a:srgbClr val="FFFFFF"/>
                          </a:solidFill>
                        </a:rPr>
                        <a:t>Segment</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MoR</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JPMC bills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Pricing model</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Pricing setup</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SMB</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 (direct)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Bundled. Published rates.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Pricing Templates — Self-Serve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CB (mid-market)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 (direct)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IC+ or Bundled. Guardrails.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Templates — Assisted Serve, or Custom (UPC)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CIB (enterprise)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 (direct)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IC+ negotiated. Multi-year.</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Custom Pricing (UPC)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2B2B2B"/>
                          </a:solidFill>
                        </a:rPr>
                        <a:t>PayFacs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PayFac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PayFac only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IC+ or wholesale bundled.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Custom Pricing (UPC)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900" b="1" dirty="0">
                          <a:solidFill>
                            <a:srgbClr val="2B2B2B"/>
                          </a:solidFill>
                        </a:rPr>
                        <a:t>Managed Platforms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marL="0" indent="0" algn="l">
                        <a:buNone/>
                      </a:pPr>
                      <a:r>
                        <a:rPr lang="en-US" sz="900" dirty="0">
                          <a:solidFill>
                            <a:srgbClr val="2B2B2B"/>
                          </a:solidFill>
                        </a:rPr>
                        <a:t>Platform</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marL="0" indent="0" algn="l">
                        <a:buNone/>
                      </a:pPr>
                      <a:r>
                        <a:rPr lang="en-US" sz="900" dirty="0">
                          <a:solidFill>
                            <a:srgbClr val="2B2B2B"/>
                          </a:solidFill>
                        </a:rPr>
                        <a:t>Platform + sellers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marL="0" indent="0" algn="l">
                        <a:buNone/>
                      </a:pPr>
                      <a:r>
                        <a:rPr lang="en-US" sz="900" dirty="0">
                          <a:solidFill>
                            <a:srgbClr val="2B2B2B"/>
                          </a:solidFill>
                        </a:rPr>
                        <a:t>Processing + infra fee.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marL="0" indent="0" algn="l">
                        <a:buNone/>
                      </a:pPr>
                      <a:r>
                        <a:rPr lang="en-US" sz="900" dirty="0">
                          <a:solidFill>
                            <a:srgbClr val="2B2B2B"/>
                          </a:solidFill>
                        </a:rPr>
                        <a:t>Custom (UPC + seller templates)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extLst>
                  <a:ext uri="{0D108BD9-81ED-4DB2-BD59-A6C34878D82A}">
                    <a16:rowId xmlns:a16="http://schemas.microsoft.com/office/drawing/2014/main" val="10005"/>
                  </a:ext>
                </a:extLst>
              </a:tr>
              <a:tr h="0">
                <a:tc>
                  <a:txBody>
                    <a:bodyPr/>
                    <a:lstStyle/>
                    <a:p>
                      <a:pPr marL="0" indent="0" algn="l">
                        <a:buNone/>
                      </a:pPr>
                      <a:r>
                        <a:rPr lang="en-US" sz="900" b="1" dirty="0">
                          <a:solidFill>
                            <a:srgbClr val="2B2B2B"/>
                          </a:solidFill>
                        </a:rPr>
                        <a:t>Integrators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 Integrator gets rev share.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IC+ or Bundled.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Custom (UPC)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457200"/>
          </a:xfrm>
          <a:prstGeom prst="rect">
            <a:avLst/>
          </a:prstGeom>
          <a:noFill/>
          <a:ln/>
        </p:spPr>
        <p:txBody>
          <a:bodyPr wrap="square" lIns="0" tIns="0" rIns="0" bIns="0" rtlCol="0" anchor="ctr"/>
          <a:lstStyle/>
          <a:p>
            <a:pPr marL="0" indent="0">
              <a:buNone/>
            </a:pPr>
            <a:r>
              <a:rPr lang="en-US" sz="2400" b="1" dirty="0">
                <a:solidFill>
                  <a:srgbClr val="1E2761"/>
                </a:solidFill>
              </a:rPr>
              <a:t>Pricing delivery: pricing templates</a:t>
            </a:r>
            <a:endParaRPr lang="en-US" sz="2400" dirty="0"/>
          </a:p>
        </p:txBody>
      </p:sp>
      <p:sp>
        <p:nvSpPr>
          <p:cNvPr id="3" name="Shape 1"/>
          <p:cNvSpPr/>
          <p:nvPr/>
        </p:nvSpPr>
        <p:spPr>
          <a:xfrm>
            <a:off x="6949440" y="320040"/>
            <a:ext cx="1828800" cy="320040"/>
          </a:xfrm>
          <a:prstGeom prst="rect">
            <a:avLst/>
          </a:prstGeom>
          <a:solidFill>
            <a:srgbClr val="FFF2CC"/>
          </a:solidFill>
          <a:ln/>
        </p:spPr>
        <p:txBody>
          <a:bodyPr/>
          <a:lstStyle/>
          <a:p>
            <a:endParaRPr lang="en-US"/>
          </a:p>
        </p:txBody>
      </p:sp>
      <p:sp>
        <p:nvSpPr>
          <p:cNvPr id="4" name="Text 2"/>
          <p:cNvSpPr/>
          <p:nvPr/>
        </p:nvSpPr>
        <p:spPr>
          <a:xfrm>
            <a:off x="6949440" y="320040"/>
            <a:ext cx="1828800" cy="320040"/>
          </a:xfrm>
          <a:prstGeom prst="rect">
            <a:avLst/>
          </a:prstGeom>
          <a:noFill/>
          <a:ln/>
        </p:spPr>
        <p:txBody>
          <a:bodyPr wrap="square" rtlCol="0" anchor="ctr"/>
          <a:lstStyle/>
          <a:p>
            <a:pPr marL="0" indent="0" algn="ctr">
              <a:buNone/>
            </a:pPr>
            <a:r>
              <a:rPr lang="en-US" sz="900" b="1" dirty="0">
                <a:solidFill>
                  <a:srgbClr val="854F0B"/>
                </a:solidFill>
              </a:rPr>
              <a:t>TO BE FINALIZED</a:t>
            </a:r>
            <a:endParaRPr lang="en-US" sz="900" dirty="0"/>
          </a:p>
        </p:txBody>
      </p:sp>
      <p:sp>
        <p:nvSpPr>
          <p:cNvPr id="5" name="Text 3"/>
          <p:cNvSpPr/>
          <p:nvPr/>
        </p:nvSpPr>
        <p:spPr>
          <a:xfrm>
            <a:off x="548640" y="6858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Templates define how standard pricing reaches merchants at scale — from self-serve auto-assignment for SMB to sales-assisted configuration for mid-market. The template management model is under active design with two candidate approaches.</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82296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0">
                <a:tc>
                  <a:txBody>
                    <a:bodyPr/>
                    <a:lstStyle/>
                    <a:p>
                      <a:pPr marL="0" indent="0" algn="l">
                        <a:buNone/>
                      </a:pPr>
                      <a:r>
                        <a:rPr lang="en-US" sz="1000" b="1" dirty="0">
                          <a:solidFill>
                            <a:srgbClr val="FFFFFF"/>
                          </a:solidFill>
                        </a:rPr>
                        <a:t>Path</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Description</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Pricing Templates — Self-Serve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Template auto-assigned at sign-up. Pre-defined rates. No manual config. SMB.</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Pricing Templates — Assisted Serve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Template-based, sales adjusts within guardrails. CB.</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Custom Pricing (via UPC)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UPC → Schedule A → merchant signs → keyed into engine. CIB, PayFacs, Platforms, Integrators.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548640" y="2286000"/>
            <a:ext cx="3657600" cy="274320"/>
          </a:xfrm>
          <a:prstGeom prst="rect">
            <a:avLst/>
          </a:prstGeom>
          <a:noFill/>
          <a:ln/>
        </p:spPr>
        <p:txBody>
          <a:bodyPr wrap="square" lIns="0" tIns="0" rIns="0" bIns="0" rtlCol="0" anchor="ctr"/>
          <a:lstStyle/>
          <a:p>
            <a:pPr marL="0" indent="0">
              <a:buNone/>
            </a:pPr>
            <a:r>
              <a:rPr lang="en-US" sz="1300" b="1" dirty="0">
                <a:solidFill>
                  <a:srgbClr val="1E2761"/>
                </a:solidFill>
              </a:rPr>
              <a:t>Two models under evaluation</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274320" y="2606040"/>
          <a:ext cx="85953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0">
                <a:tc>
                  <a:txBody>
                    <a:bodyPr/>
                    <a:lstStyle/>
                    <a:p>
                      <a:pPr marL="0" indent="0" algn="l">
                        <a:buNone/>
                      </a:pP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Copy-on-assign + lineage</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Reference + version</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How it works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 gets a copy at boarding with source_template + source_version. Copy is independent.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Contract points to template_id + version. Overrides stored per SC.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Grandfathering</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Free. Old copies untouched.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Version pinning. Merchants stay on pinned version.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Overrides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Direct edits to the copy.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Override records with reason + expiry.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2B2B2B"/>
                          </a:solidFill>
                        </a:rPr>
                        <a:t>Pricing updates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Diff-based: compare copy vs source, apply deltas.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Version bump. Overrides persist. One operation.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900" b="1" dirty="0">
                          <a:solidFill>
                            <a:srgbClr val="2B2B2B"/>
                          </a:solidFill>
                        </a:rPr>
                        <a:t>Experimentation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Tag + diff. Imperfect provenance.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Native. Template versions = experiment arms.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Fee anatomy: three components</a:t>
            </a:r>
            <a:endParaRPr lang="en-US" sz="2400" dirty="0"/>
          </a:p>
        </p:txBody>
      </p:sp>
      <p:sp>
        <p:nvSpPr>
          <p:cNvPr id="3" name="Text 1"/>
          <p:cNvSpPr/>
          <p:nvPr/>
        </p:nvSpPr>
        <p:spPr>
          <a:xfrm>
            <a:off x="548640" y="6858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Every card transaction fee has three components. Interchange and brand fees are set by the networks and non-negotiable. The acquirer markup is the only component JPMC controls — and where all VAS monetization revenue flows.</a:t>
            </a:r>
            <a:endParaRPr lang="en-US" sz="1000" dirty="0"/>
          </a:p>
        </p:txBody>
      </p:sp>
      <p:sp>
        <p:nvSpPr>
          <p:cNvPr id="4" name="Shape 2"/>
          <p:cNvSpPr/>
          <p:nvPr/>
        </p:nvSpPr>
        <p:spPr>
          <a:xfrm>
            <a:off x="457200" y="914400"/>
            <a:ext cx="2651760" cy="1828800"/>
          </a:xfrm>
          <a:prstGeom prst="rect">
            <a:avLst/>
          </a:prstGeom>
          <a:solidFill>
            <a:srgbClr val="FAECE7"/>
          </a:solidFill>
          <a:ln/>
        </p:spPr>
        <p:txBody>
          <a:bodyPr/>
          <a:lstStyle/>
          <a:p>
            <a:endParaRPr lang="en-US"/>
          </a:p>
        </p:txBody>
      </p:sp>
      <p:sp>
        <p:nvSpPr>
          <p:cNvPr id="5" name="Text 3"/>
          <p:cNvSpPr/>
          <p:nvPr/>
        </p:nvSpPr>
        <p:spPr>
          <a:xfrm>
            <a:off x="594360" y="1005840"/>
            <a:ext cx="2377440" cy="274320"/>
          </a:xfrm>
          <a:prstGeom prst="rect">
            <a:avLst/>
          </a:prstGeom>
          <a:noFill/>
          <a:ln/>
        </p:spPr>
        <p:txBody>
          <a:bodyPr wrap="square" lIns="0" tIns="0" rIns="0" bIns="0" rtlCol="0" anchor="ctr"/>
          <a:lstStyle/>
          <a:p>
            <a:pPr marL="0" indent="0">
              <a:buNone/>
            </a:pPr>
            <a:r>
              <a:rPr lang="en-US" sz="1400" b="1" dirty="0">
                <a:solidFill>
                  <a:srgbClr val="993C1D"/>
                </a:solidFill>
              </a:rPr>
              <a:t>Interchange</a:t>
            </a:r>
            <a:endParaRPr lang="en-US" sz="1400" dirty="0"/>
          </a:p>
        </p:txBody>
      </p:sp>
      <p:sp>
        <p:nvSpPr>
          <p:cNvPr id="6" name="Text 4"/>
          <p:cNvSpPr/>
          <p:nvPr/>
        </p:nvSpPr>
        <p:spPr>
          <a:xfrm>
            <a:off x="594360" y="1280160"/>
            <a:ext cx="2377440" cy="274320"/>
          </a:xfrm>
          <a:prstGeom prst="rect">
            <a:avLst/>
          </a:prstGeom>
          <a:noFill/>
          <a:ln/>
        </p:spPr>
        <p:txBody>
          <a:bodyPr wrap="square" lIns="0" tIns="0" rIns="0" bIns="0" rtlCol="0" anchor="ctr"/>
          <a:lstStyle/>
          <a:p>
            <a:pPr marL="0" indent="0">
              <a:buNone/>
            </a:pPr>
            <a:r>
              <a:rPr lang="en-US" sz="2000" b="1" dirty="0">
                <a:solidFill>
                  <a:srgbClr val="993C1D"/>
                </a:solidFill>
              </a:rPr>
              <a:t>~70-80%</a:t>
            </a:r>
            <a:endParaRPr lang="en-US" sz="2000" dirty="0"/>
          </a:p>
        </p:txBody>
      </p:sp>
      <p:sp>
        <p:nvSpPr>
          <p:cNvPr id="7" name="Text 5"/>
          <p:cNvSpPr/>
          <p:nvPr/>
        </p:nvSpPr>
        <p:spPr>
          <a:xfrm>
            <a:off x="594360" y="1600200"/>
            <a:ext cx="2377440" cy="822960"/>
          </a:xfrm>
          <a:prstGeom prst="rect">
            <a:avLst/>
          </a:prstGeom>
          <a:noFill/>
          <a:ln/>
        </p:spPr>
        <p:txBody>
          <a:bodyPr wrap="square" lIns="0" tIns="0" rIns="0" bIns="0" rtlCol="0" anchor="ctr"/>
          <a:lstStyle/>
          <a:p>
            <a:pPr marL="0" indent="0">
              <a:buNone/>
            </a:pPr>
            <a:r>
              <a:rPr lang="en-US" sz="1000" dirty="0">
                <a:solidFill>
                  <a:srgbClr val="2B2B2B"/>
                </a:solidFill>
              </a:rPr>
              <a:t>Paid to issuing bank.</a:t>
            </a:r>
            <a:endParaRPr lang="en-US" sz="1000" dirty="0"/>
          </a:p>
          <a:p>
            <a:pPr marL="0" indent="0">
              <a:buNone/>
            </a:pPr>
            <a:r>
              <a:rPr lang="en-US" sz="1000" dirty="0">
                <a:solidFill>
                  <a:srgbClr val="2B2B2B"/>
                </a:solidFill>
              </a:rPr>
              <a:t>Set by networks.</a:t>
            </a:r>
            <a:endParaRPr lang="en-US" sz="1000" dirty="0"/>
          </a:p>
          <a:p>
            <a:pPr marL="0" indent="0">
              <a:buNone/>
            </a:pPr>
            <a:r>
              <a:rPr lang="en-US" sz="1000" dirty="0">
                <a:solidFill>
                  <a:srgbClr val="2B2B2B"/>
                </a:solidFill>
              </a:rPr>
              <a:t>Non-negotiable.</a:t>
            </a:r>
            <a:endParaRPr lang="en-US" sz="1000" dirty="0"/>
          </a:p>
        </p:txBody>
      </p:sp>
      <p:sp>
        <p:nvSpPr>
          <p:cNvPr id="8" name="Shape 6"/>
          <p:cNvSpPr/>
          <p:nvPr/>
        </p:nvSpPr>
        <p:spPr>
          <a:xfrm>
            <a:off x="3291840" y="914400"/>
            <a:ext cx="2651760" cy="1828800"/>
          </a:xfrm>
          <a:prstGeom prst="rect">
            <a:avLst/>
          </a:prstGeom>
          <a:solidFill>
            <a:srgbClr val="FFF2CC"/>
          </a:solidFill>
          <a:ln/>
        </p:spPr>
        <p:txBody>
          <a:bodyPr/>
          <a:lstStyle/>
          <a:p>
            <a:endParaRPr lang="en-US"/>
          </a:p>
        </p:txBody>
      </p:sp>
      <p:sp>
        <p:nvSpPr>
          <p:cNvPr id="9" name="Text 7"/>
          <p:cNvSpPr/>
          <p:nvPr/>
        </p:nvSpPr>
        <p:spPr>
          <a:xfrm>
            <a:off x="3429000" y="1005840"/>
            <a:ext cx="2377440" cy="274320"/>
          </a:xfrm>
          <a:prstGeom prst="rect">
            <a:avLst/>
          </a:prstGeom>
          <a:noFill/>
          <a:ln/>
        </p:spPr>
        <p:txBody>
          <a:bodyPr wrap="square" lIns="0" tIns="0" rIns="0" bIns="0" rtlCol="0" anchor="ctr"/>
          <a:lstStyle/>
          <a:p>
            <a:pPr marL="0" indent="0">
              <a:buNone/>
            </a:pPr>
            <a:r>
              <a:rPr lang="en-US" sz="1400" b="1" dirty="0">
                <a:solidFill>
                  <a:srgbClr val="854F0B"/>
                </a:solidFill>
              </a:rPr>
              <a:t>Brand / scheme fees</a:t>
            </a:r>
            <a:endParaRPr lang="en-US" sz="1400" dirty="0"/>
          </a:p>
        </p:txBody>
      </p:sp>
      <p:sp>
        <p:nvSpPr>
          <p:cNvPr id="10" name="Text 8"/>
          <p:cNvSpPr/>
          <p:nvPr/>
        </p:nvSpPr>
        <p:spPr>
          <a:xfrm>
            <a:off x="3429000" y="1280160"/>
            <a:ext cx="2377440" cy="274320"/>
          </a:xfrm>
          <a:prstGeom prst="rect">
            <a:avLst/>
          </a:prstGeom>
          <a:noFill/>
          <a:ln/>
        </p:spPr>
        <p:txBody>
          <a:bodyPr wrap="square" lIns="0" tIns="0" rIns="0" bIns="0" rtlCol="0" anchor="ctr"/>
          <a:lstStyle/>
          <a:p>
            <a:pPr marL="0" indent="0">
              <a:buNone/>
            </a:pPr>
            <a:r>
              <a:rPr lang="en-US" sz="2000" b="1" dirty="0">
                <a:solidFill>
                  <a:srgbClr val="854F0B"/>
                </a:solidFill>
              </a:rPr>
              <a:t>~10-15%</a:t>
            </a:r>
            <a:endParaRPr lang="en-US" sz="2000" dirty="0"/>
          </a:p>
        </p:txBody>
      </p:sp>
      <p:sp>
        <p:nvSpPr>
          <p:cNvPr id="11" name="Text 9"/>
          <p:cNvSpPr/>
          <p:nvPr/>
        </p:nvSpPr>
        <p:spPr>
          <a:xfrm>
            <a:off x="3429000" y="1600200"/>
            <a:ext cx="2377440" cy="822960"/>
          </a:xfrm>
          <a:prstGeom prst="rect">
            <a:avLst/>
          </a:prstGeom>
          <a:noFill/>
          <a:ln/>
        </p:spPr>
        <p:txBody>
          <a:bodyPr wrap="square" lIns="0" tIns="0" rIns="0" bIns="0" rtlCol="0" anchor="ctr"/>
          <a:lstStyle/>
          <a:p>
            <a:pPr marL="0" indent="0">
              <a:buNone/>
            </a:pPr>
            <a:r>
              <a:rPr lang="en-US" sz="1000" dirty="0">
                <a:solidFill>
                  <a:srgbClr val="2B2B2B"/>
                </a:solidFill>
              </a:rPr>
              <a:t>Paid to card networks.</a:t>
            </a:r>
            <a:endParaRPr lang="en-US" sz="1000" dirty="0"/>
          </a:p>
          <a:p>
            <a:pPr marL="0" indent="0">
              <a:buNone/>
            </a:pPr>
            <a:r>
              <a:rPr lang="en-US" sz="1000" dirty="0">
                <a:solidFill>
                  <a:srgbClr val="2B2B2B"/>
                </a:solidFill>
              </a:rPr>
              <a:t>Assessments, APF/NABU,</a:t>
            </a:r>
            <a:endParaRPr lang="en-US" sz="1000" dirty="0"/>
          </a:p>
          <a:p>
            <a:pPr marL="0" indent="0">
              <a:buNone/>
            </a:pPr>
            <a:r>
              <a:rPr lang="en-US" sz="1000" dirty="0">
                <a:solidFill>
                  <a:srgbClr val="2B2B2B"/>
                </a:solidFill>
              </a:rPr>
              <a:t>FANF, ISA, digital.</a:t>
            </a:r>
            <a:endParaRPr lang="en-US" sz="1000" dirty="0"/>
          </a:p>
        </p:txBody>
      </p:sp>
      <p:sp>
        <p:nvSpPr>
          <p:cNvPr id="12" name="Shape 10"/>
          <p:cNvSpPr/>
          <p:nvPr/>
        </p:nvSpPr>
        <p:spPr>
          <a:xfrm>
            <a:off x="6126480" y="914400"/>
            <a:ext cx="2651760" cy="1828800"/>
          </a:xfrm>
          <a:prstGeom prst="rect">
            <a:avLst/>
          </a:prstGeom>
          <a:solidFill>
            <a:srgbClr val="E6F1FB"/>
          </a:solidFill>
          <a:ln/>
        </p:spPr>
        <p:txBody>
          <a:bodyPr/>
          <a:lstStyle/>
          <a:p>
            <a:endParaRPr lang="en-US"/>
          </a:p>
        </p:txBody>
      </p:sp>
      <p:sp>
        <p:nvSpPr>
          <p:cNvPr id="13" name="Text 11"/>
          <p:cNvSpPr/>
          <p:nvPr/>
        </p:nvSpPr>
        <p:spPr>
          <a:xfrm>
            <a:off x="6263640" y="1005840"/>
            <a:ext cx="2377440" cy="274320"/>
          </a:xfrm>
          <a:prstGeom prst="rect">
            <a:avLst/>
          </a:prstGeom>
          <a:noFill/>
          <a:ln/>
        </p:spPr>
        <p:txBody>
          <a:bodyPr wrap="square" lIns="0" tIns="0" rIns="0" bIns="0" rtlCol="0" anchor="ctr"/>
          <a:lstStyle/>
          <a:p>
            <a:pPr marL="0" indent="0">
              <a:buNone/>
            </a:pPr>
            <a:r>
              <a:rPr lang="en-US" sz="1400" b="1" dirty="0">
                <a:solidFill>
                  <a:srgbClr val="185FA5"/>
                </a:solidFill>
              </a:rPr>
              <a:t>Acquirer markup</a:t>
            </a:r>
            <a:endParaRPr lang="en-US" sz="1400" dirty="0"/>
          </a:p>
        </p:txBody>
      </p:sp>
      <p:sp>
        <p:nvSpPr>
          <p:cNvPr id="14" name="Text 12"/>
          <p:cNvSpPr/>
          <p:nvPr/>
        </p:nvSpPr>
        <p:spPr>
          <a:xfrm>
            <a:off x="6263640" y="1280160"/>
            <a:ext cx="2377440" cy="274320"/>
          </a:xfrm>
          <a:prstGeom prst="rect">
            <a:avLst/>
          </a:prstGeom>
          <a:noFill/>
          <a:ln/>
        </p:spPr>
        <p:txBody>
          <a:bodyPr wrap="square" lIns="0" tIns="0" rIns="0" bIns="0" rtlCol="0" anchor="ctr"/>
          <a:lstStyle/>
          <a:p>
            <a:pPr marL="0" indent="0">
              <a:buNone/>
            </a:pPr>
            <a:r>
              <a:rPr lang="en-US" sz="2000" b="1" dirty="0">
                <a:solidFill>
                  <a:srgbClr val="185FA5"/>
                </a:solidFill>
              </a:rPr>
              <a:t>~10-20%</a:t>
            </a:r>
            <a:endParaRPr lang="en-US" sz="2000" dirty="0"/>
          </a:p>
        </p:txBody>
      </p:sp>
      <p:sp>
        <p:nvSpPr>
          <p:cNvPr id="15" name="Text 13"/>
          <p:cNvSpPr/>
          <p:nvPr/>
        </p:nvSpPr>
        <p:spPr>
          <a:xfrm>
            <a:off x="6263640" y="1600200"/>
            <a:ext cx="2377440" cy="822960"/>
          </a:xfrm>
          <a:prstGeom prst="rect">
            <a:avLst/>
          </a:prstGeom>
          <a:noFill/>
          <a:ln/>
        </p:spPr>
        <p:txBody>
          <a:bodyPr wrap="square" lIns="0" tIns="0" rIns="0" bIns="0" rtlCol="0" anchor="ctr"/>
          <a:lstStyle/>
          <a:p>
            <a:pPr marL="0" indent="0">
              <a:buNone/>
            </a:pPr>
            <a:r>
              <a:rPr lang="en-US" sz="1000" dirty="0">
                <a:solidFill>
                  <a:srgbClr val="2B2B2B"/>
                </a:solidFill>
              </a:rPr>
              <a:t>Paid to JPMC.</a:t>
            </a:r>
            <a:endParaRPr lang="en-US" sz="1000" dirty="0"/>
          </a:p>
          <a:p>
            <a:pPr marL="0" indent="0">
              <a:buNone/>
            </a:pPr>
            <a:r>
              <a:rPr lang="en-US" sz="1000" dirty="0">
                <a:solidFill>
                  <a:srgbClr val="2B2B2B"/>
                </a:solidFill>
              </a:rPr>
              <a:t>Only component we control.</a:t>
            </a:r>
            <a:endParaRPr lang="en-US" sz="1000" dirty="0"/>
          </a:p>
          <a:p>
            <a:pPr marL="0" indent="0">
              <a:buNone/>
            </a:pPr>
            <a:r>
              <a:rPr lang="en-US" sz="1000" dirty="0">
                <a:solidFill>
                  <a:srgbClr val="2B2B2B"/>
                </a:solidFill>
              </a:rPr>
              <a:t>Processing + VAS fees.</a:t>
            </a:r>
            <a:endParaRPr lang="en-US" sz="1000" dirty="0"/>
          </a:p>
        </p:txBody>
      </p:sp>
      <p:sp>
        <p:nvSpPr>
          <p:cNvPr id="16" name="Text 14"/>
          <p:cNvSpPr/>
          <p:nvPr/>
        </p:nvSpPr>
        <p:spPr>
          <a:xfrm>
            <a:off x="548640" y="2926080"/>
            <a:ext cx="8229600" cy="320040"/>
          </a:xfrm>
          <a:prstGeom prst="rect">
            <a:avLst/>
          </a:prstGeom>
          <a:noFill/>
          <a:ln/>
        </p:spPr>
        <p:txBody>
          <a:bodyPr wrap="square" lIns="0" tIns="0" rIns="0" bIns="0" rtlCol="0" anchor="ctr"/>
          <a:lstStyle/>
          <a:p>
            <a:pPr marL="0" indent="0">
              <a:buNone/>
            </a:pPr>
            <a:r>
              <a:rPr lang="en-US" sz="1100" i="1" dirty="0">
                <a:solidFill>
                  <a:srgbClr val="5A5A5A"/>
                </a:solidFill>
              </a:rPr>
              <a:t>Example: $100 Visa credit (eComm) = IC $1.75 + Brand $0.17 + JPMC $0.20 = Total $2.12 (2.12%)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Brand fee capture</a:t>
            </a:r>
            <a:endParaRPr lang="en-US" sz="2400" dirty="0"/>
          </a:p>
        </p:txBody>
      </p:sp>
      <p:sp>
        <p:nvSpPr>
          <p:cNvPr id="3" name="Text 1"/>
          <p:cNvSpPr/>
          <p:nvPr/>
        </p:nvSpPr>
        <p:spPr>
          <a:xfrm>
            <a:off x="548640" y="685800"/>
            <a:ext cx="8229600" cy="457200"/>
          </a:xfrm>
          <a:prstGeom prst="rect">
            <a:avLst/>
          </a:prstGeom>
          <a:noFill/>
          <a:ln/>
        </p:spPr>
        <p:txBody>
          <a:bodyPr wrap="square" lIns="0" tIns="0" rIns="0" bIns="0" rtlCol="0" anchor="ctr"/>
          <a:lstStyle/>
          <a:p>
            <a:pPr marL="0" indent="0">
              <a:buNone/>
            </a:pPr>
            <a:r>
              <a:rPr lang="en-US" sz="1000" dirty="0">
                <a:solidFill>
                  <a:srgbClr val="5A5A5A"/>
                </a:solidFill>
              </a:rPr>
              <a:t>Brand fees flow through a three-service chain: Network Fee Service calculates or ingests fee data, Pricing Service applies passthrough logic based on the merchant’s pricing model, and the result reaches the merchant statement. Per-event fees are automated; invoice and behavioral fees require manual Ops work that needs to be automated.</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1143000"/>
          <a:ext cx="85953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0">
                <a:tc>
                  <a:txBody>
                    <a:bodyPr/>
                    <a:lstStyle/>
                    <a:p>
                      <a:pPr marL="0" indent="0" algn="l">
                        <a:buNone/>
                      </a:pPr>
                      <a:r>
                        <a:rPr lang="en-US" sz="1000" b="1" dirty="0">
                          <a:solidFill>
                            <a:srgbClr val="FFFFFF"/>
                          </a:solidFill>
                        </a:rPr>
                        <a:t>Model</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Fees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Automation</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Status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Per-event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Assessment, APF/NABU, ISA, digital enablement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Automated at rating time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b="1" dirty="0">
                          <a:solidFill>
                            <a:srgbClr val="0F6E56"/>
                          </a:solidFill>
                        </a:rPr>
                        <a:t>✅ Built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Averaged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Kilobyte fees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Manual. Ops calculates quarterly.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b="1" dirty="0">
                          <a:solidFill>
                            <a:srgbClr val="854F0B"/>
                          </a:solidFill>
                        </a:rPr>
                        <a:t>⚠️ Manual</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Invoice reconciliation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FANF, ABVF</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Manual. Ops classifies + allocates.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b="1" dirty="0">
                          <a:solidFill>
                            <a:srgbClr val="A32D2D"/>
                          </a:solidFill>
                        </a:rPr>
                        <a:t>Backlog — HIGH</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2B2B2B"/>
                          </a:solidFill>
                        </a:rPr>
                        <a:t>Behavioral / penalty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Misuse-of-auth, excessive retry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Manual / partial.</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b="1" dirty="0">
                          <a:solidFill>
                            <a:srgbClr val="A32D2D"/>
                          </a:solidFill>
                        </a:rPr>
                        <a:t>Backlog — HIGH</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548640" y="32004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Gap: steps 2 (parse/classify) and 3 (allocate to merchants) are manual. Automation needed in Network Fee Service.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FX monetization</a:t>
            </a:r>
            <a:endParaRPr lang="en-US" sz="2400" dirty="0"/>
          </a:p>
        </p:txBody>
      </p:sp>
      <p:sp>
        <p:nvSpPr>
          <p:cNvPr id="3" name="Text 1"/>
          <p:cNvSpPr/>
          <p:nvPr/>
        </p:nvSpPr>
        <p:spPr>
          <a:xfrm>
            <a:off x="548640" y="640080"/>
            <a:ext cx="8229600" cy="365760"/>
          </a:xfrm>
          <a:prstGeom prst="rect">
            <a:avLst/>
          </a:prstGeom>
          <a:noFill/>
          <a:ln/>
        </p:spPr>
        <p:txBody>
          <a:bodyPr wrap="square" lIns="0" tIns="0" rIns="0" bIns="0" rtlCol="0" anchor="ctr"/>
          <a:lstStyle/>
          <a:p>
            <a:pPr marL="0" indent="0">
              <a:buNone/>
            </a:pPr>
            <a:r>
              <a:rPr lang="en-US" sz="1000" dirty="0">
                <a:solidFill>
                  <a:srgbClr val="5A5A5A"/>
                </a:solidFill>
              </a:rPr>
              <a:t>Four FX products across the Accept and Settle surfaces, each with a distinct monetization model. The strategic opportunity is internalizing the DCC conversion provider role — replacing FexCo with JPMC’s IB trade desk to capture the 80bps currently paid to a third party.</a:t>
            </a:r>
            <a:endParaRPr lang="en-US" sz="1000" dirty="0"/>
          </a:p>
        </p:txBody>
      </p:sp>
      <p:sp>
        <p:nvSpPr>
          <p:cNvPr id="4" name="Text 2"/>
          <p:cNvSpPr/>
          <p:nvPr/>
        </p:nvSpPr>
        <p:spPr>
          <a:xfrm>
            <a:off x="548640" y="777240"/>
            <a:ext cx="3657600" cy="228600"/>
          </a:xfrm>
          <a:prstGeom prst="rect">
            <a:avLst/>
          </a:prstGeom>
          <a:noFill/>
          <a:ln/>
        </p:spPr>
        <p:txBody>
          <a:bodyPr wrap="square" lIns="0" tIns="0" rIns="0" bIns="0" rtlCol="0" anchor="ctr"/>
          <a:lstStyle/>
          <a:p>
            <a:pPr marL="0" indent="0">
              <a:buNone/>
            </a:pPr>
            <a:r>
              <a:rPr lang="en-US" sz="1200" b="1" dirty="0">
                <a:solidFill>
                  <a:srgbClr val="1E2761"/>
                </a:solidFill>
              </a:rPr>
              <a:t>FX engine — four products</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1051560"/>
          <a:ext cx="85953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0">
                <a:tc>
                  <a:txBody>
                    <a:bodyPr/>
                    <a:lstStyle/>
                    <a:p>
                      <a:pPr marL="0" indent="0" algn="l">
                        <a:buNone/>
                      </a:pPr>
                      <a:r>
                        <a:rPr lang="en-US" sz="1000" b="1" dirty="0">
                          <a:solidFill>
                            <a:srgbClr val="FFFFFF"/>
                          </a:solidFill>
                        </a:rPr>
                        <a:t>Product</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How it works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Who pays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MCP</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 prices in cardholder currency. Conversion at settlement.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 pays spread.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DCC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Cardholder opts in at POS. Scheme-regulated.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Cardholder markup. 3-way split today.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Embedded FX</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Higher bundled cross-border rate. FX margin invisible.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 pays implicitly.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2B2B2B"/>
                          </a:solidFill>
                        </a:rPr>
                        <a:t>Payout FX</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Cross-border platform splits. Conversion on seller payout.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Platform or seller pays spread.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548640" y="2743200"/>
            <a:ext cx="3657600" cy="228600"/>
          </a:xfrm>
          <a:prstGeom prst="rect">
            <a:avLst/>
          </a:prstGeom>
          <a:noFill/>
          <a:ln/>
        </p:spPr>
        <p:txBody>
          <a:bodyPr wrap="square" lIns="0" tIns="0" rIns="0" bIns="0" rtlCol="0" anchor="ctr"/>
          <a:lstStyle/>
          <a:p>
            <a:pPr marL="0" indent="0">
              <a:buNone/>
            </a:pPr>
            <a:r>
              <a:rPr lang="en-US" sz="1100" b="1" dirty="0">
                <a:solidFill>
                  <a:srgbClr val="1E2761"/>
                </a:solidFill>
              </a:rPr>
              <a:t>Monetization models</a:t>
            </a:r>
            <a:endParaRPr lang="en-US" sz="11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274320" y="3017520"/>
          <a:ext cx="502920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0">
                <a:tc>
                  <a:txBody>
                    <a:bodyPr/>
                    <a:lstStyle/>
                    <a:p>
                      <a:pPr marL="0" indent="0" algn="l">
                        <a:buNone/>
                      </a:pPr>
                      <a:r>
                        <a:rPr lang="en-US" sz="1000" b="1" dirty="0">
                          <a:solidFill>
                            <a:srgbClr val="FFFFFF"/>
                          </a:solidFill>
                        </a:rPr>
                        <a:t>Model</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Applies to</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Mechanic</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Spread markup (JPMC)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MCP, Payout FX</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Bps markup on mid-market. JPMC retains.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Acquirer + merchant markup</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DCC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3-way split. ~4% total.</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Embedded margin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Embedded FX</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Margin in higher cross-border rate.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4"/>
          <p:cNvSpPr/>
          <p:nvPr/>
        </p:nvSpPr>
        <p:spPr>
          <a:xfrm>
            <a:off x="5577840" y="2743200"/>
            <a:ext cx="3291840" cy="2103120"/>
          </a:xfrm>
          <a:prstGeom prst="rect">
            <a:avLst/>
          </a:prstGeom>
          <a:solidFill>
            <a:srgbClr val="FFF2CC"/>
          </a:solidFill>
          <a:ln/>
        </p:spPr>
        <p:txBody>
          <a:bodyPr/>
          <a:lstStyle/>
          <a:p>
            <a:endParaRPr lang="en-US"/>
          </a:p>
        </p:txBody>
      </p:sp>
      <p:sp>
        <p:nvSpPr>
          <p:cNvPr id="9" name="Text 5"/>
          <p:cNvSpPr/>
          <p:nvPr/>
        </p:nvSpPr>
        <p:spPr>
          <a:xfrm>
            <a:off x="5669280" y="2788920"/>
            <a:ext cx="3108960" cy="228600"/>
          </a:xfrm>
          <a:prstGeom prst="rect">
            <a:avLst/>
          </a:prstGeom>
          <a:noFill/>
          <a:ln/>
        </p:spPr>
        <p:txBody>
          <a:bodyPr wrap="square" lIns="0" tIns="0" rIns="0" bIns="0" rtlCol="0" anchor="ctr"/>
          <a:lstStyle/>
          <a:p>
            <a:pPr marL="0" indent="0">
              <a:buNone/>
            </a:pPr>
            <a:r>
              <a:rPr lang="en-US" sz="1000" b="1" dirty="0">
                <a:solidFill>
                  <a:srgbClr val="854F0B"/>
                </a:solidFill>
              </a:rPr>
              <a:t>DCC markup split (today)</a:t>
            </a:r>
            <a:endParaRPr lang="en-US" sz="1000" dirty="0"/>
          </a:p>
        </p:txBody>
      </p:sp>
      <p:graphicFrame>
        <p:nvGraphicFramePr>
          <p:cNvPr id="43" name="Table 2"/>
          <p:cNvGraphicFramePr>
            <a:graphicFrameLocks noGrp="1"/>
          </p:cNvGraphicFramePr>
          <p:nvPr>
            <p:extLst>
              <p:ext uri="{D42A27DB-BD31-4B8C-83A1-F6EECF244321}">
                <p14:modId xmlns:p14="http://schemas.microsoft.com/office/powerpoint/2010/main" val="1579011935"/>
              </p:ext>
            </p:extLst>
          </p:nvPr>
        </p:nvGraphicFramePr>
        <p:xfrm>
          <a:off x="5669280" y="3063240"/>
          <a:ext cx="310896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0">
                <a:tc>
                  <a:txBody>
                    <a:bodyPr/>
                    <a:lstStyle/>
                    <a:p>
                      <a:pPr marL="0" indent="0" algn="l">
                        <a:buNone/>
                      </a:pPr>
                      <a:r>
                        <a:rPr lang="en-US" sz="1000" b="1" dirty="0">
                          <a:solidFill>
                            <a:srgbClr val="FFFFFF"/>
                          </a:solidFill>
                        </a:rPr>
                        <a:t>Party</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Share</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Merchant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1.8 - 2.2%</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FexCo (conversion)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0.8%</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JPMC (acquirer)</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1.0%</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2B2B2B"/>
                          </a:solidFill>
                        </a:rPr>
                        <a:t>Total DCC markup</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b="1" dirty="0">
                          <a:solidFill>
                            <a:srgbClr val="2B2B2B"/>
                          </a:solidFill>
                        </a:rPr>
                        <a:t>~4.0%</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6"/>
          <p:cNvSpPr/>
          <p:nvPr/>
        </p:nvSpPr>
        <p:spPr>
          <a:xfrm>
            <a:off x="5669280" y="4251960"/>
            <a:ext cx="3108960" cy="502920"/>
          </a:xfrm>
          <a:prstGeom prst="rect">
            <a:avLst/>
          </a:prstGeom>
          <a:noFill/>
          <a:ln/>
        </p:spPr>
        <p:txBody>
          <a:bodyPr wrap="square" lIns="0" tIns="0" rIns="0" bIns="0" rtlCol="0" anchor="ctr"/>
          <a:lstStyle/>
          <a:p>
            <a:pPr marL="0" indent="0">
              <a:buNone/>
            </a:pPr>
            <a:r>
              <a:rPr lang="en-US" sz="800" b="1" dirty="0">
                <a:solidFill>
                  <a:srgbClr val="993C1D"/>
                </a:solidFill>
              </a:rPr>
              <a:t>Initiative: replace FexCo with IB trade desk.</a:t>
            </a:r>
            <a:endParaRPr lang="en-US" sz="800" dirty="0"/>
          </a:p>
          <a:p>
            <a:pPr marL="0" indent="0">
              <a:buNone/>
            </a:pPr>
            <a:r>
              <a:rPr lang="en-US" sz="800" b="1" dirty="0">
                <a:solidFill>
                  <a:srgbClr val="993C1D"/>
                </a:solidFill>
              </a:rPr>
              <a:t>Goal: optimize the 80bps conversion provider fee.</a:t>
            </a:r>
            <a:endParaRPr lang="en-US" sz="800" dirty="0"/>
          </a:p>
        </p:txBody>
      </p:sp>
      <p:sp>
        <p:nvSpPr>
          <p:cNvPr id="12" name="Text 7"/>
          <p:cNvSpPr/>
          <p:nvPr/>
        </p:nvSpPr>
        <p:spPr>
          <a:xfrm>
            <a:off x="548640" y="4709160"/>
            <a:ext cx="8229600" cy="228600"/>
          </a:xfrm>
          <a:prstGeom prst="rect">
            <a:avLst/>
          </a:prstGeom>
          <a:noFill/>
          <a:ln/>
        </p:spPr>
        <p:txBody>
          <a:bodyPr wrap="square" lIns="0" tIns="0" rIns="0" bIns="0" rtlCol="0" anchor="ctr"/>
          <a:lstStyle/>
          <a:p>
            <a:pPr marL="0" indent="0">
              <a:buNone/>
            </a:pPr>
            <a:r>
              <a:rPr lang="en-US" sz="900" i="1" dirty="0">
                <a:solidFill>
                  <a:srgbClr val="5A5A5A"/>
                </a:solidFill>
              </a:rPr>
              <a:t>Internal: FX netting (zero cost on netted volume) + IB trade desk rate sourcing (22 currencies).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Bundled vs IC+ and Core migration</a:t>
            </a:r>
            <a:endParaRPr lang="en-US" sz="2400" dirty="0"/>
          </a:p>
        </p:txBody>
      </p:sp>
      <p:sp>
        <p:nvSpPr>
          <p:cNvPr id="3" name="Text 1"/>
          <p:cNvSpPr/>
          <p:nvPr/>
        </p:nvSpPr>
        <p:spPr>
          <a:xfrm>
            <a:off x="548640" y="640080"/>
            <a:ext cx="8229600" cy="365760"/>
          </a:xfrm>
          <a:prstGeom prst="rect">
            <a:avLst/>
          </a:prstGeom>
          <a:noFill/>
          <a:ln/>
        </p:spPr>
        <p:txBody>
          <a:bodyPr wrap="square" lIns="0" tIns="0" rIns="0" bIns="0" rtlCol="0" anchor="ctr"/>
          <a:lstStyle/>
          <a:p>
            <a:pPr marL="0" indent="0">
              <a:buNone/>
            </a:pPr>
            <a:r>
              <a:rPr lang="en-US" sz="1000" dirty="0">
                <a:solidFill>
                  <a:srgbClr val="5A5A5A"/>
                </a:solidFill>
              </a:rPr>
              <a:t>Two pricing models determine how interchange and brand fees reach the merchant — bundled (JPMC absorbs, one all-in rate) or IC+ (passed through, three line items). The 53,253 Core merchants map to five configuration patterns that Commerce must support.</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74320" y="822960"/>
          <a:ext cx="85953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0">
                <a:tc>
                  <a:txBody>
                    <a:bodyPr/>
                    <a:lstStyle/>
                    <a:p>
                      <a:pPr marL="0" indent="0" algn="l">
                        <a:buNone/>
                      </a:pP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Bundled (no passthrough)</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IC+ (passthrough)</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Merchant sees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One all-in rate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Three line items: IC + brand + markup</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IC + brand fees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Absorbed by JPMC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Passed through at actual cost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Risk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JPMC absorbs variance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Merchant bears IC variance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2B2B2B"/>
                          </a:solidFill>
                        </a:rPr>
                        <a:t>Configs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Flat, by entry mode (DRSK), by card qual</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Standard IC+, DWBB (threshold + supplement)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548640" y="2834640"/>
            <a:ext cx="8229600" cy="274320"/>
          </a:xfrm>
          <a:prstGeom prst="rect">
            <a:avLst/>
          </a:prstGeom>
          <a:noFill/>
          <a:ln/>
        </p:spPr>
        <p:txBody>
          <a:bodyPr wrap="square" lIns="0" tIns="0" rIns="0" bIns="0" rtlCol="0" anchor="ctr"/>
          <a:lstStyle/>
          <a:p>
            <a:pPr marL="0" indent="0">
              <a:buNone/>
            </a:pPr>
            <a:r>
              <a:rPr lang="en-US" sz="1200" b="1" dirty="0">
                <a:solidFill>
                  <a:srgbClr val="1E2761"/>
                </a:solidFill>
              </a:rPr>
              <a:t>Core to Commerce migration (53,253 merchants)</a:t>
            </a:r>
            <a:endParaRPr lang="en-US" sz="12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274320" y="3154680"/>
          <a:ext cx="85953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5029200">
                  <a:extLst>
                    <a:ext uri="{9D8B030D-6E8A-4147-A177-3AD203B41FA5}">
                      <a16:colId xmlns:a16="http://schemas.microsoft.com/office/drawing/2014/main" val="20004"/>
                    </a:ext>
                  </a:extLst>
                </a:gridCol>
              </a:tblGrid>
              <a:tr h="0">
                <a:tc>
                  <a:txBody>
                    <a:bodyPr/>
                    <a:lstStyle/>
                    <a:p>
                      <a:pPr marL="0" indent="0" algn="l">
                        <a:buNone/>
                      </a:pPr>
                      <a:r>
                        <a:rPr lang="en-US" sz="1000" b="1" dirty="0">
                          <a:solidFill>
                            <a:srgbClr val="FFFFFF"/>
                          </a:solidFill>
                        </a:rPr>
                        <a:t>Core</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Count</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Primitive</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Commerce config</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DRSK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24,803</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47%</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Bundled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marL="0" indent="0" algn="l">
                        <a:buNone/>
                      </a:pPr>
                      <a:r>
                        <a:rPr lang="en-US" sz="900" dirty="0">
                          <a:solidFill>
                            <a:srgbClr val="2B2B2B"/>
                          </a:solidFill>
                        </a:rPr>
                        <a:t>Bundled + POS entry mode rate condition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IPTR</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22,267</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42%</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IC+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marL="0" indent="0" algn="l">
                        <a:buNone/>
                      </a:pPr>
                      <a:r>
                        <a:rPr lang="en-US" sz="900" dirty="0">
                          <a:solidFill>
                            <a:srgbClr val="2B2B2B"/>
                          </a:solidFill>
                        </a:rPr>
                        <a:t>Standard IC+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3TN/3TO/2T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2,430</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IC+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marL="0" indent="0" algn="l">
                        <a:buNone/>
                      </a:pPr>
                      <a:r>
                        <a:rPr lang="en-US" sz="900" dirty="0">
                          <a:solidFill>
                            <a:srgbClr val="2B2B2B"/>
                          </a:solidFill>
                        </a:rPr>
                        <a:t>Fixed qual-tier rates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2B2B2B"/>
                          </a:solidFill>
                        </a:rPr>
                        <a:t>DNBB</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2,312</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4%</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Bundled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marL="0" indent="0" algn="l">
                        <a:buNone/>
                      </a:pPr>
                      <a:r>
                        <a:rPr lang="en-US" sz="900" dirty="0">
                          <a:solidFill>
                            <a:srgbClr val="2B2B2B"/>
                          </a:solidFill>
                        </a:rPr>
                        <a:t>DNBB contract rates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900" b="1" dirty="0">
                          <a:solidFill>
                            <a:srgbClr val="2B2B2B"/>
                          </a:solidFill>
                        </a:rPr>
                        <a:t>DWBB</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1,434</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3%</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IC+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marL="0" indent="0" algn="l">
                        <a:buNone/>
                      </a:pPr>
                      <a:r>
                        <a:rPr lang="en-US" sz="900" dirty="0">
                          <a:solidFill>
                            <a:srgbClr val="2B2B2B"/>
                          </a:solidFill>
                        </a:rPr>
                        <a:t>IC+ with threshold_rate + supplement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Pricing and allocation architecture</a:t>
            </a:r>
            <a:endParaRPr lang="en-US" sz="2400" dirty="0"/>
          </a:p>
        </p:txBody>
      </p:sp>
      <p:sp>
        <p:nvSpPr>
          <p:cNvPr id="3" name="Text 1"/>
          <p:cNvSpPr/>
          <p:nvPr/>
        </p:nvSpPr>
        <p:spPr>
          <a:xfrm>
            <a:off x="548640" y="685800"/>
            <a:ext cx="8229600" cy="457200"/>
          </a:xfrm>
          <a:prstGeom prst="rect">
            <a:avLst/>
          </a:prstGeom>
          <a:noFill/>
          <a:ln/>
        </p:spPr>
        <p:txBody>
          <a:bodyPr wrap="square" lIns="0" tIns="0" rIns="0" bIns="0" rtlCol="0" anchor="ctr"/>
          <a:lstStyle/>
          <a:p>
            <a:pPr marL="0" indent="0">
              <a:buNone/>
            </a:pPr>
            <a:r>
              <a:rPr lang="en-US" sz="1000" dirty="0">
                <a:solidFill>
                  <a:srgbClr val="5A5A5A"/>
                </a:solidFill>
              </a:rPr>
              <a:t>A two-pass architecture where the pricing engine rates events and the allocation service applies downstream adjustments. Both publish to the same sub-ledger, giving Finance a complete view: what was charged (pricing layer) and what was adjusted (allocation layer) for every transaction.</a:t>
            </a:r>
            <a:endParaRPr lang="en-US" sz="1000" dirty="0"/>
          </a:p>
        </p:txBody>
      </p:sp>
      <p:sp>
        <p:nvSpPr>
          <p:cNvPr id="4" name="Shape 2"/>
          <p:cNvSpPr/>
          <p:nvPr/>
        </p:nvSpPr>
        <p:spPr>
          <a:xfrm>
            <a:off x="365760" y="1097280"/>
            <a:ext cx="8412480" cy="1280160"/>
          </a:xfrm>
          <a:prstGeom prst="rect">
            <a:avLst/>
          </a:prstGeom>
          <a:solidFill>
            <a:srgbClr val="E6F1FB"/>
          </a:solidFill>
          <a:ln/>
        </p:spPr>
        <p:txBody>
          <a:bodyPr/>
          <a:lstStyle/>
          <a:p>
            <a:endParaRPr lang="en-US"/>
          </a:p>
        </p:txBody>
      </p:sp>
      <p:sp>
        <p:nvSpPr>
          <p:cNvPr id="5" name="Text 3"/>
          <p:cNvSpPr/>
          <p:nvPr/>
        </p:nvSpPr>
        <p:spPr>
          <a:xfrm>
            <a:off x="457200" y="1143000"/>
            <a:ext cx="3657600" cy="274320"/>
          </a:xfrm>
          <a:prstGeom prst="rect">
            <a:avLst/>
          </a:prstGeom>
          <a:noFill/>
          <a:ln/>
        </p:spPr>
        <p:txBody>
          <a:bodyPr wrap="square" lIns="0" tIns="0" rIns="0" bIns="0" rtlCol="0" anchor="ctr"/>
          <a:lstStyle/>
          <a:p>
            <a:pPr marL="0" indent="0">
              <a:buNone/>
            </a:pPr>
            <a:r>
              <a:rPr lang="en-US" sz="1200" b="1" dirty="0">
                <a:solidFill>
                  <a:srgbClr val="185FA5"/>
                </a:solidFill>
              </a:rPr>
              <a:t>9A. Pricing pipeline</a:t>
            </a:r>
            <a:endParaRPr lang="en-US" sz="1200" dirty="0"/>
          </a:p>
        </p:txBody>
      </p:sp>
      <p:sp>
        <p:nvSpPr>
          <p:cNvPr id="6" name="Shape 4"/>
          <p:cNvSpPr/>
          <p:nvPr/>
        </p:nvSpPr>
        <p:spPr>
          <a:xfrm>
            <a:off x="548640" y="1508760"/>
            <a:ext cx="1188720" cy="685800"/>
          </a:xfrm>
          <a:prstGeom prst="rect">
            <a:avLst/>
          </a:prstGeom>
          <a:solidFill>
            <a:srgbClr val="FFFFFF"/>
          </a:solidFill>
          <a:ln/>
        </p:spPr>
        <p:txBody>
          <a:bodyPr/>
          <a:lstStyle/>
          <a:p>
            <a:endParaRPr lang="en-US"/>
          </a:p>
        </p:txBody>
      </p:sp>
      <p:sp>
        <p:nvSpPr>
          <p:cNvPr id="7" name="Text 5"/>
          <p:cNvSpPr/>
          <p:nvPr/>
        </p:nvSpPr>
        <p:spPr>
          <a:xfrm>
            <a:off x="548640" y="1508760"/>
            <a:ext cx="1188720" cy="685800"/>
          </a:xfrm>
          <a:prstGeom prst="rect">
            <a:avLst/>
          </a:prstGeom>
          <a:noFill/>
          <a:ln/>
        </p:spPr>
        <p:txBody>
          <a:bodyPr wrap="square" rtlCol="0" anchor="ctr"/>
          <a:lstStyle/>
          <a:p>
            <a:pPr marL="0" indent="0" algn="ctr">
              <a:buNone/>
            </a:pPr>
            <a:r>
              <a:rPr lang="en-US" sz="800" dirty="0">
                <a:solidFill>
                  <a:srgbClr val="2B2B2B"/>
                </a:solidFill>
              </a:rPr>
              <a:t>Ingest</a:t>
            </a:r>
            <a:endParaRPr lang="en-US" sz="800" dirty="0"/>
          </a:p>
        </p:txBody>
      </p:sp>
      <p:sp>
        <p:nvSpPr>
          <p:cNvPr id="8" name="Text 6"/>
          <p:cNvSpPr/>
          <p:nvPr/>
        </p:nvSpPr>
        <p:spPr>
          <a:xfrm>
            <a:off x="1737360" y="1508760"/>
            <a:ext cx="182880" cy="685800"/>
          </a:xfrm>
          <a:prstGeom prst="rect">
            <a:avLst/>
          </a:prstGeom>
          <a:noFill/>
          <a:ln/>
        </p:spPr>
        <p:txBody>
          <a:bodyPr wrap="square" rtlCol="0" anchor="ctr"/>
          <a:lstStyle/>
          <a:p>
            <a:pPr marL="0" indent="0" algn="ctr">
              <a:buNone/>
            </a:pPr>
            <a:r>
              <a:rPr lang="en-US" sz="1400" dirty="0">
                <a:solidFill>
                  <a:srgbClr val="2D6CDF"/>
                </a:solidFill>
              </a:rPr>
              <a:t>→</a:t>
            </a:r>
            <a:endParaRPr lang="en-US" sz="1400" dirty="0"/>
          </a:p>
        </p:txBody>
      </p:sp>
      <p:sp>
        <p:nvSpPr>
          <p:cNvPr id="9" name="Shape 7"/>
          <p:cNvSpPr/>
          <p:nvPr/>
        </p:nvSpPr>
        <p:spPr>
          <a:xfrm>
            <a:off x="1920240" y="1508760"/>
            <a:ext cx="1188720" cy="685800"/>
          </a:xfrm>
          <a:prstGeom prst="rect">
            <a:avLst/>
          </a:prstGeom>
          <a:solidFill>
            <a:srgbClr val="FFFFFF"/>
          </a:solidFill>
          <a:ln/>
        </p:spPr>
        <p:txBody>
          <a:bodyPr/>
          <a:lstStyle/>
          <a:p>
            <a:endParaRPr lang="en-US"/>
          </a:p>
        </p:txBody>
      </p:sp>
      <p:sp>
        <p:nvSpPr>
          <p:cNvPr id="10" name="Text 8"/>
          <p:cNvSpPr/>
          <p:nvPr/>
        </p:nvSpPr>
        <p:spPr>
          <a:xfrm>
            <a:off x="1920240" y="1508760"/>
            <a:ext cx="1188720" cy="685800"/>
          </a:xfrm>
          <a:prstGeom prst="rect">
            <a:avLst/>
          </a:prstGeom>
          <a:noFill/>
          <a:ln/>
        </p:spPr>
        <p:txBody>
          <a:bodyPr wrap="square" rtlCol="0" anchor="ctr"/>
          <a:lstStyle/>
          <a:p>
            <a:pPr marL="0" indent="0" algn="ctr">
              <a:buNone/>
            </a:pPr>
            <a:r>
              <a:rPr lang="en-US" sz="800" dirty="0">
                <a:solidFill>
                  <a:srgbClr val="2B2B2B"/>
                </a:solidFill>
              </a:rPr>
              <a:t>Qualify</a:t>
            </a:r>
            <a:endParaRPr lang="en-US" sz="800" dirty="0"/>
          </a:p>
          <a:p>
            <a:pPr marL="0" indent="0" algn="ctr">
              <a:buNone/>
            </a:pPr>
            <a:r>
              <a:rPr lang="en-US" sz="800" dirty="0">
                <a:solidFill>
                  <a:srgbClr val="2B2B2B"/>
                </a:solidFill>
              </a:rPr>
              <a:t>(SC + bundle)</a:t>
            </a:r>
            <a:endParaRPr lang="en-US" sz="800" dirty="0"/>
          </a:p>
        </p:txBody>
      </p:sp>
      <p:sp>
        <p:nvSpPr>
          <p:cNvPr id="11" name="Text 9"/>
          <p:cNvSpPr/>
          <p:nvPr/>
        </p:nvSpPr>
        <p:spPr>
          <a:xfrm>
            <a:off x="3108960" y="1508760"/>
            <a:ext cx="182880" cy="685800"/>
          </a:xfrm>
          <a:prstGeom prst="rect">
            <a:avLst/>
          </a:prstGeom>
          <a:noFill/>
          <a:ln/>
        </p:spPr>
        <p:txBody>
          <a:bodyPr wrap="square" rtlCol="0" anchor="ctr"/>
          <a:lstStyle/>
          <a:p>
            <a:pPr marL="0" indent="0" algn="ctr">
              <a:buNone/>
            </a:pPr>
            <a:r>
              <a:rPr lang="en-US" sz="1400" dirty="0">
                <a:solidFill>
                  <a:srgbClr val="2D6CDF"/>
                </a:solidFill>
              </a:rPr>
              <a:t>→</a:t>
            </a:r>
            <a:endParaRPr lang="en-US" sz="1400" dirty="0"/>
          </a:p>
        </p:txBody>
      </p:sp>
      <p:sp>
        <p:nvSpPr>
          <p:cNvPr id="12" name="Shape 10"/>
          <p:cNvSpPr/>
          <p:nvPr/>
        </p:nvSpPr>
        <p:spPr>
          <a:xfrm>
            <a:off x="3291840" y="1508760"/>
            <a:ext cx="1188720" cy="685800"/>
          </a:xfrm>
          <a:prstGeom prst="rect">
            <a:avLst/>
          </a:prstGeom>
          <a:solidFill>
            <a:srgbClr val="FFFFFF"/>
          </a:solidFill>
          <a:ln/>
        </p:spPr>
        <p:txBody>
          <a:bodyPr/>
          <a:lstStyle/>
          <a:p>
            <a:endParaRPr lang="en-US"/>
          </a:p>
        </p:txBody>
      </p:sp>
      <p:sp>
        <p:nvSpPr>
          <p:cNvPr id="13" name="Text 11"/>
          <p:cNvSpPr/>
          <p:nvPr/>
        </p:nvSpPr>
        <p:spPr>
          <a:xfrm>
            <a:off x="3291840" y="1508760"/>
            <a:ext cx="1188720" cy="685800"/>
          </a:xfrm>
          <a:prstGeom prst="rect">
            <a:avLst/>
          </a:prstGeom>
          <a:noFill/>
          <a:ln/>
        </p:spPr>
        <p:txBody>
          <a:bodyPr wrap="square" rtlCol="0" anchor="ctr"/>
          <a:lstStyle/>
          <a:p>
            <a:pPr marL="0" indent="0" algn="ctr">
              <a:buNone/>
            </a:pPr>
            <a:r>
              <a:rPr lang="en-US" sz="800" dirty="0">
                <a:solidFill>
                  <a:srgbClr val="2B2B2B"/>
                </a:solidFill>
              </a:rPr>
              <a:t>Aggregate</a:t>
            </a:r>
            <a:endParaRPr lang="en-US" sz="800" dirty="0"/>
          </a:p>
        </p:txBody>
      </p:sp>
      <p:sp>
        <p:nvSpPr>
          <p:cNvPr id="14" name="Text 12"/>
          <p:cNvSpPr/>
          <p:nvPr/>
        </p:nvSpPr>
        <p:spPr>
          <a:xfrm>
            <a:off x="4480560" y="1508760"/>
            <a:ext cx="182880" cy="685800"/>
          </a:xfrm>
          <a:prstGeom prst="rect">
            <a:avLst/>
          </a:prstGeom>
          <a:noFill/>
          <a:ln/>
        </p:spPr>
        <p:txBody>
          <a:bodyPr wrap="square" rtlCol="0" anchor="ctr"/>
          <a:lstStyle/>
          <a:p>
            <a:pPr marL="0" indent="0" algn="ctr">
              <a:buNone/>
            </a:pPr>
            <a:r>
              <a:rPr lang="en-US" sz="1400" dirty="0">
                <a:solidFill>
                  <a:srgbClr val="2D6CDF"/>
                </a:solidFill>
              </a:rPr>
              <a:t>→</a:t>
            </a:r>
            <a:endParaRPr lang="en-US" sz="1400" dirty="0"/>
          </a:p>
        </p:txBody>
      </p:sp>
      <p:sp>
        <p:nvSpPr>
          <p:cNvPr id="15" name="Shape 13"/>
          <p:cNvSpPr/>
          <p:nvPr/>
        </p:nvSpPr>
        <p:spPr>
          <a:xfrm>
            <a:off x="4663440" y="1508760"/>
            <a:ext cx="1188720" cy="685800"/>
          </a:xfrm>
          <a:prstGeom prst="rect">
            <a:avLst/>
          </a:prstGeom>
          <a:solidFill>
            <a:srgbClr val="FFFFFF"/>
          </a:solidFill>
          <a:ln/>
        </p:spPr>
        <p:txBody>
          <a:bodyPr/>
          <a:lstStyle/>
          <a:p>
            <a:endParaRPr lang="en-US"/>
          </a:p>
        </p:txBody>
      </p:sp>
      <p:sp>
        <p:nvSpPr>
          <p:cNvPr id="16" name="Text 14"/>
          <p:cNvSpPr/>
          <p:nvPr/>
        </p:nvSpPr>
        <p:spPr>
          <a:xfrm>
            <a:off x="4663440" y="1508760"/>
            <a:ext cx="1188720" cy="685800"/>
          </a:xfrm>
          <a:prstGeom prst="rect">
            <a:avLst/>
          </a:prstGeom>
          <a:noFill/>
          <a:ln/>
        </p:spPr>
        <p:txBody>
          <a:bodyPr wrap="square" rtlCol="0" anchor="ctr"/>
          <a:lstStyle/>
          <a:p>
            <a:pPr marL="0" indent="0" algn="ctr">
              <a:buNone/>
            </a:pPr>
            <a:r>
              <a:rPr lang="en-US" sz="800" dirty="0">
                <a:solidFill>
                  <a:srgbClr val="2B2B2B"/>
                </a:solidFill>
              </a:rPr>
              <a:t>Rate</a:t>
            </a:r>
            <a:endParaRPr lang="en-US" sz="800" dirty="0"/>
          </a:p>
        </p:txBody>
      </p:sp>
      <p:sp>
        <p:nvSpPr>
          <p:cNvPr id="17" name="Text 15"/>
          <p:cNvSpPr/>
          <p:nvPr/>
        </p:nvSpPr>
        <p:spPr>
          <a:xfrm>
            <a:off x="5852160" y="1508760"/>
            <a:ext cx="182880" cy="685800"/>
          </a:xfrm>
          <a:prstGeom prst="rect">
            <a:avLst/>
          </a:prstGeom>
          <a:noFill/>
          <a:ln/>
        </p:spPr>
        <p:txBody>
          <a:bodyPr wrap="square" rtlCol="0" anchor="ctr"/>
          <a:lstStyle/>
          <a:p>
            <a:pPr marL="0" indent="0" algn="ctr">
              <a:buNone/>
            </a:pPr>
            <a:r>
              <a:rPr lang="en-US" sz="1400" dirty="0">
                <a:solidFill>
                  <a:srgbClr val="2D6CDF"/>
                </a:solidFill>
              </a:rPr>
              <a:t>→</a:t>
            </a:r>
            <a:endParaRPr lang="en-US" sz="1400" dirty="0"/>
          </a:p>
        </p:txBody>
      </p:sp>
      <p:sp>
        <p:nvSpPr>
          <p:cNvPr id="18" name="Shape 16"/>
          <p:cNvSpPr/>
          <p:nvPr/>
        </p:nvSpPr>
        <p:spPr>
          <a:xfrm>
            <a:off x="6035040" y="1508760"/>
            <a:ext cx="1188720" cy="685800"/>
          </a:xfrm>
          <a:prstGeom prst="rect">
            <a:avLst/>
          </a:prstGeom>
          <a:solidFill>
            <a:srgbClr val="FFFFFF"/>
          </a:solidFill>
          <a:ln/>
        </p:spPr>
        <p:txBody>
          <a:bodyPr/>
          <a:lstStyle/>
          <a:p>
            <a:endParaRPr lang="en-US"/>
          </a:p>
        </p:txBody>
      </p:sp>
      <p:sp>
        <p:nvSpPr>
          <p:cNvPr id="19" name="Text 17"/>
          <p:cNvSpPr/>
          <p:nvPr/>
        </p:nvSpPr>
        <p:spPr>
          <a:xfrm>
            <a:off x="6035040" y="1508760"/>
            <a:ext cx="1188720" cy="685800"/>
          </a:xfrm>
          <a:prstGeom prst="rect">
            <a:avLst/>
          </a:prstGeom>
          <a:noFill/>
          <a:ln/>
        </p:spPr>
        <p:txBody>
          <a:bodyPr wrap="square" rtlCol="0" anchor="ctr"/>
          <a:lstStyle/>
          <a:p>
            <a:pPr marL="0" indent="0" algn="ctr">
              <a:buNone/>
            </a:pPr>
            <a:r>
              <a:rPr lang="en-US" sz="800" dirty="0">
                <a:solidFill>
                  <a:srgbClr val="2B2B2B"/>
                </a:solidFill>
              </a:rPr>
              <a:t>Modifiers</a:t>
            </a:r>
            <a:endParaRPr lang="en-US" sz="800" dirty="0"/>
          </a:p>
          <a:p>
            <a:pPr marL="0" indent="0" algn="ctr">
              <a:buNone/>
            </a:pPr>
            <a:r>
              <a:rPr lang="en-US" sz="800" dirty="0">
                <a:solidFill>
                  <a:srgbClr val="2B2B2B"/>
                </a:solidFill>
              </a:rPr>
              <a:t>(floor/ceiling)</a:t>
            </a:r>
            <a:endParaRPr lang="en-US" sz="800" dirty="0"/>
          </a:p>
        </p:txBody>
      </p:sp>
      <p:sp>
        <p:nvSpPr>
          <p:cNvPr id="20" name="Text 18"/>
          <p:cNvSpPr/>
          <p:nvPr/>
        </p:nvSpPr>
        <p:spPr>
          <a:xfrm>
            <a:off x="7223760" y="1508760"/>
            <a:ext cx="182880" cy="685800"/>
          </a:xfrm>
          <a:prstGeom prst="rect">
            <a:avLst/>
          </a:prstGeom>
          <a:noFill/>
          <a:ln/>
        </p:spPr>
        <p:txBody>
          <a:bodyPr wrap="square" rtlCol="0" anchor="ctr"/>
          <a:lstStyle/>
          <a:p>
            <a:pPr marL="0" indent="0" algn="ctr">
              <a:buNone/>
            </a:pPr>
            <a:r>
              <a:rPr lang="en-US" sz="1400" dirty="0">
                <a:solidFill>
                  <a:srgbClr val="2D6CDF"/>
                </a:solidFill>
              </a:rPr>
              <a:t>→</a:t>
            </a:r>
            <a:endParaRPr lang="en-US" sz="1400" dirty="0"/>
          </a:p>
        </p:txBody>
      </p:sp>
      <p:sp>
        <p:nvSpPr>
          <p:cNvPr id="21" name="Shape 19"/>
          <p:cNvSpPr/>
          <p:nvPr/>
        </p:nvSpPr>
        <p:spPr>
          <a:xfrm>
            <a:off x="7406640" y="1508760"/>
            <a:ext cx="1188720" cy="685800"/>
          </a:xfrm>
          <a:prstGeom prst="rect">
            <a:avLst/>
          </a:prstGeom>
          <a:solidFill>
            <a:srgbClr val="FFFFFF"/>
          </a:solidFill>
          <a:ln/>
        </p:spPr>
        <p:txBody>
          <a:bodyPr/>
          <a:lstStyle/>
          <a:p>
            <a:endParaRPr lang="en-US"/>
          </a:p>
        </p:txBody>
      </p:sp>
      <p:sp>
        <p:nvSpPr>
          <p:cNvPr id="22" name="Text 20"/>
          <p:cNvSpPr/>
          <p:nvPr/>
        </p:nvSpPr>
        <p:spPr>
          <a:xfrm>
            <a:off x="7406640" y="1508760"/>
            <a:ext cx="1188720" cy="685800"/>
          </a:xfrm>
          <a:prstGeom prst="rect">
            <a:avLst/>
          </a:prstGeom>
          <a:noFill/>
          <a:ln/>
        </p:spPr>
        <p:txBody>
          <a:bodyPr wrap="square" rtlCol="0" anchor="ctr"/>
          <a:lstStyle/>
          <a:p>
            <a:pPr marL="0" indent="0" algn="ctr">
              <a:buNone/>
            </a:pPr>
            <a:r>
              <a:rPr lang="en-US" sz="800" dirty="0">
                <a:solidFill>
                  <a:srgbClr val="2B2B2B"/>
                </a:solidFill>
              </a:rPr>
              <a:t>Publish</a:t>
            </a:r>
            <a:endParaRPr lang="en-US" sz="800" dirty="0"/>
          </a:p>
          <a:p>
            <a:pPr marL="0" indent="0" algn="ctr">
              <a:buNone/>
            </a:pPr>
            <a:r>
              <a:rPr lang="en-US" sz="800" dirty="0">
                <a:solidFill>
                  <a:srgbClr val="2B2B2B"/>
                </a:solidFill>
              </a:rPr>
              <a:t>pricing event</a:t>
            </a:r>
            <a:endParaRPr lang="en-US" sz="800" dirty="0"/>
          </a:p>
        </p:txBody>
      </p:sp>
      <p:sp>
        <p:nvSpPr>
          <p:cNvPr id="23" name="Text 21"/>
          <p:cNvSpPr/>
          <p:nvPr/>
        </p:nvSpPr>
        <p:spPr>
          <a:xfrm>
            <a:off x="3200400" y="2468880"/>
            <a:ext cx="2743200" cy="320040"/>
          </a:xfrm>
          <a:prstGeom prst="rect">
            <a:avLst/>
          </a:prstGeom>
          <a:noFill/>
          <a:ln/>
        </p:spPr>
        <p:txBody>
          <a:bodyPr wrap="square" lIns="0" tIns="0" rIns="0" bIns="0" rtlCol="0" anchor="ctr"/>
          <a:lstStyle/>
          <a:p>
            <a:pPr marL="0" indent="0" algn="ctr">
              <a:buNone/>
            </a:pPr>
            <a:r>
              <a:rPr lang="en-US" sz="1000" b="1" dirty="0">
                <a:solidFill>
                  <a:srgbClr val="2D6CDF"/>
                </a:solidFill>
              </a:rPr>
              <a:t>↓ pricing event published</a:t>
            </a:r>
            <a:endParaRPr lang="en-US" sz="1000" dirty="0"/>
          </a:p>
        </p:txBody>
      </p:sp>
      <p:sp>
        <p:nvSpPr>
          <p:cNvPr id="24" name="Shape 22"/>
          <p:cNvSpPr/>
          <p:nvPr/>
        </p:nvSpPr>
        <p:spPr>
          <a:xfrm>
            <a:off x="365760" y="2834640"/>
            <a:ext cx="8412480" cy="1097280"/>
          </a:xfrm>
          <a:prstGeom prst="rect">
            <a:avLst/>
          </a:prstGeom>
          <a:solidFill>
            <a:srgbClr val="E1F5EE"/>
          </a:solidFill>
          <a:ln/>
        </p:spPr>
        <p:txBody>
          <a:bodyPr/>
          <a:lstStyle/>
          <a:p>
            <a:endParaRPr lang="en-US"/>
          </a:p>
        </p:txBody>
      </p:sp>
      <p:sp>
        <p:nvSpPr>
          <p:cNvPr id="25" name="Text 23"/>
          <p:cNvSpPr/>
          <p:nvPr/>
        </p:nvSpPr>
        <p:spPr>
          <a:xfrm>
            <a:off x="457200" y="2880360"/>
            <a:ext cx="3657600" cy="274320"/>
          </a:xfrm>
          <a:prstGeom prst="rect">
            <a:avLst/>
          </a:prstGeom>
          <a:noFill/>
          <a:ln/>
        </p:spPr>
        <p:txBody>
          <a:bodyPr wrap="square" lIns="0" tIns="0" rIns="0" bIns="0" rtlCol="0" anchor="ctr"/>
          <a:lstStyle/>
          <a:p>
            <a:pPr marL="0" indent="0">
              <a:buNone/>
            </a:pPr>
            <a:r>
              <a:rPr lang="en-US" sz="1200" b="1" dirty="0">
                <a:solidFill>
                  <a:srgbClr val="0F6E56"/>
                </a:solidFill>
              </a:rPr>
              <a:t>9B. Allocation pipeline</a:t>
            </a:r>
            <a:endParaRPr lang="en-US" sz="1200" dirty="0"/>
          </a:p>
        </p:txBody>
      </p:sp>
      <p:sp>
        <p:nvSpPr>
          <p:cNvPr id="26" name="Shape 24"/>
          <p:cNvSpPr/>
          <p:nvPr/>
        </p:nvSpPr>
        <p:spPr>
          <a:xfrm>
            <a:off x="548640" y="3200400"/>
            <a:ext cx="1828800" cy="594360"/>
          </a:xfrm>
          <a:prstGeom prst="rect">
            <a:avLst/>
          </a:prstGeom>
          <a:solidFill>
            <a:srgbClr val="FFFFFF"/>
          </a:solidFill>
          <a:ln/>
        </p:spPr>
        <p:txBody>
          <a:bodyPr/>
          <a:lstStyle/>
          <a:p>
            <a:endParaRPr lang="en-US"/>
          </a:p>
        </p:txBody>
      </p:sp>
      <p:sp>
        <p:nvSpPr>
          <p:cNvPr id="27" name="Text 25"/>
          <p:cNvSpPr/>
          <p:nvPr/>
        </p:nvSpPr>
        <p:spPr>
          <a:xfrm>
            <a:off x="548640" y="3200400"/>
            <a:ext cx="1828800" cy="594360"/>
          </a:xfrm>
          <a:prstGeom prst="rect">
            <a:avLst/>
          </a:prstGeom>
          <a:noFill/>
          <a:ln/>
        </p:spPr>
        <p:txBody>
          <a:bodyPr wrap="square" rtlCol="0" anchor="ctr"/>
          <a:lstStyle/>
          <a:p>
            <a:pPr marL="0" indent="0" algn="ctr">
              <a:buNone/>
            </a:pPr>
            <a:r>
              <a:rPr lang="en-US" sz="800" dirty="0">
                <a:solidFill>
                  <a:srgbClr val="2B2B2B"/>
                </a:solidFill>
              </a:rPr>
              <a:t>Receive</a:t>
            </a:r>
            <a:endParaRPr lang="en-US" sz="800" dirty="0"/>
          </a:p>
          <a:p>
            <a:pPr marL="0" indent="0" algn="ctr">
              <a:buNone/>
            </a:pPr>
            <a:r>
              <a:rPr lang="en-US" sz="800" dirty="0">
                <a:solidFill>
                  <a:srgbClr val="2B2B2B"/>
                </a:solidFill>
              </a:rPr>
              <a:t>pricing event</a:t>
            </a:r>
            <a:endParaRPr lang="en-US" sz="800" dirty="0"/>
          </a:p>
        </p:txBody>
      </p:sp>
      <p:sp>
        <p:nvSpPr>
          <p:cNvPr id="28" name="Text 26"/>
          <p:cNvSpPr/>
          <p:nvPr/>
        </p:nvSpPr>
        <p:spPr>
          <a:xfrm>
            <a:off x="2377440" y="3200400"/>
            <a:ext cx="228600" cy="594360"/>
          </a:xfrm>
          <a:prstGeom prst="rect">
            <a:avLst/>
          </a:prstGeom>
          <a:noFill/>
          <a:ln/>
        </p:spPr>
        <p:txBody>
          <a:bodyPr wrap="square" rtlCol="0" anchor="ctr"/>
          <a:lstStyle/>
          <a:p>
            <a:pPr marL="0" indent="0" algn="ctr">
              <a:buNone/>
            </a:pPr>
            <a:r>
              <a:rPr lang="en-US" sz="1400" dirty="0">
                <a:solidFill>
                  <a:srgbClr val="0F6E56"/>
                </a:solidFill>
              </a:rPr>
              <a:t>→</a:t>
            </a:r>
            <a:endParaRPr lang="en-US" sz="1400" dirty="0"/>
          </a:p>
        </p:txBody>
      </p:sp>
      <p:sp>
        <p:nvSpPr>
          <p:cNvPr id="29" name="Shape 27"/>
          <p:cNvSpPr/>
          <p:nvPr/>
        </p:nvSpPr>
        <p:spPr>
          <a:xfrm>
            <a:off x="2606040" y="3200400"/>
            <a:ext cx="1828800" cy="594360"/>
          </a:xfrm>
          <a:prstGeom prst="rect">
            <a:avLst/>
          </a:prstGeom>
          <a:solidFill>
            <a:srgbClr val="FFFFFF"/>
          </a:solidFill>
          <a:ln/>
        </p:spPr>
        <p:txBody>
          <a:bodyPr/>
          <a:lstStyle/>
          <a:p>
            <a:endParaRPr lang="en-US"/>
          </a:p>
        </p:txBody>
      </p:sp>
      <p:sp>
        <p:nvSpPr>
          <p:cNvPr id="30" name="Text 28"/>
          <p:cNvSpPr/>
          <p:nvPr/>
        </p:nvSpPr>
        <p:spPr>
          <a:xfrm>
            <a:off x="2606040" y="3200400"/>
            <a:ext cx="1828800" cy="594360"/>
          </a:xfrm>
          <a:prstGeom prst="rect">
            <a:avLst/>
          </a:prstGeom>
          <a:noFill/>
          <a:ln/>
        </p:spPr>
        <p:txBody>
          <a:bodyPr wrap="square" rtlCol="0" anchor="ctr"/>
          <a:lstStyle/>
          <a:p>
            <a:pPr marL="0" indent="0" algn="ctr">
              <a:buNone/>
            </a:pPr>
            <a:r>
              <a:rPr lang="en-US" sz="800" dirty="0">
                <a:solidFill>
                  <a:srgbClr val="2B2B2B"/>
                </a:solidFill>
              </a:rPr>
              <a:t>Qualify for</a:t>
            </a:r>
            <a:endParaRPr lang="en-US" sz="800" dirty="0"/>
          </a:p>
          <a:p>
            <a:pPr marL="0" indent="0" algn="ctr">
              <a:buNone/>
            </a:pPr>
            <a:r>
              <a:rPr lang="en-US" sz="800" dirty="0">
                <a:solidFill>
                  <a:srgbClr val="2B2B2B"/>
                </a:solidFill>
              </a:rPr>
              <a:t>allocations</a:t>
            </a:r>
            <a:endParaRPr lang="en-US" sz="800" dirty="0"/>
          </a:p>
        </p:txBody>
      </p:sp>
      <p:sp>
        <p:nvSpPr>
          <p:cNvPr id="31" name="Text 29"/>
          <p:cNvSpPr/>
          <p:nvPr/>
        </p:nvSpPr>
        <p:spPr>
          <a:xfrm>
            <a:off x="4434840" y="3200400"/>
            <a:ext cx="228600" cy="594360"/>
          </a:xfrm>
          <a:prstGeom prst="rect">
            <a:avLst/>
          </a:prstGeom>
          <a:noFill/>
          <a:ln/>
        </p:spPr>
        <p:txBody>
          <a:bodyPr wrap="square" rtlCol="0" anchor="ctr"/>
          <a:lstStyle/>
          <a:p>
            <a:pPr marL="0" indent="0" algn="ctr">
              <a:buNone/>
            </a:pPr>
            <a:r>
              <a:rPr lang="en-US" sz="1400" dirty="0">
                <a:solidFill>
                  <a:srgbClr val="0F6E56"/>
                </a:solidFill>
              </a:rPr>
              <a:t>→</a:t>
            </a:r>
            <a:endParaRPr lang="en-US" sz="1400" dirty="0"/>
          </a:p>
        </p:txBody>
      </p:sp>
      <p:sp>
        <p:nvSpPr>
          <p:cNvPr id="32" name="Shape 30"/>
          <p:cNvSpPr/>
          <p:nvPr/>
        </p:nvSpPr>
        <p:spPr>
          <a:xfrm>
            <a:off x="4663440" y="3200400"/>
            <a:ext cx="1828800" cy="594360"/>
          </a:xfrm>
          <a:prstGeom prst="rect">
            <a:avLst/>
          </a:prstGeom>
          <a:solidFill>
            <a:srgbClr val="FFFFFF"/>
          </a:solidFill>
          <a:ln/>
        </p:spPr>
        <p:txBody>
          <a:bodyPr/>
          <a:lstStyle/>
          <a:p>
            <a:endParaRPr lang="en-US"/>
          </a:p>
        </p:txBody>
      </p:sp>
      <p:sp>
        <p:nvSpPr>
          <p:cNvPr id="33" name="Text 31"/>
          <p:cNvSpPr/>
          <p:nvPr/>
        </p:nvSpPr>
        <p:spPr>
          <a:xfrm>
            <a:off x="4663440" y="3200400"/>
            <a:ext cx="1828800" cy="594360"/>
          </a:xfrm>
          <a:prstGeom prst="rect">
            <a:avLst/>
          </a:prstGeom>
          <a:noFill/>
          <a:ln/>
        </p:spPr>
        <p:txBody>
          <a:bodyPr wrap="square" rtlCol="0" anchor="ctr"/>
          <a:lstStyle/>
          <a:p>
            <a:pPr marL="0" indent="0" algn="ctr">
              <a:buNone/>
            </a:pPr>
            <a:r>
              <a:rPr lang="en-US" sz="800" dirty="0">
                <a:solidFill>
                  <a:srgbClr val="2B2B2B"/>
                </a:solidFill>
              </a:rPr>
              <a:t>Apply</a:t>
            </a:r>
            <a:endParaRPr lang="en-US" sz="800" dirty="0"/>
          </a:p>
          <a:p>
            <a:pPr marL="0" indent="0" algn="ctr">
              <a:buNone/>
            </a:pPr>
            <a:r>
              <a:rPr lang="en-US" sz="800" dirty="0">
                <a:solidFill>
                  <a:srgbClr val="2B2B2B"/>
                </a:solidFill>
              </a:rPr>
              <a:t>(rev share, discount,</a:t>
            </a:r>
            <a:endParaRPr lang="en-US" sz="800" dirty="0"/>
          </a:p>
          <a:p>
            <a:pPr marL="0" indent="0" algn="ctr">
              <a:buNone/>
            </a:pPr>
            <a:r>
              <a:rPr lang="en-US" sz="800" dirty="0">
                <a:solidFill>
                  <a:srgbClr val="2B2B2B"/>
                </a:solidFill>
              </a:rPr>
              <a:t>waiver)</a:t>
            </a:r>
            <a:endParaRPr lang="en-US" sz="800" dirty="0"/>
          </a:p>
        </p:txBody>
      </p:sp>
      <p:sp>
        <p:nvSpPr>
          <p:cNvPr id="34" name="Text 32"/>
          <p:cNvSpPr/>
          <p:nvPr/>
        </p:nvSpPr>
        <p:spPr>
          <a:xfrm>
            <a:off x="6492240" y="3200400"/>
            <a:ext cx="228600" cy="594360"/>
          </a:xfrm>
          <a:prstGeom prst="rect">
            <a:avLst/>
          </a:prstGeom>
          <a:noFill/>
          <a:ln/>
        </p:spPr>
        <p:txBody>
          <a:bodyPr wrap="square" rtlCol="0" anchor="ctr"/>
          <a:lstStyle/>
          <a:p>
            <a:pPr marL="0" indent="0" algn="ctr">
              <a:buNone/>
            </a:pPr>
            <a:r>
              <a:rPr lang="en-US" sz="1400" dirty="0">
                <a:solidFill>
                  <a:srgbClr val="0F6E56"/>
                </a:solidFill>
              </a:rPr>
              <a:t>→</a:t>
            </a:r>
            <a:endParaRPr lang="en-US" sz="1400" dirty="0"/>
          </a:p>
        </p:txBody>
      </p:sp>
      <p:sp>
        <p:nvSpPr>
          <p:cNvPr id="35" name="Shape 33"/>
          <p:cNvSpPr/>
          <p:nvPr/>
        </p:nvSpPr>
        <p:spPr>
          <a:xfrm>
            <a:off x="6720840" y="3200400"/>
            <a:ext cx="1828800" cy="594360"/>
          </a:xfrm>
          <a:prstGeom prst="rect">
            <a:avLst/>
          </a:prstGeom>
          <a:solidFill>
            <a:srgbClr val="FFFFFF"/>
          </a:solidFill>
          <a:ln/>
        </p:spPr>
        <p:txBody>
          <a:bodyPr/>
          <a:lstStyle/>
          <a:p>
            <a:endParaRPr lang="en-US"/>
          </a:p>
        </p:txBody>
      </p:sp>
      <p:sp>
        <p:nvSpPr>
          <p:cNvPr id="36" name="Text 34"/>
          <p:cNvSpPr/>
          <p:nvPr/>
        </p:nvSpPr>
        <p:spPr>
          <a:xfrm>
            <a:off x="6720840" y="3200400"/>
            <a:ext cx="1828800" cy="594360"/>
          </a:xfrm>
          <a:prstGeom prst="rect">
            <a:avLst/>
          </a:prstGeom>
          <a:noFill/>
          <a:ln/>
        </p:spPr>
        <p:txBody>
          <a:bodyPr wrap="square" rtlCol="0" anchor="ctr"/>
          <a:lstStyle/>
          <a:p>
            <a:pPr marL="0" indent="0" algn="ctr">
              <a:buNone/>
            </a:pPr>
            <a:r>
              <a:rPr lang="en-US" sz="800" dirty="0">
                <a:solidFill>
                  <a:srgbClr val="2B2B2B"/>
                </a:solidFill>
              </a:rPr>
              <a:t>Publish</a:t>
            </a:r>
            <a:endParaRPr lang="en-US" sz="800" dirty="0"/>
          </a:p>
          <a:p>
            <a:pPr marL="0" indent="0" algn="ctr">
              <a:buNone/>
            </a:pPr>
            <a:r>
              <a:rPr lang="en-US" sz="800" dirty="0">
                <a:solidFill>
                  <a:srgbClr val="2B2B2B"/>
                </a:solidFill>
              </a:rPr>
              <a:t>allocation events</a:t>
            </a:r>
            <a:endParaRPr lang="en-US" sz="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4023360"/>
          <a:ext cx="50292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0">
                <a:tc>
                  <a:txBody>
                    <a:bodyPr/>
                    <a:lstStyle/>
                    <a:p>
                      <a:pPr marL="0" indent="0" algn="l">
                        <a:buNone/>
                      </a:pPr>
                      <a:r>
                        <a:rPr lang="en-US" sz="1000" b="1" dirty="0">
                          <a:solidFill>
                            <a:srgbClr val="FFFFFF"/>
                          </a:solidFill>
                        </a:rPr>
                        <a:t>Sub-ledger entry</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Source</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Amount</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Pricing: SC-1003 card processing</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Pricing engine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$0.20</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i="1" dirty="0">
                          <a:solidFill>
                            <a:srgbClr val="2B2B2B"/>
                          </a:solidFill>
                        </a:rPr>
                        <a:t>Allocation: promo discount</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Allocation service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A32D2D"/>
                          </a:solidFill>
                        </a:rPr>
                        <a:t>-$0.04</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i="1" dirty="0">
                          <a:solidFill>
                            <a:srgbClr val="2B2B2B"/>
                          </a:solidFill>
                        </a:rPr>
                        <a:t>Allocation: integrator rev share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Allocation service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A32D2D"/>
                          </a:solidFill>
                        </a:rPr>
                        <a:t>-$0.03</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2B2B2B"/>
                          </a:solidFill>
                        </a:rPr>
                        <a:t>Net JPMC revenue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b="1" dirty="0">
                          <a:solidFill>
                            <a:srgbClr val="2B2B2B"/>
                          </a:solidFill>
                        </a:rPr>
                        <a:t>$0.13</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457200"/>
          </a:xfrm>
          <a:prstGeom prst="rect">
            <a:avLst/>
          </a:prstGeom>
          <a:noFill/>
          <a:ln/>
        </p:spPr>
        <p:txBody>
          <a:bodyPr wrap="square" lIns="0" tIns="0" rIns="0" bIns="0" rtlCol="0" anchor="ctr"/>
          <a:lstStyle/>
          <a:p>
            <a:pPr marL="0" indent="0">
              <a:buNone/>
            </a:pPr>
            <a:r>
              <a:rPr lang="en-US" sz="2400" b="1" dirty="0">
                <a:solidFill>
                  <a:srgbClr val="1E2761"/>
                </a:solidFill>
              </a:rPr>
              <a:t>Platform / marketplace billing</a:t>
            </a:r>
            <a:endParaRPr lang="en-US" sz="2400" dirty="0"/>
          </a:p>
        </p:txBody>
      </p:sp>
      <p:sp>
        <p:nvSpPr>
          <p:cNvPr id="3" name="Shape 1"/>
          <p:cNvSpPr/>
          <p:nvPr/>
        </p:nvSpPr>
        <p:spPr>
          <a:xfrm>
            <a:off x="7498080" y="320040"/>
            <a:ext cx="1280160" cy="320040"/>
          </a:xfrm>
          <a:prstGeom prst="rect">
            <a:avLst/>
          </a:prstGeom>
          <a:solidFill>
            <a:srgbClr val="FFF2CC"/>
          </a:solidFill>
          <a:ln/>
        </p:spPr>
        <p:txBody>
          <a:bodyPr/>
          <a:lstStyle/>
          <a:p>
            <a:endParaRPr lang="en-US"/>
          </a:p>
        </p:txBody>
      </p:sp>
      <p:sp>
        <p:nvSpPr>
          <p:cNvPr id="4" name="Text 2"/>
          <p:cNvSpPr/>
          <p:nvPr/>
        </p:nvSpPr>
        <p:spPr>
          <a:xfrm>
            <a:off x="7498080" y="320040"/>
            <a:ext cx="1280160" cy="320040"/>
          </a:xfrm>
          <a:prstGeom prst="rect">
            <a:avLst/>
          </a:prstGeom>
          <a:noFill/>
          <a:ln/>
        </p:spPr>
        <p:txBody>
          <a:bodyPr wrap="square" rtlCol="0" anchor="ctr"/>
          <a:lstStyle/>
          <a:p>
            <a:pPr marL="0" indent="0" algn="ctr">
              <a:buNone/>
            </a:pPr>
            <a:r>
              <a:rPr lang="en-US" sz="900" b="1" dirty="0">
                <a:solidFill>
                  <a:srgbClr val="854F0B"/>
                </a:solidFill>
              </a:rPr>
              <a:t>ITERATING</a:t>
            </a:r>
            <a:endParaRPr lang="en-US" sz="900" dirty="0"/>
          </a:p>
        </p:txBody>
      </p:sp>
      <p:sp>
        <p:nvSpPr>
          <p:cNvPr id="5" name="Text 3"/>
          <p:cNvSpPr/>
          <p:nvPr/>
        </p:nvSpPr>
        <p:spPr>
          <a:xfrm>
            <a:off x="548640" y="685800"/>
            <a:ext cx="8229600" cy="365760"/>
          </a:xfrm>
          <a:prstGeom prst="rect">
            <a:avLst/>
          </a:prstGeom>
          <a:noFill/>
          <a:ln/>
        </p:spPr>
        <p:txBody>
          <a:bodyPr wrap="square" lIns="0" tIns="0" rIns="0" bIns="0" rtlCol="0" anchor="ctr"/>
          <a:lstStyle/>
          <a:p>
            <a:pPr marL="0" indent="0">
              <a:buNone/>
            </a:pPr>
            <a:r>
              <a:rPr lang="en-US" sz="1000" dirty="0">
                <a:solidFill>
                  <a:srgbClr val="5A5A5A"/>
                </a:solidFill>
              </a:rPr>
              <a:t>Three billing models for platforms and marketplaces, from platform-pays-everything (simplest, PayFac model) to full billing-as-a-service where JPMC manages all seller billing. The billing_party field is the key engine capability that enables Models 2 and 3.</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indent="0" algn="l">
                        <a:buNone/>
                      </a:pPr>
                      <a:r>
                        <a:rPr lang="en-US" sz="1000" b="1" dirty="0">
                          <a:solidFill>
                            <a:srgbClr val="FFFFFF"/>
                          </a:solidFill>
                        </a:rPr>
                        <a:t>Model</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How it works</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tc>
                  <a:txBody>
                    <a:bodyPr/>
                    <a:lstStyle/>
                    <a:p>
                      <a:pPr marL="0" indent="0" algn="l">
                        <a:buNone/>
                      </a:pPr>
                      <a:r>
                        <a:rPr lang="en-US" sz="1000" b="1" dirty="0">
                          <a:solidFill>
                            <a:srgbClr val="FFFFFF"/>
                          </a:solidFill>
                        </a:rPr>
                        <a:t>JPMC revenue</a:t>
                      </a:r>
                      <a:endParaRPr lang="en-US" sz="10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D6CD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2B2B2B"/>
                          </a:solidFill>
                        </a:rPr>
                        <a:t>1. Platform pays all</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JPMC bills platform only. Also PayFac.</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Processing on TPV only.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2B2B2B"/>
                          </a:solidFill>
                        </a:rPr>
                        <a:t>2. Sellers pay processing</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JPMC bills sellers (netted). Commission deducted.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Processing + payout fees.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2B2B2B"/>
                          </a:solidFill>
                        </a:rPr>
                        <a:t>3. Full billing (BaaS)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JPMC handles all billing.</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B2B2B"/>
                          </a:solidFill>
                        </a:rPr>
                        <a:t>Processing + VAS + infra. Strategic unlock.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548640" y="2560320"/>
            <a:ext cx="8229600" cy="274320"/>
          </a:xfrm>
          <a:prstGeom prst="rect">
            <a:avLst/>
          </a:prstGeom>
          <a:noFill/>
          <a:ln/>
        </p:spPr>
        <p:txBody>
          <a:bodyPr wrap="square" lIns="0" tIns="0" rIns="0" bIns="0" rtlCol="0" anchor="ctr"/>
          <a:lstStyle/>
          <a:p>
            <a:pPr marL="0" indent="0">
              <a:buNone/>
            </a:pPr>
            <a:r>
              <a:rPr lang="en-US" sz="1000" b="1" dirty="0">
                <a:solidFill>
                  <a:srgbClr val="2B2B2B"/>
                </a:solidFill>
              </a:rPr>
              <a:t>billing_party: who is this charge on behalf of (JPMC or platform_id).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marL="0" indent="0">
              <a:buNone/>
            </a:pPr>
            <a:r>
              <a:rPr lang="en-US" sz="2400" b="1" dirty="0">
                <a:solidFill>
                  <a:srgbClr val="1E2761"/>
                </a:solidFill>
              </a:rPr>
              <a:t>Billing models: current state and evolution</a:t>
            </a:r>
            <a:endParaRPr lang="en-US" sz="2400" dirty="0"/>
          </a:p>
        </p:txBody>
      </p:sp>
      <p:sp>
        <p:nvSpPr>
          <p:cNvPr id="3" name="Text 1"/>
          <p:cNvSpPr/>
          <p:nvPr/>
        </p:nvSpPr>
        <p:spPr>
          <a:xfrm>
            <a:off x="548640" y="685800"/>
            <a:ext cx="8229600" cy="457200"/>
          </a:xfrm>
          <a:prstGeom prst="rect">
            <a:avLst/>
          </a:prstGeom>
          <a:noFill/>
          <a:ln/>
        </p:spPr>
        <p:txBody>
          <a:bodyPr wrap="square" lIns="0" tIns="0" rIns="0" bIns="0" rtlCol="0" anchor="ctr"/>
          <a:lstStyle/>
          <a:p>
            <a:pPr marL="0" indent="0">
              <a:buNone/>
            </a:pPr>
            <a:r>
              <a:rPr lang="en-US" sz="1000" dirty="0">
                <a:solidFill>
                  <a:srgbClr val="5A5A5A"/>
                </a:solidFill>
              </a:rPr>
              <a:t>Four billing models coexist today — from legacy Core-only billing to brittle ETL integrations between Commerce and Core. The Funding Hub provides a cleaner intermediate path while native Commerce billing (Model 4) is built. The strategy eliminates Model 2, transitions Model 3, and provides a convergence path for Model 1.</a:t>
            </a:r>
            <a:endParaRPr lang="en-US" sz="1000" dirty="0"/>
          </a:p>
        </p:txBody>
      </p:sp>
      <p:sp>
        <p:nvSpPr>
          <p:cNvPr id="4" name="Shape 2"/>
          <p:cNvSpPr/>
          <p:nvPr/>
        </p:nvSpPr>
        <p:spPr>
          <a:xfrm>
            <a:off x="365760" y="1097280"/>
            <a:ext cx="8412480" cy="777240"/>
          </a:xfrm>
          <a:prstGeom prst="rect">
            <a:avLst/>
          </a:prstGeom>
          <a:solidFill>
            <a:srgbClr val="F5F6FA"/>
          </a:solidFill>
          <a:ln/>
        </p:spPr>
        <p:txBody>
          <a:bodyPr/>
          <a:lstStyle/>
          <a:p>
            <a:endParaRPr lang="en-US"/>
          </a:p>
        </p:txBody>
      </p:sp>
      <p:sp>
        <p:nvSpPr>
          <p:cNvPr id="5" name="Shape 3"/>
          <p:cNvSpPr/>
          <p:nvPr/>
        </p:nvSpPr>
        <p:spPr>
          <a:xfrm>
            <a:off x="365760" y="1097280"/>
            <a:ext cx="73152" cy="777240"/>
          </a:xfrm>
          <a:prstGeom prst="rect">
            <a:avLst/>
          </a:prstGeom>
          <a:solidFill>
            <a:srgbClr val="6B7280"/>
          </a:solidFill>
          <a:ln/>
        </p:spPr>
        <p:txBody>
          <a:bodyPr/>
          <a:lstStyle/>
          <a:p>
            <a:endParaRPr lang="en-US"/>
          </a:p>
        </p:txBody>
      </p:sp>
      <p:sp>
        <p:nvSpPr>
          <p:cNvPr id="6" name="Text 4"/>
          <p:cNvSpPr/>
          <p:nvPr/>
        </p:nvSpPr>
        <p:spPr>
          <a:xfrm>
            <a:off x="548640" y="1097280"/>
            <a:ext cx="320040" cy="777240"/>
          </a:xfrm>
          <a:prstGeom prst="rect">
            <a:avLst/>
          </a:prstGeom>
          <a:noFill/>
          <a:ln/>
        </p:spPr>
        <p:txBody>
          <a:bodyPr wrap="square" lIns="0" tIns="0" rIns="0" bIns="0" rtlCol="0" anchor="ctr"/>
          <a:lstStyle/>
          <a:p>
            <a:pPr marL="0" indent="0">
              <a:buNone/>
            </a:pPr>
            <a:r>
              <a:rPr lang="en-US" sz="1800" b="1" dirty="0">
                <a:solidFill>
                  <a:srgbClr val="6B7280"/>
                </a:solidFill>
              </a:rPr>
              <a:t>1</a:t>
            </a:r>
            <a:endParaRPr lang="en-US" sz="1800" dirty="0"/>
          </a:p>
        </p:txBody>
      </p:sp>
      <p:sp>
        <p:nvSpPr>
          <p:cNvPr id="7" name="Text 5"/>
          <p:cNvSpPr/>
          <p:nvPr/>
        </p:nvSpPr>
        <p:spPr>
          <a:xfrm>
            <a:off x="1005840" y="1170432"/>
            <a:ext cx="3200400" cy="274320"/>
          </a:xfrm>
          <a:prstGeom prst="rect">
            <a:avLst/>
          </a:prstGeom>
          <a:noFill/>
          <a:ln/>
        </p:spPr>
        <p:txBody>
          <a:bodyPr wrap="square" lIns="0" tIns="0" rIns="0" bIns="0" rtlCol="0" anchor="ctr"/>
          <a:lstStyle/>
          <a:p>
            <a:pPr marL="0" indent="0">
              <a:buNone/>
            </a:pPr>
            <a:r>
              <a:rPr lang="en-US" sz="1200" b="1" dirty="0">
                <a:solidFill>
                  <a:srgbClr val="2B2B2B"/>
                </a:solidFill>
              </a:rPr>
              <a:t>Core → Core → Core</a:t>
            </a:r>
            <a:endParaRPr lang="en-US" sz="1200" dirty="0"/>
          </a:p>
        </p:txBody>
      </p:sp>
      <p:sp>
        <p:nvSpPr>
          <p:cNvPr id="8" name="Text 6"/>
          <p:cNvSpPr/>
          <p:nvPr/>
        </p:nvSpPr>
        <p:spPr>
          <a:xfrm>
            <a:off x="1005840" y="1444752"/>
            <a:ext cx="4114800" cy="365760"/>
          </a:xfrm>
          <a:prstGeom prst="rect">
            <a:avLst/>
          </a:prstGeom>
          <a:noFill/>
          <a:ln/>
        </p:spPr>
        <p:txBody>
          <a:bodyPr wrap="square" lIns="0" tIns="0" rIns="0" bIns="0" rtlCol="0" anchor="ctr"/>
          <a:lstStyle/>
          <a:p>
            <a:pPr marL="0" indent="0">
              <a:buNone/>
            </a:pPr>
            <a:r>
              <a:rPr lang="en-US" sz="900" dirty="0">
                <a:solidFill>
                  <a:srgbClr val="2B2B2B"/>
                </a:solidFill>
              </a:rPr>
              <a:t>Core merchants. Core products. Billed in Core.</a:t>
            </a:r>
            <a:endParaRPr lang="en-US" sz="900" dirty="0"/>
          </a:p>
        </p:txBody>
      </p:sp>
      <p:sp>
        <p:nvSpPr>
          <p:cNvPr id="9" name="Text 7"/>
          <p:cNvSpPr/>
          <p:nvPr/>
        </p:nvSpPr>
        <p:spPr>
          <a:xfrm>
            <a:off x="5303520" y="1170432"/>
            <a:ext cx="3383280" cy="640080"/>
          </a:xfrm>
          <a:prstGeom prst="rect">
            <a:avLst/>
          </a:prstGeom>
          <a:noFill/>
          <a:ln/>
        </p:spPr>
        <p:txBody>
          <a:bodyPr wrap="square" lIns="0" tIns="0" rIns="0" bIns="0" rtlCol="0" anchor="ctr"/>
          <a:lstStyle/>
          <a:p>
            <a:pPr marL="0" indent="0">
              <a:buNone/>
            </a:pPr>
            <a:r>
              <a:rPr lang="en-US" sz="900" b="1" dirty="0">
                <a:solidFill>
                  <a:srgbClr val="6B7280"/>
                </a:solidFill>
              </a:rPr>
              <a:t>Legacy. Stable. No change until merchant migrates.</a:t>
            </a:r>
            <a:endParaRPr lang="en-US" sz="900" dirty="0"/>
          </a:p>
        </p:txBody>
      </p:sp>
      <p:sp>
        <p:nvSpPr>
          <p:cNvPr id="10" name="Shape 8"/>
          <p:cNvSpPr/>
          <p:nvPr/>
        </p:nvSpPr>
        <p:spPr>
          <a:xfrm>
            <a:off x="365760" y="2011680"/>
            <a:ext cx="8412480" cy="777240"/>
          </a:xfrm>
          <a:prstGeom prst="rect">
            <a:avLst/>
          </a:prstGeom>
          <a:solidFill>
            <a:srgbClr val="FCEBEB"/>
          </a:solidFill>
          <a:ln/>
        </p:spPr>
        <p:txBody>
          <a:bodyPr/>
          <a:lstStyle/>
          <a:p>
            <a:endParaRPr lang="en-US"/>
          </a:p>
        </p:txBody>
      </p:sp>
      <p:sp>
        <p:nvSpPr>
          <p:cNvPr id="11" name="Shape 9"/>
          <p:cNvSpPr/>
          <p:nvPr/>
        </p:nvSpPr>
        <p:spPr>
          <a:xfrm>
            <a:off x="365760" y="2011680"/>
            <a:ext cx="73152" cy="777240"/>
          </a:xfrm>
          <a:prstGeom prst="rect">
            <a:avLst/>
          </a:prstGeom>
          <a:solidFill>
            <a:srgbClr val="A32D2D"/>
          </a:solidFill>
          <a:ln/>
        </p:spPr>
        <p:txBody>
          <a:bodyPr/>
          <a:lstStyle/>
          <a:p>
            <a:endParaRPr lang="en-US"/>
          </a:p>
        </p:txBody>
      </p:sp>
      <p:sp>
        <p:nvSpPr>
          <p:cNvPr id="12" name="Text 10"/>
          <p:cNvSpPr/>
          <p:nvPr/>
        </p:nvSpPr>
        <p:spPr>
          <a:xfrm>
            <a:off x="548640" y="2011680"/>
            <a:ext cx="320040" cy="777240"/>
          </a:xfrm>
          <a:prstGeom prst="rect">
            <a:avLst/>
          </a:prstGeom>
          <a:noFill/>
          <a:ln/>
        </p:spPr>
        <p:txBody>
          <a:bodyPr wrap="square" lIns="0" tIns="0" rIns="0" bIns="0" rtlCol="0" anchor="ctr"/>
          <a:lstStyle/>
          <a:p>
            <a:pPr marL="0" indent="0">
              <a:buNone/>
            </a:pPr>
            <a:r>
              <a:rPr lang="en-US" sz="1800" b="1" dirty="0">
                <a:solidFill>
                  <a:srgbClr val="A32D2D"/>
                </a:solidFill>
              </a:rPr>
              <a:t>2</a:t>
            </a:r>
            <a:endParaRPr lang="en-US" sz="1800" dirty="0"/>
          </a:p>
        </p:txBody>
      </p:sp>
      <p:sp>
        <p:nvSpPr>
          <p:cNvPr id="13" name="Text 11"/>
          <p:cNvSpPr/>
          <p:nvPr/>
        </p:nvSpPr>
        <p:spPr>
          <a:xfrm>
            <a:off x="1005840" y="2084832"/>
            <a:ext cx="3200400" cy="274320"/>
          </a:xfrm>
          <a:prstGeom prst="rect">
            <a:avLst/>
          </a:prstGeom>
          <a:noFill/>
          <a:ln/>
        </p:spPr>
        <p:txBody>
          <a:bodyPr wrap="square" lIns="0" tIns="0" rIns="0" bIns="0" rtlCol="0" anchor="ctr"/>
          <a:lstStyle/>
          <a:p>
            <a:pPr marL="0" indent="0">
              <a:buNone/>
            </a:pPr>
            <a:r>
              <a:rPr lang="en-US" sz="1200" b="1" dirty="0">
                <a:solidFill>
                  <a:srgbClr val="2B2B2B"/>
                </a:solidFill>
              </a:rPr>
              <a:t>Commerce → ETL → Core</a:t>
            </a:r>
            <a:endParaRPr lang="en-US" sz="1200" dirty="0"/>
          </a:p>
        </p:txBody>
      </p:sp>
      <p:sp>
        <p:nvSpPr>
          <p:cNvPr id="14" name="Text 12"/>
          <p:cNvSpPr/>
          <p:nvPr/>
        </p:nvSpPr>
        <p:spPr>
          <a:xfrm>
            <a:off x="1005840" y="2359152"/>
            <a:ext cx="4114800" cy="365760"/>
          </a:xfrm>
          <a:prstGeom prst="rect">
            <a:avLst/>
          </a:prstGeom>
          <a:noFill/>
          <a:ln/>
        </p:spPr>
        <p:txBody>
          <a:bodyPr wrap="square" lIns="0" tIns="0" rIns="0" bIns="0" rtlCol="0" anchor="ctr"/>
          <a:lstStyle/>
          <a:p>
            <a:pPr marL="0" indent="0">
              <a:buNone/>
            </a:pPr>
            <a:r>
              <a:rPr lang="en-US" sz="900" dirty="0">
                <a:solidFill>
                  <a:srgbClr val="2B2B2B"/>
                </a:solidFill>
              </a:rPr>
              <a:t>Commerce products. Billing pushed via brittle ETL jobs to Core.</a:t>
            </a:r>
            <a:endParaRPr lang="en-US" sz="900" dirty="0"/>
          </a:p>
        </p:txBody>
      </p:sp>
      <p:sp>
        <p:nvSpPr>
          <p:cNvPr id="15" name="Text 13"/>
          <p:cNvSpPr/>
          <p:nvPr/>
        </p:nvSpPr>
        <p:spPr>
          <a:xfrm>
            <a:off x="5303520" y="2084832"/>
            <a:ext cx="3383280" cy="640080"/>
          </a:xfrm>
          <a:prstGeom prst="rect">
            <a:avLst/>
          </a:prstGeom>
          <a:noFill/>
          <a:ln/>
        </p:spPr>
        <p:txBody>
          <a:bodyPr wrap="square" lIns="0" tIns="0" rIns="0" bIns="0" rtlCol="0" anchor="ctr"/>
          <a:lstStyle/>
          <a:p>
            <a:pPr marL="0" indent="0">
              <a:buNone/>
            </a:pPr>
            <a:r>
              <a:rPr lang="en-US" sz="900" b="1" dirty="0">
                <a:solidFill>
                  <a:srgbClr val="A32D2D"/>
                </a:solidFill>
              </a:rPr>
              <a:t>Being replaced. Hacky, manual, doesn’t scale. VAS is the long pole.</a:t>
            </a:r>
            <a:endParaRPr lang="en-US" sz="900" dirty="0"/>
          </a:p>
        </p:txBody>
      </p:sp>
      <p:sp>
        <p:nvSpPr>
          <p:cNvPr id="16" name="Shape 14"/>
          <p:cNvSpPr/>
          <p:nvPr/>
        </p:nvSpPr>
        <p:spPr>
          <a:xfrm>
            <a:off x="365760" y="2926080"/>
            <a:ext cx="8412480" cy="777240"/>
          </a:xfrm>
          <a:prstGeom prst="rect">
            <a:avLst/>
          </a:prstGeom>
          <a:solidFill>
            <a:srgbClr val="FFF2CC"/>
          </a:solidFill>
          <a:ln/>
        </p:spPr>
        <p:txBody>
          <a:bodyPr/>
          <a:lstStyle/>
          <a:p>
            <a:endParaRPr lang="en-US"/>
          </a:p>
        </p:txBody>
      </p:sp>
      <p:sp>
        <p:nvSpPr>
          <p:cNvPr id="17" name="Shape 15"/>
          <p:cNvSpPr/>
          <p:nvPr/>
        </p:nvSpPr>
        <p:spPr>
          <a:xfrm>
            <a:off x="365760" y="2926080"/>
            <a:ext cx="73152" cy="777240"/>
          </a:xfrm>
          <a:prstGeom prst="rect">
            <a:avLst/>
          </a:prstGeom>
          <a:solidFill>
            <a:srgbClr val="854F0B"/>
          </a:solidFill>
          <a:ln/>
        </p:spPr>
        <p:txBody>
          <a:bodyPr/>
          <a:lstStyle/>
          <a:p>
            <a:endParaRPr lang="en-US"/>
          </a:p>
        </p:txBody>
      </p:sp>
      <p:sp>
        <p:nvSpPr>
          <p:cNvPr id="18" name="Text 16"/>
          <p:cNvSpPr/>
          <p:nvPr/>
        </p:nvSpPr>
        <p:spPr>
          <a:xfrm>
            <a:off x="548640" y="2926080"/>
            <a:ext cx="320040" cy="777240"/>
          </a:xfrm>
          <a:prstGeom prst="rect">
            <a:avLst/>
          </a:prstGeom>
          <a:noFill/>
          <a:ln/>
        </p:spPr>
        <p:txBody>
          <a:bodyPr wrap="square" lIns="0" tIns="0" rIns="0" bIns="0" rtlCol="0" anchor="ctr"/>
          <a:lstStyle/>
          <a:p>
            <a:pPr marL="0" indent="0">
              <a:buNone/>
            </a:pPr>
            <a:r>
              <a:rPr lang="en-US" sz="1800" b="1" dirty="0">
                <a:solidFill>
                  <a:srgbClr val="854F0B"/>
                </a:solidFill>
              </a:rPr>
              <a:t>3</a:t>
            </a:r>
            <a:endParaRPr lang="en-US" sz="1800" dirty="0"/>
          </a:p>
        </p:txBody>
      </p:sp>
      <p:sp>
        <p:nvSpPr>
          <p:cNvPr id="19" name="Text 17"/>
          <p:cNvSpPr/>
          <p:nvPr/>
        </p:nvSpPr>
        <p:spPr>
          <a:xfrm>
            <a:off x="1005840" y="2999232"/>
            <a:ext cx="3200400" cy="274320"/>
          </a:xfrm>
          <a:prstGeom prst="rect">
            <a:avLst/>
          </a:prstGeom>
          <a:noFill/>
          <a:ln/>
        </p:spPr>
        <p:txBody>
          <a:bodyPr wrap="square" lIns="0" tIns="0" rIns="0" bIns="0" rtlCol="0" anchor="ctr"/>
          <a:lstStyle/>
          <a:p>
            <a:pPr marL="0" indent="0">
              <a:buNone/>
            </a:pPr>
            <a:r>
              <a:rPr lang="en-US" sz="1200" b="1" dirty="0">
                <a:solidFill>
                  <a:srgbClr val="2B2B2B"/>
                </a:solidFill>
              </a:rPr>
              <a:t>Commerce → Funding Hub → Core</a:t>
            </a:r>
            <a:endParaRPr lang="en-US" sz="1200" dirty="0"/>
          </a:p>
        </p:txBody>
      </p:sp>
      <p:sp>
        <p:nvSpPr>
          <p:cNvPr id="20" name="Text 18"/>
          <p:cNvSpPr/>
          <p:nvPr/>
        </p:nvSpPr>
        <p:spPr>
          <a:xfrm>
            <a:off x="1005840" y="3273552"/>
            <a:ext cx="4114800" cy="365760"/>
          </a:xfrm>
          <a:prstGeom prst="rect">
            <a:avLst/>
          </a:prstGeom>
          <a:noFill/>
          <a:ln/>
        </p:spPr>
        <p:txBody>
          <a:bodyPr wrap="square" lIns="0" tIns="0" rIns="0" bIns="0" rtlCol="0" anchor="ctr"/>
          <a:lstStyle/>
          <a:p>
            <a:pPr marL="0" indent="0">
              <a:buNone/>
            </a:pPr>
            <a:r>
              <a:rPr lang="en-US" sz="900" dirty="0">
                <a:solidFill>
                  <a:srgbClr val="2B2B2B"/>
                </a:solidFill>
              </a:rPr>
              <a:t>Commerce products. Funding Hub qualifies events, pushes to ITSettlement for Core billing.</a:t>
            </a:r>
            <a:endParaRPr lang="en-US" sz="900" dirty="0"/>
          </a:p>
        </p:txBody>
      </p:sp>
      <p:sp>
        <p:nvSpPr>
          <p:cNvPr id="21" name="Text 19"/>
          <p:cNvSpPr/>
          <p:nvPr/>
        </p:nvSpPr>
        <p:spPr>
          <a:xfrm>
            <a:off x="5303520" y="2999232"/>
            <a:ext cx="3383280" cy="640080"/>
          </a:xfrm>
          <a:prstGeom prst="rect">
            <a:avLst/>
          </a:prstGeom>
          <a:noFill/>
          <a:ln/>
        </p:spPr>
        <p:txBody>
          <a:bodyPr wrap="square" lIns="0" tIns="0" rIns="0" bIns="0" rtlCol="0" anchor="ctr"/>
          <a:lstStyle/>
          <a:p>
            <a:pPr marL="0" indent="0">
              <a:buNone/>
            </a:pPr>
            <a:r>
              <a:rPr lang="en-US" sz="900" b="1" dirty="0">
                <a:solidFill>
                  <a:srgbClr val="854F0B"/>
                </a:solidFill>
              </a:rPr>
              <a:t>Intermediate. Replaces ETL. Cleaner. Stays while merchants bill in Core.</a:t>
            </a:r>
            <a:endParaRPr lang="en-US" sz="900" dirty="0"/>
          </a:p>
        </p:txBody>
      </p:sp>
      <p:sp>
        <p:nvSpPr>
          <p:cNvPr id="22" name="Shape 20"/>
          <p:cNvSpPr/>
          <p:nvPr/>
        </p:nvSpPr>
        <p:spPr>
          <a:xfrm>
            <a:off x="365760" y="3840480"/>
            <a:ext cx="8412480" cy="777240"/>
          </a:xfrm>
          <a:prstGeom prst="rect">
            <a:avLst/>
          </a:prstGeom>
          <a:solidFill>
            <a:srgbClr val="E1F5EE"/>
          </a:solidFill>
          <a:ln/>
        </p:spPr>
        <p:txBody>
          <a:bodyPr/>
          <a:lstStyle/>
          <a:p>
            <a:endParaRPr lang="en-US"/>
          </a:p>
        </p:txBody>
      </p:sp>
      <p:sp>
        <p:nvSpPr>
          <p:cNvPr id="23" name="Shape 21"/>
          <p:cNvSpPr/>
          <p:nvPr/>
        </p:nvSpPr>
        <p:spPr>
          <a:xfrm>
            <a:off x="365760" y="3840480"/>
            <a:ext cx="73152" cy="777240"/>
          </a:xfrm>
          <a:prstGeom prst="rect">
            <a:avLst/>
          </a:prstGeom>
          <a:solidFill>
            <a:srgbClr val="0F6E56"/>
          </a:solidFill>
          <a:ln/>
        </p:spPr>
        <p:txBody>
          <a:bodyPr/>
          <a:lstStyle/>
          <a:p>
            <a:endParaRPr lang="en-US"/>
          </a:p>
        </p:txBody>
      </p:sp>
      <p:sp>
        <p:nvSpPr>
          <p:cNvPr id="24" name="Text 22"/>
          <p:cNvSpPr/>
          <p:nvPr/>
        </p:nvSpPr>
        <p:spPr>
          <a:xfrm>
            <a:off x="548640" y="3840480"/>
            <a:ext cx="320040" cy="777240"/>
          </a:xfrm>
          <a:prstGeom prst="rect">
            <a:avLst/>
          </a:prstGeom>
          <a:noFill/>
          <a:ln/>
        </p:spPr>
        <p:txBody>
          <a:bodyPr wrap="square" lIns="0" tIns="0" rIns="0" bIns="0" rtlCol="0" anchor="ctr"/>
          <a:lstStyle/>
          <a:p>
            <a:pPr marL="0" indent="0">
              <a:buNone/>
            </a:pPr>
            <a:r>
              <a:rPr lang="en-US" sz="1800" b="1" dirty="0">
                <a:solidFill>
                  <a:srgbClr val="0F6E56"/>
                </a:solidFill>
              </a:rPr>
              <a:t>4</a:t>
            </a:r>
            <a:endParaRPr lang="en-US" sz="1800" dirty="0"/>
          </a:p>
        </p:txBody>
      </p:sp>
      <p:sp>
        <p:nvSpPr>
          <p:cNvPr id="25" name="Text 23"/>
          <p:cNvSpPr/>
          <p:nvPr/>
        </p:nvSpPr>
        <p:spPr>
          <a:xfrm>
            <a:off x="1005840" y="3913632"/>
            <a:ext cx="3200400" cy="274320"/>
          </a:xfrm>
          <a:prstGeom prst="rect">
            <a:avLst/>
          </a:prstGeom>
          <a:noFill/>
          <a:ln/>
        </p:spPr>
        <p:txBody>
          <a:bodyPr wrap="square" lIns="0" tIns="0" rIns="0" bIns="0" rtlCol="0" anchor="ctr"/>
          <a:lstStyle/>
          <a:p>
            <a:pPr marL="0" indent="0">
              <a:buNone/>
            </a:pPr>
            <a:r>
              <a:rPr lang="en-US" sz="1200" b="1" dirty="0">
                <a:solidFill>
                  <a:srgbClr val="2B2B2B"/>
                </a:solidFill>
              </a:rPr>
              <a:t>Commerce → Commerce → Commerce</a:t>
            </a:r>
            <a:endParaRPr lang="en-US" sz="1200" dirty="0"/>
          </a:p>
        </p:txBody>
      </p:sp>
      <p:sp>
        <p:nvSpPr>
          <p:cNvPr id="26" name="Text 24"/>
          <p:cNvSpPr/>
          <p:nvPr/>
        </p:nvSpPr>
        <p:spPr>
          <a:xfrm>
            <a:off x="1005840" y="4187952"/>
            <a:ext cx="4114800" cy="365760"/>
          </a:xfrm>
          <a:prstGeom prst="rect">
            <a:avLst/>
          </a:prstGeom>
          <a:noFill/>
          <a:ln/>
        </p:spPr>
        <p:txBody>
          <a:bodyPr wrap="square" lIns="0" tIns="0" rIns="0" bIns="0" rtlCol="0" anchor="ctr"/>
          <a:lstStyle/>
          <a:p>
            <a:pPr marL="0" indent="0">
              <a:buNone/>
            </a:pPr>
            <a:r>
              <a:rPr lang="en-US" sz="900" dirty="0">
                <a:solidFill>
                  <a:srgbClr val="2B2B2B"/>
                </a:solidFill>
              </a:rPr>
              <a:t>Commerce products. Billed natively on Commerce. One qualification engine, one pricing service, one sub-ledger, one dashboard.</a:t>
            </a:r>
            <a:endParaRPr lang="en-US" sz="900" dirty="0"/>
          </a:p>
        </p:txBody>
      </p:sp>
      <p:sp>
        <p:nvSpPr>
          <p:cNvPr id="27" name="Text 25"/>
          <p:cNvSpPr/>
          <p:nvPr/>
        </p:nvSpPr>
        <p:spPr>
          <a:xfrm>
            <a:off x="5303520" y="3913632"/>
            <a:ext cx="3383280" cy="640080"/>
          </a:xfrm>
          <a:prstGeom prst="rect">
            <a:avLst/>
          </a:prstGeom>
          <a:noFill/>
          <a:ln/>
        </p:spPr>
        <p:txBody>
          <a:bodyPr wrap="square" lIns="0" tIns="0" rIns="0" bIns="0" rtlCol="0" anchor="ctr"/>
          <a:lstStyle/>
          <a:p>
            <a:pPr marL="0" indent="0">
              <a:buNone/>
            </a:pPr>
            <a:r>
              <a:rPr lang="en-US" sz="900" b="1" dirty="0">
                <a:solidFill>
                  <a:srgbClr val="0F6E56"/>
                </a:solidFill>
              </a:rPr>
              <a:t>Target. Product defines SC + qualification + rate. Platform handles the rest.</a:t>
            </a:r>
            <a:endParaRPr lang="en-US" sz="900" dirty="0"/>
          </a:p>
        </p:txBody>
      </p:sp>
      <p:sp>
        <p:nvSpPr>
          <p:cNvPr id="28" name="Text 26"/>
          <p:cNvSpPr/>
          <p:nvPr/>
        </p:nvSpPr>
        <p:spPr>
          <a:xfrm>
            <a:off x="548640" y="4709160"/>
            <a:ext cx="8229600" cy="274320"/>
          </a:xfrm>
          <a:prstGeom prst="rect">
            <a:avLst/>
          </a:prstGeom>
          <a:noFill/>
          <a:ln/>
        </p:spPr>
        <p:txBody>
          <a:bodyPr wrap="square" lIns="0" tIns="0" rIns="0" bIns="0" rtlCol="0" anchor="ctr"/>
          <a:lstStyle/>
          <a:p>
            <a:pPr marL="0" indent="0">
              <a:buNone/>
            </a:pPr>
            <a:r>
              <a:rPr lang="en-US" sz="800" dirty="0">
                <a:solidFill>
                  <a:srgbClr val="5A5A5A"/>
                </a:solidFill>
              </a:rPr>
              <a:t>Model 2 → replaced by Model 3 (Funding Hub)  |  Model 3 → migrates to Model 4 (native Commerce)  |  Model 1 → converges as merchants move to Commerce</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320040"/>
          </a:xfrm>
          <a:prstGeom prst="rect">
            <a:avLst/>
          </a:prstGeom>
          <a:noFill/>
          <a:ln/>
        </p:spPr>
        <p:txBody>
          <a:bodyPr wrap="square" lIns="0" tIns="0" rIns="0" bIns="0" rtlCol="0" anchor="ctr"/>
          <a:lstStyle/>
          <a:p>
            <a:pPr marL="0" indent="0">
              <a:buNone/>
            </a:pPr>
            <a:r>
              <a:rPr lang="en-US" sz="2200" b="1" dirty="0">
                <a:solidFill>
                  <a:srgbClr val="1E2761"/>
                </a:solidFill>
              </a:rPr>
              <a:t>Monetization roadmap</a:t>
            </a:r>
            <a:endParaRPr lang="en-US" sz="2200" dirty="0"/>
          </a:p>
        </p:txBody>
      </p:sp>
      <p:sp>
        <p:nvSpPr>
          <p:cNvPr id="3" name="Text 1"/>
          <p:cNvSpPr/>
          <p:nvPr/>
        </p:nvSpPr>
        <p:spPr>
          <a:xfrm>
            <a:off x="548640" y="411480"/>
            <a:ext cx="8229600" cy="228600"/>
          </a:xfrm>
          <a:prstGeom prst="rect">
            <a:avLst/>
          </a:prstGeom>
          <a:noFill/>
          <a:ln/>
        </p:spPr>
        <p:txBody>
          <a:bodyPr wrap="square" lIns="0" tIns="0" rIns="0" bIns="0" rtlCol="0" anchor="ctr"/>
          <a:lstStyle/>
          <a:p>
            <a:pPr marL="0" indent="0">
              <a:buNone/>
            </a:pPr>
            <a:r>
              <a:rPr lang="en-US" sz="800" dirty="0">
                <a:solidFill>
                  <a:srgbClr val="5A5A5A"/>
                </a:solidFill>
              </a:rPr>
              <a:t>The real work is building qualification pipelines that consume product events and route them to the pricing engine — rate lines are configuration entries. Three parallel tracks: product qualification, monetization depth, and brand fee capture.</a:t>
            </a:r>
            <a:endParaRPr lang="en-US" sz="800" dirty="0"/>
          </a:p>
        </p:txBody>
      </p:sp>
      <p:sp>
        <p:nvSpPr>
          <p:cNvPr id="4" name="Shape 2"/>
          <p:cNvSpPr/>
          <p:nvPr/>
        </p:nvSpPr>
        <p:spPr>
          <a:xfrm>
            <a:off x="2103120" y="685800"/>
            <a:ext cx="834390" cy="164592"/>
          </a:xfrm>
          <a:prstGeom prst="rect">
            <a:avLst/>
          </a:prstGeom>
          <a:solidFill>
            <a:srgbClr val="1E2761"/>
          </a:solidFill>
          <a:ln/>
        </p:spPr>
        <p:txBody>
          <a:bodyPr/>
          <a:lstStyle/>
          <a:p>
            <a:endParaRPr lang="en-US"/>
          </a:p>
        </p:txBody>
      </p:sp>
      <p:sp>
        <p:nvSpPr>
          <p:cNvPr id="5" name="Text 3"/>
          <p:cNvSpPr/>
          <p:nvPr/>
        </p:nvSpPr>
        <p:spPr>
          <a:xfrm>
            <a:off x="2103120" y="685800"/>
            <a:ext cx="834390" cy="164592"/>
          </a:xfrm>
          <a:prstGeom prst="rect">
            <a:avLst/>
          </a:prstGeom>
          <a:noFill/>
          <a:ln/>
        </p:spPr>
        <p:txBody>
          <a:bodyPr wrap="square" rtlCol="0" anchor="ctr"/>
          <a:lstStyle/>
          <a:p>
            <a:pPr marL="0" indent="0" algn="ctr">
              <a:buNone/>
            </a:pPr>
            <a:r>
              <a:rPr lang="en-US" sz="600" b="1" dirty="0">
                <a:solidFill>
                  <a:srgbClr val="FFFFFF"/>
                </a:solidFill>
              </a:rPr>
              <a:t>Q1'26</a:t>
            </a:r>
            <a:endParaRPr lang="en-US" sz="600" dirty="0"/>
          </a:p>
        </p:txBody>
      </p:sp>
      <p:sp>
        <p:nvSpPr>
          <p:cNvPr id="6" name="Shape 4"/>
          <p:cNvSpPr/>
          <p:nvPr/>
        </p:nvSpPr>
        <p:spPr>
          <a:xfrm>
            <a:off x="2937510" y="685800"/>
            <a:ext cx="834390" cy="164592"/>
          </a:xfrm>
          <a:prstGeom prst="rect">
            <a:avLst/>
          </a:prstGeom>
          <a:solidFill>
            <a:srgbClr val="1E2761"/>
          </a:solidFill>
          <a:ln/>
        </p:spPr>
        <p:txBody>
          <a:bodyPr/>
          <a:lstStyle/>
          <a:p>
            <a:endParaRPr lang="en-US"/>
          </a:p>
        </p:txBody>
      </p:sp>
      <p:sp>
        <p:nvSpPr>
          <p:cNvPr id="7" name="Text 5"/>
          <p:cNvSpPr/>
          <p:nvPr/>
        </p:nvSpPr>
        <p:spPr>
          <a:xfrm>
            <a:off x="2937510" y="685800"/>
            <a:ext cx="834390" cy="164592"/>
          </a:xfrm>
          <a:prstGeom prst="rect">
            <a:avLst/>
          </a:prstGeom>
          <a:noFill/>
          <a:ln/>
        </p:spPr>
        <p:txBody>
          <a:bodyPr wrap="square" rtlCol="0" anchor="ctr"/>
          <a:lstStyle/>
          <a:p>
            <a:pPr marL="0" indent="0" algn="ctr">
              <a:buNone/>
            </a:pPr>
            <a:r>
              <a:rPr lang="en-US" sz="600" b="1" dirty="0">
                <a:solidFill>
                  <a:srgbClr val="FFFFFF"/>
                </a:solidFill>
              </a:rPr>
              <a:t>Q2'26</a:t>
            </a:r>
            <a:endParaRPr lang="en-US" sz="600" dirty="0"/>
          </a:p>
        </p:txBody>
      </p:sp>
      <p:sp>
        <p:nvSpPr>
          <p:cNvPr id="8" name="Shape 6"/>
          <p:cNvSpPr/>
          <p:nvPr/>
        </p:nvSpPr>
        <p:spPr>
          <a:xfrm>
            <a:off x="3771900" y="685800"/>
            <a:ext cx="834390" cy="164592"/>
          </a:xfrm>
          <a:prstGeom prst="rect">
            <a:avLst/>
          </a:prstGeom>
          <a:solidFill>
            <a:srgbClr val="1E2761"/>
          </a:solidFill>
          <a:ln/>
        </p:spPr>
        <p:txBody>
          <a:bodyPr/>
          <a:lstStyle/>
          <a:p>
            <a:endParaRPr lang="en-US"/>
          </a:p>
        </p:txBody>
      </p:sp>
      <p:sp>
        <p:nvSpPr>
          <p:cNvPr id="9" name="Text 7"/>
          <p:cNvSpPr/>
          <p:nvPr/>
        </p:nvSpPr>
        <p:spPr>
          <a:xfrm>
            <a:off x="3771900" y="685800"/>
            <a:ext cx="834390" cy="164592"/>
          </a:xfrm>
          <a:prstGeom prst="rect">
            <a:avLst/>
          </a:prstGeom>
          <a:noFill/>
          <a:ln/>
        </p:spPr>
        <p:txBody>
          <a:bodyPr wrap="square" rtlCol="0" anchor="ctr"/>
          <a:lstStyle/>
          <a:p>
            <a:pPr marL="0" indent="0" algn="ctr">
              <a:buNone/>
            </a:pPr>
            <a:r>
              <a:rPr lang="en-US" sz="600" b="1" dirty="0">
                <a:solidFill>
                  <a:srgbClr val="FFFFFF"/>
                </a:solidFill>
              </a:rPr>
              <a:t>Q3'26</a:t>
            </a:r>
            <a:endParaRPr lang="en-US" sz="600" dirty="0"/>
          </a:p>
        </p:txBody>
      </p:sp>
      <p:sp>
        <p:nvSpPr>
          <p:cNvPr id="10" name="Shape 8"/>
          <p:cNvSpPr/>
          <p:nvPr/>
        </p:nvSpPr>
        <p:spPr>
          <a:xfrm>
            <a:off x="4606290" y="685800"/>
            <a:ext cx="834390" cy="164592"/>
          </a:xfrm>
          <a:prstGeom prst="rect">
            <a:avLst/>
          </a:prstGeom>
          <a:solidFill>
            <a:srgbClr val="1E2761"/>
          </a:solidFill>
          <a:ln/>
        </p:spPr>
        <p:txBody>
          <a:bodyPr/>
          <a:lstStyle/>
          <a:p>
            <a:endParaRPr lang="en-US"/>
          </a:p>
        </p:txBody>
      </p:sp>
      <p:sp>
        <p:nvSpPr>
          <p:cNvPr id="11" name="Text 9"/>
          <p:cNvSpPr/>
          <p:nvPr/>
        </p:nvSpPr>
        <p:spPr>
          <a:xfrm>
            <a:off x="4606290" y="685800"/>
            <a:ext cx="834390" cy="164592"/>
          </a:xfrm>
          <a:prstGeom prst="rect">
            <a:avLst/>
          </a:prstGeom>
          <a:noFill/>
          <a:ln/>
        </p:spPr>
        <p:txBody>
          <a:bodyPr wrap="square" rtlCol="0" anchor="ctr"/>
          <a:lstStyle/>
          <a:p>
            <a:pPr marL="0" indent="0" algn="ctr">
              <a:buNone/>
            </a:pPr>
            <a:r>
              <a:rPr lang="en-US" sz="600" b="1" dirty="0">
                <a:solidFill>
                  <a:srgbClr val="FFFFFF"/>
                </a:solidFill>
              </a:rPr>
              <a:t>Q4'26</a:t>
            </a:r>
            <a:endParaRPr lang="en-US" sz="600" dirty="0"/>
          </a:p>
        </p:txBody>
      </p:sp>
      <p:sp>
        <p:nvSpPr>
          <p:cNvPr id="12" name="Shape 10"/>
          <p:cNvSpPr/>
          <p:nvPr/>
        </p:nvSpPr>
        <p:spPr>
          <a:xfrm>
            <a:off x="5440680" y="685800"/>
            <a:ext cx="834390" cy="164592"/>
          </a:xfrm>
          <a:prstGeom prst="rect">
            <a:avLst/>
          </a:prstGeom>
          <a:solidFill>
            <a:srgbClr val="1E2761"/>
          </a:solidFill>
          <a:ln/>
        </p:spPr>
        <p:txBody>
          <a:bodyPr/>
          <a:lstStyle/>
          <a:p>
            <a:endParaRPr lang="en-US"/>
          </a:p>
        </p:txBody>
      </p:sp>
      <p:sp>
        <p:nvSpPr>
          <p:cNvPr id="13" name="Text 11"/>
          <p:cNvSpPr/>
          <p:nvPr/>
        </p:nvSpPr>
        <p:spPr>
          <a:xfrm>
            <a:off x="5440680" y="685800"/>
            <a:ext cx="834390" cy="164592"/>
          </a:xfrm>
          <a:prstGeom prst="rect">
            <a:avLst/>
          </a:prstGeom>
          <a:noFill/>
          <a:ln/>
        </p:spPr>
        <p:txBody>
          <a:bodyPr wrap="square" rtlCol="0" anchor="ctr"/>
          <a:lstStyle/>
          <a:p>
            <a:pPr marL="0" indent="0" algn="ctr">
              <a:buNone/>
            </a:pPr>
            <a:r>
              <a:rPr lang="en-US" sz="600" b="1" dirty="0">
                <a:solidFill>
                  <a:srgbClr val="FFFFFF"/>
                </a:solidFill>
              </a:rPr>
              <a:t>Q1'27</a:t>
            </a:r>
            <a:endParaRPr lang="en-US" sz="600" dirty="0"/>
          </a:p>
        </p:txBody>
      </p:sp>
      <p:sp>
        <p:nvSpPr>
          <p:cNvPr id="14" name="Shape 12"/>
          <p:cNvSpPr/>
          <p:nvPr/>
        </p:nvSpPr>
        <p:spPr>
          <a:xfrm>
            <a:off x="6275070" y="685800"/>
            <a:ext cx="834390" cy="164592"/>
          </a:xfrm>
          <a:prstGeom prst="rect">
            <a:avLst/>
          </a:prstGeom>
          <a:solidFill>
            <a:srgbClr val="1E2761"/>
          </a:solidFill>
          <a:ln/>
        </p:spPr>
        <p:txBody>
          <a:bodyPr/>
          <a:lstStyle/>
          <a:p>
            <a:endParaRPr lang="en-US"/>
          </a:p>
        </p:txBody>
      </p:sp>
      <p:sp>
        <p:nvSpPr>
          <p:cNvPr id="15" name="Text 13"/>
          <p:cNvSpPr/>
          <p:nvPr/>
        </p:nvSpPr>
        <p:spPr>
          <a:xfrm>
            <a:off x="6275070" y="685800"/>
            <a:ext cx="834390" cy="164592"/>
          </a:xfrm>
          <a:prstGeom prst="rect">
            <a:avLst/>
          </a:prstGeom>
          <a:noFill/>
          <a:ln/>
        </p:spPr>
        <p:txBody>
          <a:bodyPr wrap="square" rtlCol="0" anchor="ctr"/>
          <a:lstStyle/>
          <a:p>
            <a:pPr marL="0" indent="0" algn="ctr">
              <a:buNone/>
            </a:pPr>
            <a:r>
              <a:rPr lang="en-US" sz="600" b="1" dirty="0">
                <a:solidFill>
                  <a:srgbClr val="FFFFFF"/>
                </a:solidFill>
              </a:rPr>
              <a:t>Q2'27</a:t>
            </a:r>
            <a:endParaRPr lang="en-US" sz="600" dirty="0"/>
          </a:p>
        </p:txBody>
      </p:sp>
      <p:sp>
        <p:nvSpPr>
          <p:cNvPr id="16" name="Shape 14"/>
          <p:cNvSpPr/>
          <p:nvPr/>
        </p:nvSpPr>
        <p:spPr>
          <a:xfrm>
            <a:off x="7109460" y="685800"/>
            <a:ext cx="834390" cy="164592"/>
          </a:xfrm>
          <a:prstGeom prst="rect">
            <a:avLst/>
          </a:prstGeom>
          <a:solidFill>
            <a:srgbClr val="1E2761"/>
          </a:solidFill>
          <a:ln/>
        </p:spPr>
        <p:txBody>
          <a:bodyPr/>
          <a:lstStyle/>
          <a:p>
            <a:endParaRPr lang="en-US"/>
          </a:p>
        </p:txBody>
      </p:sp>
      <p:sp>
        <p:nvSpPr>
          <p:cNvPr id="17" name="Text 15"/>
          <p:cNvSpPr/>
          <p:nvPr/>
        </p:nvSpPr>
        <p:spPr>
          <a:xfrm>
            <a:off x="7109460" y="685800"/>
            <a:ext cx="834390" cy="164592"/>
          </a:xfrm>
          <a:prstGeom prst="rect">
            <a:avLst/>
          </a:prstGeom>
          <a:noFill/>
          <a:ln/>
        </p:spPr>
        <p:txBody>
          <a:bodyPr wrap="square" rtlCol="0" anchor="ctr"/>
          <a:lstStyle/>
          <a:p>
            <a:pPr marL="0" indent="0" algn="ctr">
              <a:buNone/>
            </a:pPr>
            <a:r>
              <a:rPr lang="en-US" sz="600" b="1" dirty="0">
                <a:solidFill>
                  <a:srgbClr val="FFFFFF"/>
                </a:solidFill>
              </a:rPr>
              <a:t>Q3'27</a:t>
            </a:r>
            <a:endParaRPr lang="en-US" sz="600" dirty="0"/>
          </a:p>
        </p:txBody>
      </p:sp>
      <p:sp>
        <p:nvSpPr>
          <p:cNvPr id="18" name="Shape 16"/>
          <p:cNvSpPr/>
          <p:nvPr/>
        </p:nvSpPr>
        <p:spPr>
          <a:xfrm>
            <a:off x="7943850" y="685800"/>
            <a:ext cx="834390" cy="164592"/>
          </a:xfrm>
          <a:prstGeom prst="rect">
            <a:avLst/>
          </a:prstGeom>
          <a:solidFill>
            <a:srgbClr val="1E2761"/>
          </a:solidFill>
          <a:ln/>
        </p:spPr>
        <p:txBody>
          <a:bodyPr/>
          <a:lstStyle/>
          <a:p>
            <a:endParaRPr lang="en-US"/>
          </a:p>
        </p:txBody>
      </p:sp>
      <p:sp>
        <p:nvSpPr>
          <p:cNvPr id="19" name="Text 17"/>
          <p:cNvSpPr/>
          <p:nvPr/>
        </p:nvSpPr>
        <p:spPr>
          <a:xfrm>
            <a:off x="7943850" y="685800"/>
            <a:ext cx="834390" cy="164592"/>
          </a:xfrm>
          <a:prstGeom prst="rect">
            <a:avLst/>
          </a:prstGeom>
          <a:noFill/>
          <a:ln/>
        </p:spPr>
        <p:txBody>
          <a:bodyPr wrap="square" rtlCol="0" anchor="ctr"/>
          <a:lstStyle/>
          <a:p>
            <a:pPr marL="0" indent="0" algn="ctr">
              <a:buNone/>
            </a:pPr>
            <a:r>
              <a:rPr lang="en-US" sz="600" b="1" dirty="0">
                <a:solidFill>
                  <a:srgbClr val="FFFFFF"/>
                </a:solidFill>
              </a:rPr>
              <a:t>Q4'27</a:t>
            </a:r>
            <a:endParaRPr lang="en-US" sz="600" dirty="0"/>
          </a:p>
        </p:txBody>
      </p:sp>
      <p:sp>
        <p:nvSpPr>
          <p:cNvPr id="20" name="Shape 18"/>
          <p:cNvSpPr/>
          <p:nvPr/>
        </p:nvSpPr>
        <p:spPr>
          <a:xfrm>
            <a:off x="2103120" y="850392"/>
            <a:ext cx="0" cy="4206240"/>
          </a:xfrm>
          <a:prstGeom prst="line">
            <a:avLst/>
          </a:prstGeom>
          <a:noFill/>
          <a:ln w="6350">
            <a:solidFill>
              <a:srgbClr val="E8E8E8"/>
            </a:solidFill>
            <a:prstDash val="solid"/>
          </a:ln>
        </p:spPr>
        <p:txBody>
          <a:bodyPr/>
          <a:lstStyle/>
          <a:p>
            <a:endParaRPr lang="en-US"/>
          </a:p>
        </p:txBody>
      </p:sp>
      <p:sp>
        <p:nvSpPr>
          <p:cNvPr id="21" name="Shape 19"/>
          <p:cNvSpPr/>
          <p:nvPr/>
        </p:nvSpPr>
        <p:spPr>
          <a:xfrm>
            <a:off x="2937510" y="850392"/>
            <a:ext cx="0" cy="4206240"/>
          </a:xfrm>
          <a:prstGeom prst="line">
            <a:avLst/>
          </a:prstGeom>
          <a:noFill/>
          <a:ln w="6350">
            <a:solidFill>
              <a:srgbClr val="E8E8E8"/>
            </a:solidFill>
            <a:prstDash val="solid"/>
          </a:ln>
        </p:spPr>
        <p:txBody>
          <a:bodyPr/>
          <a:lstStyle/>
          <a:p>
            <a:endParaRPr lang="en-US"/>
          </a:p>
        </p:txBody>
      </p:sp>
      <p:sp>
        <p:nvSpPr>
          <p:cNvPr id="22" name="Shape 20"/>
          <p:cNvSpPr/>
          <p:nvPr/>
        </p:nvSpPr>
        <p:spPr>
          <a:xfrm>
            <a:off x="3771900" y="850392"/>
            <a:ext cx="0" cy="4206240"/>
          </a:xfrm>
          <a:prstGeom prst="line">
            <a:avLst/>
          </a:prstGeom>
          <a:noFill/>
          <a:ln w="6350">
            <a:solidFill>
              <a:srgbClr val="E8E8E8"/>
            </a:solidFill>
            <a:prstDash val="solid"/>
          </a:ln>
        </p:spPr>
        <p:txBody>
          <a:bodyPr/>
          <a:lstStyle/>
          <a:p>
            <a:endParaRPr lang="en-US"/>
          </a:p>
        </p:txBody>
      </p:sp>
      <p:sp>
        <p:nvSpPr>
          <p:cNvPr id="23" name="Shape 21"/>
          <p:cNvSpPr/>
          <p:nvPr/>
        </p:nvSpPr>
        <p:spPr>
          <a:xfrm>
            <a:off x="4606290" y="850392"/>
            <a:ext cx="0" cy="4206240"/>
          </a:xfrm>
          <a:prstGeom prst="line">
            <a:avLst/>
          </a:prstGeom>
          <a:noFill/>
          <a:ln w="6350">
            <a:solidFill>
              <a:srgbClr val="E8E8E8"/>
            </a:solidFill>
            <a:prstDash val="solid"/>
          </a:ln>
        </p:spPr>
        <p:txBody>
          <a:bodyPr/>
          <a:lstStyle/>
          <a:p>
            <a:endParaRPr lang="en-US"/>
          </a:p>
        </p:txBody>
      </p:sp>
      <p:sp>
        <p:nvSpPr>
          <p:cNvPr id="24" name="Shape 22"/>
          <p:cNvSpPr/>
          <p:nvPr/>
        </p:nvSpPr>
        <p:spPr>
          <a:xfrm>
            <a:off x="5440680" y="850392"/>
            <a:ext cx="0" cy="4206240"/>
          </a:xfrm>
          <a:prstGeom prst="line">
            <a:avLst/>
          </a:prstGeom>
          <a:noFill/>
          <a:ln w="6350">
            <a:solidFill>
              <a:srgbClr val="E8E8E8"/>
            </a:solidFill>
            <a:prstDash val="solid"/>
          </a:ln>
        </p:spPr>
        <p:txBody>
          <a:bodyPr/>
          <a:lstStyle/>
          <a:p>
            <a:endParaRPr lang="en-US"/>
          </a:p>
        </p:txBody>
      </p:sp>
      <p:sp>
        <p:nvSpPr>
          <p:cNvPr id="25" name="Shape 23"/>
          <p:cNvSpPr/>
          <p:nvPr/>
        </p:nvSpPr>
        <p:spPr>
          <a:xfrm>
            <a:off x="6275070" y="850392"/>
            <a:ext cx="0" cy="4206240"/>
          </a:xfrm>
          <a:prstGeom prst="line">
            <a:avLst/>
          </a:prstGeom>
          <a:noFill/>
          <a:ln w="6350">
            <a:solidFill>
              <a:srgbClr val="E8E8E8"/>
            </a:solidFill>
            <a:prstDash val="solid"/>
          </a:ln>
        </p:spPr>
        <p:txBody>
          <a:bodyPr/>
          <a:lstStyle/>
          <a:p>
            <a:endParaRPr lang="en-US"/>
          </a:p>
        </p:txBody>
      </p:sp>
      <p:sp>
        <p:nvSpPr>
          <p:cNvPr id="26" name="Shape 24"/>
          <p:cNvSpPr/>
          <p:nvPr/>
        </p:nvSpPr>
        <p:spPr>
          <a:xfrm>
            <a:off x="7109460" y="850392"/>
            <a:ext cx="0" cy="4206240"/>
          </a:xfrm>
          <a:prstGeom prst="line">
            <a:avLst/>
          </a:prstGeom>
          <a:noFill/>
          <a:ln w="6350">
            <a:solidFill>
              <a:srgbClr val="E8E8E8"/>
            </a:solidFill>
            <a:prstDash val="solid"/>
          </a:ln>
        </p:spPr>
        <p:txBody>
          <a:bodyPr/>
          <a:lstStyle/>
          <a:p>
            <a:endParaRPr lang="en-US"/>
          </a:p>
        </p:txBody>
      </p:sp>
      <p:sp>
        <p:nvSpPr>
          <p:cNvPr id="27" name="Shape 25"/>
          <p:cNvSpPr/>
          <p:nvPr/>
        </p:nvSpPr>
        <p:spPr>
          <a:xfrm>
            <a:off x="7943850" y="850392"/>
            <a:ext cx="0" cy="4206240"/>
          </a:xfrm>
          <a:prstGeom prst="line">
            <a:avLst/>
          </a:prstGeom>
          <a:noFill/>
          <a:ln w="6350">
            <a:solidFill>
              <a:srgbClr val="E8E8E8"/>
            </a:solidFill>
            <a:prstDash val="solid"/>
          </a:ln>
        </p:spPr>
        <p:txBody>
          <a:bodyPr/>
          <a:lstStyle/>
          <a:p>
            <a:endParaRPr lang="en-US"/>
          </a:p>
        </p:txBody>
      </p:sp>
      <p:sp>
        <p:nvSpPr>
          <p:cNvPr id="28" name="Shape 26"/>
          <p:cNvSpPr/>
          <p:nvPr/>
        </p:nvSpPr>
        <p:spPr>
          <a:xfrm>
            <a:off x="8778240" y="850392"/>
            <a:ext cx="0" cy="4206240"/>
          </a:xfrm>
          <a:prstGeom prst="line">
            <a:avLst/>
          </a:prstGeom>
          <a:noFill/>
          <a:ln w="6350">
            <a:solidFill>
              <a:srgbClr val="E8E8E8"/>
            </a:solidFill>
            <a:prstDash val="solid"/>
          </a:ln>
        </p:spPr>
        <p:txBody>
          <a:bodyPr/>
          <a:lstStyle/>
          <a:p>
            <a:endParaRPr lang="en-US"/>
          </a:p>
        </p:txBody>
      </p:sp>
      <p:sp>
        <p:nvSpPr>
          <p:cNvPr id="29" name="Shape 27"/>
          <p:cNvSpPr/>
          <p:nvPr/>
        </p:nvSpPr>
        <p:spPr>
          <a:xfrm>
            <a:off x="137160" y="896112"/>
            <a:ext cx="1874520" cy="146304"/>
          </a:xfrm>
          <a:prstGeom prst="rect">
            <a:avLst/>
          </a:prstGeom>
          <a:solidFill>
            <a:srgbClr val="2D6CDF"/>
          </a:solidFill>
          <a:ln/>
        </p:spPr>
        <p:txBody>
          <a:bodyPr/>
          <a:lstStyle/>
          <a:p>
            <a:endParaRPr lang="en-US"/>
          </a:p>
        </p:txBody>
      </p:sp>
      <p:sp>
        <p:nvSpPr>
          <p:cNvPr id="30" name="Text 28"/>
          <p:cNvSpPr/>
          <p:nvPr/>
        </p:nvSpPr>
        <p:spPr>
          <a:xfrm>
            <a:off x="137160" y="896112"/>
            <a:ext cx="1874520" cy="146304"/>
          </a:xfrm>
          <a:prstGeom prst="rect">
            <a:avLst/>
          </a:prstGeom>
          <a:noFill/>
          <a:ln/>
        </p:spPr>
        <p:txBody>
          <a:bodyPr wrap="square" rtlCol="0" anchor="ctr"/>
          <a:lstStyle/>
          <a:p>
            <a:pPr marL="0" indent="0" algn="ctr">
              <a:buNone/>
            </a:pPr>
            <a:r>
              <a:rPr lang="en-US" sz="550" b="1" dirty="0">
                <a:solidFill>
                  <a:srgbClr val="FFFFFF"/>
                </a:solidFill>
              </a:rPr>
              <a:t>Track 1: Qualification pipelines</a:t>
            </a:r>
            <a:endParaRPr lang="en-US" sz="550" dirty="0"/>
          </a:p>
        </p:txBody>
      </p:sp>
      <p:sp>
        <p:nvSpPr>
          <p:cNvPr id="31" name="Text 29"/>
          <p:cNvSpPr/>
          <p:nvPr/>
        </p:nvSpPr>
        <p:spPr>
          <a:xfrm>
            <a:off x="137160" y="1051560"/>
            <a:ext cx="1874520" cy="155448"/>
          </a:xfrm>
          <a:prstGeom prst="rect">
            <a:avLst/>
          </a:prstGeom>
          <a:noFill/>
          <a:ln/>
        </p:spPr>
        <p:txBody>
          <a:bodyPr wrap="square" lIns="0" tIns="0" rIns="0" bIns="0" rtlCol="0" anchor="ctr"/>
          <a:lstStyle/>
          <a:p>
            <a:pPr marL="0" indent="0">
              <a:buNone/>
            </a:pPr>
            <a:r>
              <a:rPr lang="en-US" sz="550" dirty="0">
                <a:solidFill>
                  <a:srgbClr val="2B2B2B"/>
                </a:solidFill>
              </a:rPr>
              <a:t>SafeTech Token</a:t>
            </a:r>
            <a:endParaRPr lang="en-US" sz="550" dirty="0"/>
          </a:p>
        </p:txBody>
      </p:sp>
      <p:sp>
        <p:nvSpPr>
          <p:cNvPr id="32" name="Shape 30"/>
          <p:cNvSpPr/>
          <p:nvPr/>
        </p:nvSpPr>
        <p:spPr>
          <a:xfrm>
            <a:off x="2121408" y="1074420"/>
            <a:ext cx="1632204" cy="109728"/>
          </a:xfrm>
          <a:prstGeom prst="rect">
            <a:avLst/>
          </a:prstGeom>
          <a:solidFill>
            <a:srgbClr val="6B9FE8"/>
          </a:solidFill>
          <a:ln/>
        </p:spPr>
        <p:txBody>
          <a:bodyPr/>
          <a:lstStyle/>
          <a:p>
            <a:endParaRPr lang="en-US"/>
          </a:p>
        </p:txBody>
      </p:sp>
      <p:sp>
        <p:nvSpPr>
          <p:cNvPr id="33" name="Text 31"/>
          <p:cNvSpPr/>
          <p:nvPr/>
        </p:nvSpPr>
        <p:spPr>
          <a:xfrm>
            <a:off x="137160" y="1207008"/>
            <a:ext cx="1874520" cy="155448"/>
          </a:xfrm>
          <a:prstGeom prst="rect">
            <a:avLst/>
          </a:prstGeom>
          <a:noFill/>
          <a:ln/>
        </p:spPr>
        <p:txBody>
          <a:bodyPr wrap="square" lIns="0" tIns="0" rIns="0" bIns="0" rtlCol="0" anchor="ctr"/>
          <a:lstStyle/>
          <a:p>
            <a:pPr marL="0" indent="0">
              <a:buNone/>
            </a:pPr>
            <a:r>
              <a:rPr lang="en-US" sz="550" dirty="0">
                <a:solidFill>
                  <a:srgbClr val="2B2B2B"/>
                </a:solidFill>
              </a:rPr>
              <a:t>Network Tokens</a:t>
            </a:r>
            <a:endParaRPr lang="en-US" sz="550" dirty="0"/>
          </a:p>
        </p:txBody>
      </p:sp>
      <p:sp>
        <p:nvSpPr>
          <p:cNvPr id="34" name="Shape 32"/>
          <p:cNvSpPr/>
          <p:nvPr/>
        </p:nvSpPr>
        <p:spPr>
          <a:xfrm>
            <a:off x="2121408" y="1229868"/>
            <a:ext cx="1632204" cy="109728"/>
          </a:xfrm>
          <a:prstGeom prst="rect">
            <a:avLst/>
          </a:prstGeom>
          <a:solidFill>
            <a:srgbClr val="6B9FE8"/>
          </a:solidFill>
          <a:ln/>
        </p:spPr>
        <p:txBody>
          <a:bodyPr/>
          <a:lstStyle/>
          <a:p>
            <a:endParaRPr lang="en-US"/>
          </a:p>
        </p:txBody>
      </p:sp>
      <p:sp>
        <p:nvSpPr>
          <p:cNvPr id="35" name="Text 33"/>
          <p:cNvSpPr/>
          <p:nvPr/>
        </p:nvSpPr>
        <p:spPr>
          <a:xfrm>
            <a:off x="137160" y="1362456"/>
            <a:ext cx="1874520" cy="155448"/>
          </a:xfrm>
          <a:prstGeom prst="rect">
            <a:avLst/>
          </a:prstGeom>
          <a:noFill/>
          <a:ln/>
        </p:spPr>
        <p:txBody>
          <a:bodyPr wrap="square" lIns="0" tIns="0" rIns="0" bIns="0" rtlCol="0" anchor="ctr"/>
          <a:lstStyle/>
          <a:p>
            <a:pPr marL="0" indent="0">
              <a:buNone/>
            </a:pPr>
            <a:r>
              <a:rPr lang="en-US" sz="550" dirty="0">
                <a:solidFill>
                  <a:srgbClr val="2B2B2B"/>
                </a:solidFill>
              </a:rPr>
              <a:t>Account Updater</a:t>
            </a:r>
            <a:endParaRPr lang="en-US" sz="550" dirty="0"/>
          </a:p>
        </p:txBody>
      </p:sp>
      <p:sp>
        <p:nvSpPr>
          <p:cNvPr id="36" name="Shape 34"/>
          <p:cNvSpPr/>
          <p:nvPr/>
        </p:nvSpPr>
        <p:spPr>
          <a:xfrm>
            <a:off x="2121408" y="1385316"/>
            <a:ext cx="1632204" cy="109728"/>
          </a:xfrm>
          <a:prstGeom prst="rect">
            <a:avLst/>
          </a:prstGeom>
          <a:solidFill>
            <a:srgbClr val="6B9FE8"/>
          </a:solidFill>
          <a:ln/>
        </p:spPr>
        <p:txBody>
          <a:bodyPr/>
          <a:lstStyle/>
          <a:p>
            <a:endParaRPr lang="en-US"/>
          </a:p>
        </p:txBody>
      </p:sp>
      <p:sp>
        <p:nvSpPr>
          <p:cNvPr id="37" name="Text 35"/>
          <p:cNvSpPr/>
          <p:nvPr/>
        </p:nvSpPr>
        <p:spPr>
          <a:xfrm>
            <a:off x="137160" y="1517904"/>
            <a:ext cx="1874520" cy="155448"/>
          </a:xfrm>
          <a:prstGeom prst="rect">
            <a:avLst/>
          </a:prstGeom>
          <a:noFill/>
          <a:ln/>
        </p:spPr>
        <p:txBody>
          <a:bodyPr wrap="square" lIns="0" tIns="0" rIns="0" bIns="0" rtlCol="0" anchor="ctr"/>
          <a:lstStyle/>
          <a:p>
            <a:pPr marL="0" indent="0">
              <a:buNone/>
            </a:pPr>
            <a:r>
              <a:rPr lang="en-US" sz="550" dirty="0">
                <a:solidFill>
                  <a:srgbClr val="2B2B2B"/>
                </a:solidFill>
              </a:rPr>
              <a:t>Fraud Screening</a:t>
            </a:r>
            <a:endParaRPr lang="en-US" sz="550" dirty="0"/>
          </a:p>
        </p:txBody>
      </p:sp>
      <p:sp>
        <p:nvSpPr>
          <p:cNvPr id="38" name="Shape 36"/>
          <p:cNvSpPr/>
          <p:nvPr/>
        </p:nvSpPr>
        <p:spPr>
          <a:xfrm>
            <a:off x="2955798" y="1540764"/>
            <a:ext cx="1632204" cy="109728"/>
          </a:xfrm>
          <a:prstGeom prst="rect">
            <a:avLst/>
          </a:prstGeom>
          <a:solidFill>
            <a:srgbClr val="6B9FE8"/>
          </a:solidFill>
          <a:ln/>
        </p:spPr>
        <p:txBody>
          <a:bodyPr/>
          <a:lstStyle/>
          <a:p>
            <a:endParaRPr lang="en-US"/>
          </a:p>
        </p:txBody>
      </p:sp>
      <p:sp>
        <p:nvSpPr>
          <p:cNvPr id="39" name="Text 37"/>
          <p:cNvSpPr/>
          <p:nvPr/>
        </p:nvSpPr>
        <p:spPr>
          <a:xfrm>
            <a:off x="137160" y="1673352"/>
            <a:ext cx="1874520" cy="155448"/>
          </a:xfrm>
          <a:prstGeom prst="rect">
            <a:avLst/>
          </a:prstGeom>
          <a:noFill/>
          <a:ln/>
        </p:spPr>
        <p:txBody>
          <a:bodyPr wrap="square" lIns="0" tIns="0" rIns="0" bIns="0" rtlCol="0" anchor="ctr"/>
          <a:lstStyle/>
          <a:p>
            <a:pPr marL="0" indent="0">
              <a:buNone/>
            </a:pPr>
            <a:r>
              <a:rPr lang="en-US" sz="550" dirty="0">
                <a:solidFill>
                  <a:srgbClr val="2B2B2B"/>
                </a:solidFill>
              </a:rPr>
              <a:t>3DS / SCA</a:t>
            </a:r>
            <a:endParaRPr lang="en-US" sz="550" dirty="0"/>
          </a:p>
        </p:txBody>
      </p:sp>
      <p:sp>
        <p:nvSpPr>
          <p:cNvPr id="40" name="Shape 38"/>
          <p:cNvSpPr/>
          <p:nvPr/>
        </p:nvSpPr>
        <p:spPr>
          <a:xfrm>
            <a:off x="2955798" y="1696212"/>
            <a:ext cx="1632204" cy="109728"/>
          </a:xfrm>
          <a:prstGeom prst="rect">
            <a:avLst/>
          </a:prstGeom>
          <a:solidFill>
            <a:srgbClr val="6B9FE8"/>
          </a:solidFill>
          <a:ln/>
        </p:spPr>
        <p:txBody>
          <a:bodyPr/>
          <a:lstStyle/>
          <a:p>
            <a:endParaRPr lang="en-US"/>
          </a:p>
        </p:txBody>
      </p:sp>
      <p:sp>
        <p:nvSpPr>
          <p:cNvPr id="41" name="Text 39"/>
          <p:cNvSpPr/>
          <p:nvPr/>
        </p:nvSpPr>
        <p:spPr>
          <a:xfrm>
            <a:off x="137160" y="1828800"/>
            <a:ext cx="1874520" cy="155448"/>
          </a:xfrm>
          <a:prstGeom prst="rect">
            <a:avLst/>
          </a:prstGeom>
          <a:noFill/>
          <a:ln/>
        </p:spPr>
        <p:txBody>
          <a:bodyPr wrap="square" lIns="0" tIns="0" rIns="0" bIns="0" rtlCol="0" anchor="ctr"/>
          <a:lstStyle/>
          <a:p>
            <a:pPr marL="0" indent="0">
              <a:buNone/>
            </a:pPr>
            <a:r>
              <a:rPr lang="en-US" sz="550" dirty="0">
                <a:solidFill>
                  <a:srgbClr val="2B2B2B"/>
                </a:solidFill>
              </a:rPr>
              <a:t>VT Usage</a:t>
            </a:r>
            <a:endParaRPr lang="en-US" sz="550" dirty="0"/>
          </a:p>
        </p:txBody>
      </p:sp>
      <p:sp>
        <p:nvSpPr>
          <p:cNvPr id="42" name="Shape 40"/>
          <p:cNvSpPr/>
          <p:nvPr/>
        </p:nvSpPr>
        <p:spPr>
          <a:xfrm>
            <a:off x="2955798" y="1851660"/>
            <a:ext cx="797814" cy="109728"/>
          </a:xfrm>
          <a:prstGeom prst="rect">
            <a:avLst/>
          </a:prstGeom>
          <a:solidFill>
            <a:srgbClr val="6B9FE8"/>
          </a:solidFill>
          <a:ln/>
        </p:spPr>
        <p:txBody>
          <a:bodyPr/>
          <a:lstStyle/>
          <a:p>
            <a:endParaRPr lang="en-US"/>
          </a:p>
        </p:txBody>
      </p:sp>
      <p:sp>
        <p:nvSpPr>
          <p:cNvPr id="43" name="Text 41"/>
          <p:cNvSpPr/>
          <p:nvPr/>
        </p:nvSpPr>
        <p:spPr>
          <a:xfrm>
            <a:off x="137160" y="1984248"/>
            <a:ext cx="1874520" cy="155448"/>
          </a:xfrm>
          <a:prstGeom prst="rect">
            <a:avLst/>
          </a:prstGeom>
          <a:noFill/>
          <a:ln/>
        </p:spPr>
        <p:txBody>
          <a:bodyPr wrap="square" lIns="0" tIns="0" rIns="0" bIns="0" rtlCol="0" anchor="ctr"/>
          <a:lstStyle/>
          <a:p>
            <a:pPr marL="0" indent="0">
              <a:buNone/>
            </a:pPr>
            <a:r>
              <a:rPr lang="en-US" sz="550" dirty="0">
                <a:solidFill>
                  <a:srgbClr val="2B2B2B"/>
                </a:solidFill>
              </a:rPr>
              <a:t>Pay-By-Link Usage</a:t>
            </a:r>
            <a:endParaRPr lang="en-US" sz="550" dirty="0"/>
          </a:p>
        </p:txBody>
      </p:sp>
      <p:sp>
        <p:nvSpPr>
          <p:cNvPr id="44" name="Shape 42"/>
          <p:cNvSpPr/>
          <p:nvPr/>
        </p:nvSpPr>
        <p:spPr>
          <a:xfrm>
            <a:off x="2955798" y="2007108"/>
            <a:ext cx="797814" cy="109728"/>
          </a:xfrm>
          <a:prstGeom prst="rect">
            <a:avLst/>
          </a:prstGeom>
          <a:solidFill>
            <a:srgbClr val="6B9FE8"/>
          </a:solidFill>
          <a:ln/>
        </p:spPr>
        <p:txBody>
          <a:bodyPr/>
          <a:lstStyle/>
          <a:p>
            <a:endParaRPr lang="en-US"/>
          </a:p>
        </p:txBody>
      </p:sp>
      <p:sp>
        <p:nvSpPr>
          <p:cNvPr id="45" name="Text 43"/>
          <p:cNvSpPr/>
          <p:nvPr/>
        </p:nvSpPr>
        <p:spPr>
          <a:xfrm>
            <a:off x="137160" y="2139696"/>
            <a:ext cx="1874520" cy="155448"/>
          </a:xfrm>
          <a:prstGeom prst="rect">
            <a:avLst/>
          </a:prstGeom>
          <a:noFill/>
          <a:ln/>
        </p:spPr>
        <p:txBody>
          <a:bodyPr wrap="square" lIns="0" tIns="0" rIns="0" bIns="0" rtlCol="0" anchor="ctr"/>
          <a:lstStyle/>
          <a:p>
            <a:pPr marL="0" indent="0">
              <a:buNone/>
            </a:pPr>
            <a:r>
              <a:rPr lang="en-US" sz="550" dirty="0">
                <a:solidFill>
                  <a:srgbClr val="2B2B2B"/>
                </a:solidFill>
              </a:rPr>
              <a:t>Analytics (periodic, exists)</a:t>
            </a:r>
            <a:endParaRPr lang="en-US" sz="550" dirty="0"/>
          </a:p>
        </p:txBody>
      </p:sp>
      <p:sp>
        <p:nvSpPr>
          <p:cNvPr id="46" name="Shape 44"/>
          <p:cNvSpPr/>
          <p:nvPr/>
        </p:nvSpPr>
        <p:spPr>
          <a:xfrm>
            <a:off x="2121408" y="2162556"/>
            <a:ext cx="797814" cy="109728"/>
          </a:xfrm>
          <a:prstGeom prst="rect">
            <a:avLst/>
          </a:prstGeom>
          <a:solidFill>
            <a:srgbClr val="A3C4F3"/>
          </a:solidFill>
          <a:ln/>
        </p:spPr>
        <p:txBody>
          <a:bodyPr/>
          <a:lstStyle/>
          <a:p>
            <a:endParaRPr lang="en-US"/>
          </a:p>
        </p:txBody>
      </p:sp>
      <p:sp>
        <p:nvSpPr>
          <p:cNvPr id="47" name="Text 45"/>
          <p:cNvSpPr/>
          <p:nvPr/>
        </p:nvSpPr>
        <p:spPr>
          <a:xfrm>
            <a:off x="137160" y="2295144"/>
            <a:ext cx="1874520" cy="155448"/>
          </a:xfrm>
          <a:prstGeom prst="rect">
            <a:avLst/>
          </a:prstGeom>
          <a:noFill/>
          <a:ln/>
        </p:spPr>
        <p:txBody>
          <a:bodyPr wrap="square" lIns="0" tIns="0" rIns="0" bIns="0" rtlCol="0" anchor="ctr"/>
          <a:lstStyle/>
          <a:p>
            <a:pPr marL="0" indent="0">
              <a:buNone/>
            </a:pPr>
            <a:r>
              <a:rPr lang="en-US" sz="550" dirty="0">
                <a:solidFill>
                  <a:srgbClr val="2B2B2B"/>
                </a:solidFill>
              </a:rPr>
              <a:t>Terminal (periodic, exists)</a:t>
            </a:r>
            <a:endParaRPr lang="en-US" sz="550" dirty="0"/>
          </a:p>
        </p:txBody>
      </p:sp>
      <p:sp>
        <p:nvSpPr>
          <p:cNvPr id="48" name="Shape 46"/>
          <p:cNvSpPr/>
          <p:nvPr/>
        </p:nvSpPr>
        <p:spPr>
          <a:xfrm>
            <a:off x="2121408" y="2318004"/>
            <a:ext cx="797814" cy="109728"/>
          </a:xfrm>
          <a:prstGeom prst="rect">
            <a:avLst/>
          </a:prstGeom>
          <a:solidFill>
            <a:srgbClr val="A3C4F3"/>
          </a:solidFill>
          <a:ln/>
        </p:spPr>
        <p:txBody>
          <a:bodyPr/>
          <a:lstStyle/>
          <a:p>
            <a:endParaRPr lang="en-US"/>
          </a:p>
        </p:txBody>
      </p:sp>
      <p:sp>
        <p:nvSpPr>
          <p:cNvPr id="49" name="Shape 47"/>
          <p:cNvSpPr/>
          <p:nvPr/>
        </p:nvSpPr>
        <p:spPr>
          <a:xfrm>
            <a:off x="137160" y="2468880"/>
            <a:ext cx="1874520" cy="146304"/>
          </a:xfrm>
          <a:prstGeom prst="rect">
            <a:avLst/>
          </a:prstGeom>
          <a:solidFill>
            <a:srgbClr val="6B7280"/>
          </a:solidFill>
          <a:ln/>
        </p:spPr>
        <p:txBody>
          <a:bodyPr/>
          <a:lstStyle/>
          <a:p>
            <a:endParaRPr lang="en-US"/>
          </a:p>
        </p:txBody>
      </p:sp>
      <p:sp>
        <p:nvSpPr>
          <p:cNvPr id="50" name="Text 48"/>
          <p:cNvSpPr/>
          <p:nvPr/>
        </p:nvSpPr>
        <p:spPr>
          <a:xfrm>
            <a:off x="137160" y="2468880"/>
            <a:ext cx="1874520" cy="146304"/>
          </a:xfrm>
          <a:prstGeom prst="rect">
            <a:avLst/>
          </a:prstGeom>
          <a:noFill/>
          <a:ln/>
        </p:spPr>
        <p:txBody>
          <a:bodyPr wrap="square" rtlCol="0" anchor="ctr"/>
          <a:lstStyle/>
          <a:p>
            <a:pPr marL="0" indent="0" algn="ctr">
              <a:buNone/>
            </a:pPr>
            <a:r>
              <a:rPr lang="en-US" sz="550" b="1" dirty="0">
                <a:solidFill>
                  <a:srgbClr val="FFFFFF"/>
                </a:solidFill>
              </a:rPr>
              <a:t>Built with product delivery</a:t>
            </a:r>
            <a:endParaRPr lang="en-US" sz="550" dirty="0"/>
          </a:p>
        </p:txBody>
      </p:sp>
      <p:sp>
        <p:nvSpPr>
          <p:cNvPr id="51" name="Text 49"/>
          <p:cNvSpPr/>
          <p:nvPr/>
        </p:nvSpPr>
        <p:spPr>
          <a:xfrm>
            <a:off x="137160" y="2624328"/>
            <a:ext cx="1874520" cy="155448"/>
          </a:xfrm>
          <a:prstGeom prst="rect">
            <a:avLst/>
          </a:prstGeom>
          <a:noFill/>
          <a:ln/>
        </p:spPr>
        <p:txBody>
          <a:bodyPr wrap="square" lIns="0" tIns="0" rIns="0" bIns="0" rtlCol="0" anchor="ctr"/>
          <a:lstStyle/>
          <a:p>
            <a:pPr marL="0" indent="0">
              <a:buNone/>
            </a:pPr>
            <a:r>
              <a:rPr lang="en-US" sz="550" dirty="0">
                <a:solidFill>
                  <a:srgbClr val="5A5A5A"/>
                </a:solidFill>
              </a:rPr>
              <a:t>Vault</a:t>
            </a:r>
            <a:endParaRPr lang="en-US" sz="550" dirty="0"/>
          </a:p>
        </p:txBody>
      </p:sp>
      <p:sp>
        <p:nvSpPr>
          <p:cNvPr id="52" name="Shape 50"/>
          <p:cNvSpPr/>
          <p:nvPr/>
        </p:nvSpPr>
        <p:spPr>
          <a:xfrm>
            <a:off x="3790188" y="2647188"/>
            <a:ext cx="2466594" cy="109728"/>
          </a:xfrm>
          <a:prstGeom prst="rect">
            <a:avLst/>
          </a:prstGeom>
          <a:solidFill>
            <a:srgbClr val="B0B7C3"/>
          </a:solidFill>
          <a:ln/>
        </p:spPr>
        <p:txBody>
          <a:bodyPr/>
          <a:lstStyle/>
          <a:p>
            <a:endParaRPr lang="en-US"/>
          </a:p>
        </p:txBody>
      </p:sp>
      <p:sp>
        <p:nvSpPr>
          <p:cNvPr id="53" name="Text 51"/>
          <p:cNvSpPr/>
          <p:nvPr/>
        </p:nvSpPr>
        <p:spPr>
          <a:xfrm>
            <a:off x="137160" y="2779776"/>
            <a:ext cx="1874520" cy="155448"/>
          </a:xfrm>
          <a:prstGeom prst="rect">
            <a:avLst/>
          </a:prstGeom>
          <a:noFill/>
          <a:ln/>
        </p:spPr>
        <p:txBody>
          <a:bodyPr wrap="square" lIns="0" tIns="0" rIns="0" bIns="0" rtlCol="0" anchor="ctr"/>
          <a:lstStyle/>
          <a:p>
            <a:pPr marL="0" indent="0">
              <a:buNone/>
            </a:pPr>
            <a:r>
              <a:rPr lang="en-US" sz="550" dirty="0">
                <a:solidFill>
                  <a:srgbClr val="5A5A5A"/>
                </a:solidFill>
              </a:rPr>
              <a:t>Auth opt / Smart routing / Retries</a:t>
            </a:r>
            <a:endParaRPr lang="en-US" sz="550" dirty="0"/>
          </a:p>
        </p:txBody>
      </p:sp>
      <p:sp>
        <p:nvSpPr>
          <p:cNvPr id="54" name="Shape 52"/>
          <p:cNvSpPr/>
          <p:nvPr/>
        </p:nvSpPr>
        <p:spPr>
          <a:xfrm>
            <a:off x="4624578" y="2802636"/>
            <a:ext cx="3300984" cy="109728"/>
          </a:xfrm>
          <a:prstGeom prst="rect">
            <a:avLst/>
          </a:prstGeom>
          <a:solidFill>
            <a:srgbClr val="B0B7C3"/>
          </a:solidFill>
          <a:ln/>
        </p:spPr>
        <p:txBody>
          <a:bodyPr/>
          <a:lstStyle/>
          <a:p>
            <a:endParaRPr lang="en-US"/>
          </a:p>
        </p:txBody>
      </p:sp>
      <p:sp>
        <p:nvSpPr>
          <p:cNvPr id="55" name="Text 53"/>
          <p:cNvSpPr/>
          <p:nvPr/>
        </p:nvSpPr>
        <p:spPr>
          <a:xfrm>
            <a:off x="137160" y="2935224"/>
            <a:ext cx="1874520" cy="155448"/>
          </a:xfrm>
          <a:prstGeom prst="rect">
            <a:avLst/>
          </a:prstGeom>
          <a:noFill/>
          <a:ln/>
        </p:spPr>
        <p:txBody>
          <a:bodyPr wrap="square" lIns="0" tIns="0" rIns="0" bIns="0" rtlCol="0" anchor="ctr"/>
          <a:lstStyle/>
          <a:p>
            <a:pPr marL="0" indent="0">
              <a:buNone/>
            </a:pPr>
            <a:r>
              <a:rPr lang="en-US" sz="550" dirty="0">
                <a:solidFill>
                  <a:srgbClr val="5A5A5A"/>
                </a:solidFill>
              </a:rPr>
              <a:t>Smart Disputes</a:t>
            </a:r>
            <a:endParaRPr lang="en-US" sz="550" dirty="0"/>
          </a:p>
        </p:txBody>
      </p:sp>
      <p:sp>
        <p:nvSpPr>
          <p:cNvPr id="56" name="Shape 54"/>
          <p:cNvSpPr/>
          <p:nvPr/>
        </p:nvSpPr>
        <p:spPr>
          <a:xfrm>
            <a:off x="5458968" y="2958084"/>
            <a:ext cx="1632204" cy="109728"/>
          </a:xfrm>
          <a:prstGeom prst="rect">
            <a:avLst/>
          </a:prstGeom>
          <a:solidFill>
            <a:srgbClr val="B0B7C3"/>
          </a:solidFill>
          <a:ln/>
        </p:spPr>
        <p:txBody>
          <a:bodyPr/>
          <a:lstStyle/>
          <a:p>
            <a:endParaRPr lang="en-US"/>
          </a:p>
        </p:txBody>
      </p:sp>
      <p:sp>
        <p:nvSpPr>
          <p:cNvPr id="57" name="Text 55"/>
          <p:cNvSpPr/>
          <p:nvPr/>
        </p:nvSpPr>
        <p:spPr>
          <a:xfrm>
            <a:off x="137160" y="3090672"/>
            <a:ext cx="1874520" cy="155448"/>
          </a:xfrm>
          <a:prstGeom prst="rect">
            <a:avLst/>
          </a:prstGeom>
          <a:noFill/>
          <a:ln/>
        </p:spPr>
        <p:txBody>
          <a:bodyPr wrap="square" lIns="0" tIns="0" rIns="0" bIns="0" rtlCol="0" anchor="ctr"/>
          <a:lstStyle/>
          <a:p>
            <a:pPr marL="0" indent="0">
              <a:buNone/>
            </a:pPr>
            <a:r>
              <a:rPr lang="en-US" sz="550" dirty="0">
                <a:solidFill>
                  <a:srgbClr val="5A5A5A"/>
                </a:solidFill>
              </a:rPr>
              <a:t>FX (MCP, DCC, Payout FX)</a:t>
            </a:r>
            <a:endParaRPr lang="en-US" sz="550" dirty="0"/>
          </a:p>
        </p:txBody>
      </p:sp>
      <p:sp>
        <p:nvSpPr>
          <p:cNvPr id="58" name="Shape 56"/>
          <p:cNvSpPr/>
          <p:nvPr/>
        </p:nvSpPr>
        <p:spPr>
          <a:xfrm>
            <a:off x="4624578" y="3113532"/>
            <a:ext cx="2466594" cy="109728"/>
          </a:xfrm>
          <a:prstGeom prst="rect">
            <a:avLst/>
          </a:prstGeom>
          <a:solidFill>
            <a:srgbClr val="B0B7C3"/>
          </a:solidFill>
          <a:ln/>
        </p:spPr>
        <p:txBody>
          <a:bodyPr/>
          <a:lstStyle/>
          <a:p>
            <a:endParaRPr lang="en-US"/>
          </a:p>
        </p:txBody>
      </p:sp>
      <p:sp>
        <p:nvSpPr>
          <p:cNvPr id="59" name="Text 57"/>
          <p:cNvSpPr/>
          <p:nvPr/>
        </p:nvSpPr>
        <p:spPr>
          <a:xfrm>
            <a:off x="137160" y="3246120"/>
            <a:ext cx="1874520" cy="155448"/>
          </a:xfrm>
          <a:prstGeom prst="rect">
            <a:avLst/>
          </a:prstGeom>
          <a:noFill/>
          <a:ln/>
        </p:spPr>
        <p:txBody>
          <a:bodyPr wrap="square" lIns="0" tIns="0" rIns="0" bIns="0" rtlCol="0" anchor="ctr"/>
          <a:lstStyle/>
          <a:p>
            <a:pPr marL="0" indent="0">
              <a:buNone/>
            </a:pPr>
            <a:r>
              <a:rPr lang="en-US" sz="550" dirty="0">
                <a:solidFill>
                  <a:srgbClr val="5A5A5A"/>
                </a:solidFill>
              </a:rPr>
              <a:t>Managed Platform (billing_party)</a:t>
            </a:r>
            <a:endParaRPr lang="en-US" sz="550" dirty="0"/>
          </a:p>
        </p:txBody>
      </p:sp>
      <p:sp>
        <p:nvSpPr>
          <p:cNvPr id="60" name="Shape 58"/>
          <p:cNvSpPr/>
          <p:nvPr/>
        </p:nvSpPr>
        <p:spPr>
          <a:xfrm>
            <a:off x="5458968" y="3268980"/>
            <a:ext cx="3300984" cy="109728"/>
          </a:xfrm>
          <a:prstGeom prst="rect">
            <a:avLst/>
          </a:prstGeom>
          <a:solidFill>
            <a:srgbClr val="B0B7C3"/>
          </a:solidFill>
          <a:ln/>
        </p:spPr>
        <p:txBody>
          <a:bodyPr/>
          <a:lstStyle/>
          <a:p>
            <a:endParaRPr lang="en-US"/>
          </a:p>
        </p:txBody>
      </p:sp>
      <p:sp>
        <p:nvSpPr>
          <p:cNvPr id="61" name="Shape 59"/>
          <p:cNvSpPr/>
          <p:nvPr/>
        </p:nvSpPr>
        <p:spPr>
          <a:xfrm>
            <a:off x="137160" y="3419856"/>
            <a:ext cx="1874520" cy="146304"/>
          </a:xfrm>
          <a:prstGeom prst="rect">
            <a:avLst/>
          </a:prstGeom>
          <a:solidFill>
            <a:srgbClr val="0F6E56"/>
          </a:solidFill>
          <a:ln/>
        </p:spPr>
        <p:txBody>
          <a:bodyPr/>
          <a:lstStyle/>
          <a:p>
            <a:endParaRPr lang="en-US"/>
          </a:p>
        </p:txBody>
      </p:sp>
      <p:sp>
        <p:nvSpPr>
          <p:cNvPr id="62" name="Text 60"/>
          <p:cNvSpPr/>
          <p:nvPr/>
        </p:nvSpPr>
        <p:spPr>
          <a:xfrm>
            <a:off x="137160" y="3419856"/>
            <a:ext cx="1874520" cy="146304"/>
          </a:xfrm>
          <a:prstGeom prst="rect">
            <a:avLst/>
          </a:prstGeom>
          <a:noFill/>
          <a:ln/>
        </p:spPr>
        <p:txBody>
          <a:bodyPr wrap="square" rtlCol="0" anchor="ctr"/>
          <a:lstStyle/>
          <a:p>
            <a:pPr marL="0" indent="0" algn="ctr">
              <a:buNone/>
            </a:pPr>
            <a:r>
              <a:rPr lang="en-US" sz="550" b="1" dirty="0">
                <a:solidFill>
                  <a:srgbClr val="FFFFFF"/>
                </a:solidFill>
              </a:rPr>
              <a:t>Track 2: Monetization depth</a:t>
            </a:r>
            <a:endParaRPr lang="en-US" sz="550" dirty="0"/>
          </a:p>
        </p:txBody>
      </p:sp>
      <p:sp>
        <p:nvSpPr>
          <p:cNvPr id="63" name="Text 61"/>
          <p:cNvSpPr/>
          <p:nvPr/>
        </p:nvSpPr>
        <p:spPr>
          <a:xfrm>
            <a:off x="137160" y="3575304"/>
            <a:ext cx="1874520" cy="155448"/>
          </a:xfrm>
          <a:prstGeom prst="rect">
            <a:avLst/>
          </a:prstGeom>
          <a:noFill/>
          <a:ln/>
        </p:spPr>
        <p:txBody>
          <a:bodyPr wrap="square" lIns="0" tIns="0" rIns="0" bIns="0" rtlCol="0" anchor="ctr"/>
          <a:lstStyle/>
          <a:p>
            <a:pPr marL="0" indent="0">
              <a:buNone/>
            </a:pPr>
            <a:r>
              <a:rPr lang="en-US" sz="550" dirty="0">
                <a:solidFill>
                  <a:srgbClr val="2B2B2B"/>
                </a:solidFill>
              </a:rPr>
              <a:t>Allocation extensions (promo, waiver)</a:t>
            </a:r>
            <a:endParaRPr lang="en-US" sz="550" dirty="0"/>
          </a:p>
        </p:txBody>
      </p:sp>
      <p:sp>
        <p:nvSpPr>
          <p:cNvPr id="64" name="Shape 62"/>
          <p:cNvSpPr/>
          <p:nvPr/>
        </p:nvSpPr>
        <p:spPr>
          <a:xfrm>
            <a:off x="4624578" y="3598164"/>
            <a:ext cx="2466594" cy="109728"/>
          </a:xfrm>
          <a:prstGeom prst="rect">
            <a:avLst/>
          </a:prstGeom>
          <a:solidFill>
            <a:srgbClr val="7ECDB5"/>
          </a:solidFill>
          <a:ln/>
        </p:spPr>
        <p:txBody>
          <a:bodyPr/>
          <a:lstStyle/>
          <a:p>
            <a:endParaRPr lang="en-US"/>
          </a:p>
        </p:txBody>
      </p:sp>
      <p:sp>
        <p:nvSpPr>
          <p:cNvPr id="65" name="Text 63"/>
          <p:cNvSpPr/>
          <p:nvPr/>
        </p:nvSpPr>
        <p:spPr>
          <a:xfrm>
            <a:off x="137160" y="3730752"/>
            <a:ext cx="1874520" cy="155448"/>
          </a:xfrm>
          <a:prstGeom prst="rect">
            <a:avLst/>
          </a:prstGeom>
          <a:noFill/>
          <a:ln/>
        </p:spPr>
        <p:txBody>
          <a:bodyPr wrap="square" lIns="0" tIns="0" rIns="0" bIns="0" rtlCol="0" anchor="ctr"/>
          <a:lstStyle/>
          <a:p>
            <a:pPr marL="0" indent="0">
              <a:buNone/>
            </a:pPr>
            <a:r>
              <a:rPr lang="en-US" sz="550" dirty="0">
                <a:solidFill>
                  <a:srgbClr val="2B2B2B"/>
                </a:solidFill>
              </a:rPr>
              <a:t>Tiered / progressive tiered</a:t>
            </a:r>
            <a:endParaRPr lang="en-US" sz="550" dirty="0"/>
          </a:p>
        </p:txBody>
      </p:sp>
      <p:sp>
        <p:nvSpPr>
          <p:cNvPr id="66" name="Shape 64"/>
          <p:cNvSpPr/>
          <p:nvPr/>
        </p:nvSpPr>
        <p:spPr>
          <a:xfrm>
            <a:off x="4624578" y="3753612"/>
            <a:ext cx="1632204" cy="109728"/>
          </a:xfrm>
          <a:prstGeom prst="rect">
            <a:avLst/>
          </a:prstGeom>
          <a:solidFill>
            <a:srgbClr val="7ECDB5"/>
          </a:solidFill>
          <a:ln/>
        </p:spPr>
        <p:txBody>
          <a:bodyPr/>
          <a:lstStyle/>
          <a:p>
            <a:endParaRPr lang="en-US"/>
          </a:p>
        </p:txBody>
      </p:sp>
      <p:sp>
        <p:nvSpPr>
          <p:cNvPr id="67" name="Text 65"/>
          <p:cNvSpPr/>
          <p:nvPr/>
        </p:nvSpPr>
        <p:spPr>
          <a:xfrm>
            <a:off x="137160" y="3886200"/>
            <a:ext cx="1874520" cy="155448"/>
          </a:xfrm>
          <a:prstGeom prst="rect">
            <a:avLst/>
          </a:prstGeom>
          <a:noFill/>
          <a:ln/>
        </p:spPr>
        <p:txBody>
          <a:bodyPr wrap="square" lIns="0" tIns="0" rIns="0" bIns="0" rtlCol="0" anchor="ctr"/>
          <a:lstStyle/>
          <a:p>
            <a:pPr marL="0" indent="0">
              <a:buNone/>
            </a:pPr>
            <a:r>
              <a:rPr lang="en-US" sz="550" dirty="0">
                <a:solidFill>
                  <a:srgbClr val="2B2B2B"/>
                </a:solidFill>
              </a:rPr>
              <a:t>Pricing templates with VAS SCs</a:t>
            </a:r>
            <a:endParaRPr lang="en-US" sz="550" dirty="0"/>
          </a:p>
        </p:txBody>
      </p:sp>
      <p:sp>
        <p:nvSpPr>
          <p:cNvPr id="68" name="Shape 66"/>
          <p:cNvSpPr/>
          <p:nvPr/>
        </p:nvSpPr>
        <p:spPr>
          <a:xfrm>
            <a:off x="5458968" y="3909060"/>
            <a:ext cx="2466594" cy="109728"/>
          </a:xfrm>
          <a:prstGeom prst="rect">
            <a:avLst/>
          </a:prstGeom>
          <a:solidFill>
            <a:srgbClr val="7ECDB5"/>
          </a:solidFill>
          <a:ln/>
        </p:spPr>
        <p:txBody>
          <a:bodyPr/>
          <a:lstStyle/>
          <a:p>
            <a:endParaRPr lang="en-US"/>
          </a:p>
        </p:txBody>
      </p:sp>
      <p:sp>
        <p:nvSpPr>
          <p:cNvPr id="69" name="Text 67"/>
          <p:cNvSpPr/>
          <p:nvPr/>
        </p:nvSpPr>
        <p:spPr>
          <a:xfrm>
            <a:off x="137160" y="4041648"/>
            <a:ext cx="1874520" cy="155448"/>
          </a:xfrm>
          <a:prstGeom prst="rect">
            <a:avLst/>
          </a:prstGeom>
          <a:noFill/>
          <a:ln/>
        </p:spPr>
        <p:txBody>
          <a:bodyPr wrap="square" lIns="0" tIns="0" rIns="0" bIns="0" rtlCol="0" anchor="ctr"/>
          <a:lstStyle/>
          <a:p>
            <a:pPr marL="0" indent="0">
              <a:buNone/>
            </a:pPr>
            <a:r>
              <a:rPr lang="en-US" sz="550" dirty="0">
                <a:solidFill>
                  <a:srgbClr val="2B2B2B"/>
                </a:solidFill>
              </a:rPr>
              <a:t>Good/Better/Best packages</a:t>
            </a:r>
            <a:endParaRPr lang="en-US" sz="550" dirty="0"/>
          </a:p>
        </p:txBody>
      </p:sp>
      <p:sp>
        <p:nvSpPr>
          <p:cNvPr id="70" name="Shape 68"/>
          <p:cNvSpPr/>
          <p:nvPr/>
        </p:nvSpPr>
        <p:spPr>
          <a:xfrm>
            <a:off x="6293358" y="4064508"/>
            <a:ext cx="1632204" cy="109728"/>
          </a:xfrm>
          <a:prstGeom prst="rect">
            <a:avLst/>
          </a:prstGeom>
          <a:solidFill>
            <a:srgbClr val="7ECDB5"/>
          </a:solidFill>
          <a:ln/>
        </p:spPr>
        <p:txBody>
          <a:bodyPr/>
          <a:lstStyle/>
          <a:p>
            <a:endParaRPr lang="en-US"/>
          </a:p>
        </p:txBody>
      </p:sp>
      <p:sp>
        <p:nvSpPr>
          <p:cNvPr id="71" name="Shape 69"/>
          <p:cNvSpPr/>
          <p:nvPr/>
        </p:nvSpPr>
        <p:spPr>
          <a:xfrm>
            <a:off x="137160" y="4215384"/>
            <a:ext cx="1874520" cy="146304"/>
          </a:xfrm>
          <a:prstGeom prst="rect">
            <a:avLst/>
          </a:prstGeom>
          <a:solidFill>
            <a:srgbClr val="993C1D"/>
          </a:solidFill>
          <a:ln/>
        </p:spPr>
        <p:txBody>
          <a:bodyPr/>
          <a:lstStyle/>
          <a:p>
            <a:endParaRPr lang="en-US"/>
          </a:p>
        </p:txBody>
      </p:sp>
      <p:sp>
        <p:nvSpPr>
          <p:cNvPr id="72" name="Text 70"/>
          <p:cNvSpPr/>
          <p:nvPr/>
        </p:nvSpPr>
        <p:spPr>
          <a:xfrm>
            <a:off x="137160" y="4215384"/>
            <a:ext cx="1874520" cy="146304"/>
          </a:xfrm>
          <a:prstGeom prst="rect">
            <a:avLst/>
          </a:prstGeom>
          <a:noFill/>
          <a:ln/>
        </p:spPr>
        <p:txBody>
          <a:bodyPr wrap="square" rtlCol="0" anchor="ctr"/>
          <a:lstStyle/>
          <a:p>
            <a:pPr marL="0" indent="0" algn="ctr">
              <a:buNone/>
            </a:pPr>
            <a:r>
              <a:rPr lang="en-US" sz="550" b="1" dirty="0">
                <a:solidFill>
                  <a:srgbClr val="FFFFFF"/>
                </a:solidFill>
              </a:rPr>
              <a:t>Track 3: Brand fee capture</a:t>
            </a:r>
            <a:endParaRPr lang="en-US" sz="550" dirty="0"/>
          </a:p>
        </p:txBody>
      </p:sp>
      <p:sp>
        <p:nvSpPr>
          <p:cNvPr id="73" name="Text 71"/>
          <p:cNvSpPr/>
          <p:nvPr/>
        </p:nvSpPr>
        <p:spPr>
          <a:xfrm>
            <a:off x="137160" y="4370832"/>
            <a:ext cx="1874520" cy="155448"/>
          </a:xfrm>
          <a:prstGeom prst="rect">
            <a:avLst/>
          </a:prstGeom>
          <a:noFill/>
          <a:ln/>
        </p:spPr>
        <p:txBody>
          <a:bodyPr wrap="square" lIns="0" tIns="0" rIns="0" bIns="0" rtlCol="0" anchor="ctr"/>
          <a:lstStyle/>
          <a:p>
            <a:pPr marL="0" indent="0">
              <a:buNone/>
            </a:pPr>
            <a:r>
              <a:rPr lang="en-US" sz="550" dirty="0">
                <a:solidFill>
                  <a:srgbClr val="2B2B2B"/>
                </a:solidFill>
              </a:rPr>
              <a:t>Per-txn (automated)</a:t>
            </a:r>
            <a:endParaRPr lang="en-US" sz="550" dirty="0"/>
          </a:p>
        </p:txBody>
      </p:sp>
      <p:sp>
        <p:nvSpPr>
          <p:cNvPr id="74" name="Text 72"/>
          <p:cNvSpPr/>
          <p:nvPr/>
        </p:nvSpPr>
        <p:spPr>
          <a:xfrm>
            <a:off x="2148840" y="4370832"/>
            <a:ext cx="274320" cy="155448"/>
          </a:xfrm>
          <a:prstGeom prst="rect">
            <a:avLst/>
          </a:prstGeom>
          <a:noFill/>
          <a:ln/>
        </p:spPr>
        <p:txBody>
          <a:bodyPr wrap="square" rtlCol="0" anchor="ctr"/>
          <a:lstStyle/>
          <a:p>
            <a:pPr marL="0" indent="0" algn="ctr">
              <a:buNone/>
            </a:pPr>
            <a:r>
              <a:rPr lang="en-US" sz="600" dirty="0">
                <a:solidFill>
                  <a:srgbClr val="000000"/>
                </a:solidFill>
              </a:rPr>
              <a:t>✅</a:t>
            </a:r>
            <a:endParaRPr lang="en-US" sz="600" dirty="0"/>
          </a:p>
        </p:txBody>
      </p:sp>
      <p:sp>
        <p:nvSpPr>
          <p:cNvPr id="75" name="Text 73"/>
          <p:cNvSpPr/>
          <p:nvPr/>
        </p:nvSpPr>
        <p:spPr>
          <a:xfrm>
            <a:off x="137160" y="4526280"/>
            <a:ext cx="1874520" cy="155448"/>
          </a:xfrm>
          <a:prstGeom prst="rect">
            <a:avLst/>
          </a:prstGeom>
          <a:noFill/>
          <a:ln/>
        </p:spPr>
        <p:txBody>
          <a:bodyPr wrap="square" lIns="0" tIns="0" rIns="0" bIns="0" rtlCol="0" anchor="ctr"/>
          <a:lstStyle/>
          <a:p>
            <a:pPr marL="0" indent="0">
              <a:buNone/>
            </a:pPr>
            <a:r>
              <a:rPr lang="en-US" sz="550" dirty="0">
                <a:solidFill>
                  <a:srgbClr val="2B2B2B"/>
                </a:solidFill>
              </a:rPr>
              <a:t>FANF / ABVF automation</a:t>
            </a:r>
            <a:endParaRPr lang="en-US" sz="550" dirty="0"/>
          </a:p>
        </p:txBody>
      </p:sp>
      <p:sp>
        <p:nvSpPr>
          <p:cNvPr id="76" name="Shape 74"/>
          <p:cNvSpPr/>
          <p:nvPr/>
        </p:nvSpPr>
        <p:spPr>
          <a:xfrm>
            <a:off x="2955798" y="4549140"/>
            <a:ext cx="2466594" cy="109728"/>
          </a:xfrm>
          <a:prstGeom prst="rect">
            <a:avLst/>
          </a:prstGeom>
          <a:solidFill>
            <a:srgbClr val="F0997B"/>
          </a:solidFill>
          <a:ln/>
        </p:spPr>
        <p:txBody>
          <a:bodyPr/>
          <a:lstStyle/>
          <a:p>
            <a:endParaRPr lang="en-US"/>
          </a:p>
        </p:txBody>
      </p:sp>
      <p:sp>
        <p:nvSpPr>
          <p:cNvPr id="77" name="Text 75"/>
          <p:cNvSpPr/>
          <p:nvPr/>
        </p:nvSpPr>
        <p:spPr>
          <a:xfrm>
            <a:off x="137160" y="4681728"/>
            <a:ext cx="1874520" cy="155448"/>
          </a:xfrm>
          <a:prstGeom prst="rect">
            <a:avLst/>
          </a:prstGeom>
          <a:noFill/>
          <a:ln/>
        </p:spPr>
        <p:txBody>
          <a:bodyPr wrap="square" lIns="0" tIns="0" rIns="0" bIns="0" rtlCol="0" anchor="ctr"/>
          <a:lstStyle/>
          <a:p>
            <a:pPr marL="0" indent="0">
              <a:buNone/>
            </a:pPr>
            <a:r>
              <a:rPr lang="en-US" sz="550" dirty="0">
                <a:solidFill>
                  <a:srgbClr val="2B2B2B"/>
                </a:solidFill>
              </a:rPr>
              <a:t>Behavioral fee automation</a:t>
            </a:r>
            <a:endParaRPr lang="en-US" sz="550" dirty="0"/>
          </a:p>
        </p:txBody>
      </p:sp>
      <p:sp>
        <p:nvSpPr>
          <p:cNvPr id="78" name="Shape 76"/>
          <p:cNvSpPr/>
          <p:nvPr/>
        </p:nvSpPr>
        <p:spPr>
          <a:xfrm>
            <a:off x="3790188" y="4704588"/>
            <a:ext cx="2466594" cy="109728"/>
          </a:xfrm>
          <a:prstGeom prst="rect">
            <a:avLst/>
          </a:prstGeom>
          <a:solidFill>
            <a:srgbClr val="F0997B"/>
          </a:solidFill>
          <a:ln/>
        </p:spPr>
        <p:txBody>
          <a:bodyPr/>
          <a:lstStyle/>
          <a:p>
            <a:endParaRPr lang="en-US"/>
          </a:p>
        </p:txBody>
      </p:sp>
      <p:sp>
        <p:nvSpPr>
          <p:cNvPr id="79" name="Text 77"/>
          <p:cNvSpPr/>
          <p:nvPr/>
        </p:nvSpPr>
        <p:spPr>
          <a:xfrm>
            <a:off x="137160" y="4837176"/>
            <a:ext cx="1874520" cy="155448"/>
          </a:xfrm>
          <a:prstGeom prst="rect">
            <a:avLst/>
          </a:prstGeom>
          <a:noFill/>
          <a:ln/>
        </p:spPr>
        <p:txBody>
          <a:bodyPr wrap="square" lIns="0" tIns="0" rIns="0" bIns="0" rtlCol="0" anchor="ctr"/>
          <a:lstStyle/>
          <a:p>
            <a:pPr marL="0" indent="0">
              <a:buNone/>
            </a:pPr>
            <a:r>
              <a:rPr lang="en-US" sz="550" dirty="0">
                <a:solidFill>
                  <a:srgbClr val="2B2B2B"/>
                </a:solidFill>
              </a:rPr>
              <a:t>Averaged fee automation (lower pri)</a:t>
            </a:r>
            <a:endParaRPr lang="en-US" sz="550" dirty="0"/>
          </a:p>
        </p:txBody>
      </p:sp>
      <p:sp>
        <p:nvSpPr>
          <p:cNvPr id="80" name="Shape 78"/>
          <p:cNvSpPr/>
          <p:nvPr/>
        </p:nvSpPr>
        <p:spPr>
          <a:xfrm>
            <a:off x="6293358" y="4860036"/>
            <a:ext cx="1632204" cy="109728"/>
          </a:xfrm>
          <a:prstGeom prst="rect">
            <a:avLst/>
          </a:prstGeom>
          <a:solidFill>
            <a:srgbClr val="F5C4B3"/>
          </a:solidFill>
          <a:ln/>
        </p:spPr>
        <p:txBody>
          <a:bodyPr/>
          <a:lstStyle/>
          <a:p>
            <a:endParaRPr lang="en-US"/>
          </a:p>
        </p:txBody>
      </p:sp>
      <p:sp>
        <p:nvSpPr>
          <p:cNvPr id="81" name="Shape 79"/>
          <p:cNvSpPr/>
          <p:nvPr/>
        </p:nvSpPr>
        <p:spPr>
          <a:xfrm>
            <a:off x="137160" y="4754880"/>
            <a:ext cx="8869680" cy="256032"/>
          </a:xfrm>
          <a:prstGeom prst="rect">
            <a:avLst/>
          </a:prstGeom>
          <a:solidFill>
            <a:srgbClr val="F5F6FA"/>
          </a:solidFill>
          <a:ln/>
        </p:spPr>
        <p:txBody>
          <a:bodyPr/>
          <a:lstStyle/>
          <a:p>
            <a:endParaRPr lang="en-US"/>
          </a:p>
        </p:txBody>
      </p:sp>
      <p:sp>
        <p:nvSpPr>
          <p:cNvPr id="82" name="Text 80"/>
          <p:cNvSpPr/>
          <p:nvPr/>
        </p:nvSpPr>
        <p:spPr>
          <a:xfrm>
            <a:off x="274320" y="4754880"/>
            <a:ext cx="8595360" cy="256032"/>
          </a:xfrm>
          <a:prstGeom prst="rect">
            <a:avLst/>
          </a:prstGeom>
          <a:noFill/>
          <a:ln/>
        </p:spPr>
        <p:txBody>
          <a:bodyPr wrap="square" lIns="0" tIns="0" rIns="0" bIns="0" rtlCol="0" anchor="ctr"/>
          <a:lstStyle/>
          <a:p>
            <a:pPr marL="0" indent="0">
              <a:buNone/>
            </a:pPr>
            <a:r>
              <a:rPr lang="en-US" sz="700" dirty="0">
                <a:solidFill>
                  <a:srgbClr val="2B2B2B"/>
                </a:solidFill>
              </a:rPr>
              <a:t>Phase 1 key work: qualification engine + rate conditions for Core migration  |  Phase 2 key work: allocation + tiered + templates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3236</Words>
  <Application>Microsoft Office PowerPoint</Application>
  <PresentationFormat>On-screen Show (16:9)</PresentationFormat>
  <Paragraphs>517</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Monetization Strategy v7</dc:title>
  <dc:subject>PptxGenJS Presentation</dc:subject>
  <dc:creator>PptxGenJS</dc:creator>
  <cp:lastModifiedBy>James Nampalam</cp:lastModifiedBy>
  <cp:revision>1</cp:revision>
  <dcterms:created xsi:type="dcterms:W3CDTF">2026-04-13T01:25:34Z</dcterms:created>
  <dcterms:modified xsi:type="dcterms:W3CDTF">2026-04-13T01:33:05Z</dcterms:modified>
</cp:coreProperties>
</file>