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98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016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6501384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6B7280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MERCHANT SERVICES  |  PAYMENT CONTROL PLANE  |  STRATEGY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927080" y="65013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50" dirty="0">
                <a:solidFill>
                  <a:srgbClr val="6B7280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INTERNAL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STRATEGIC SHIFT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Winning the merchant relationship increasingly requires optimizing the payment estate — not only processing the transaction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4416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The opportunity is to move from a processor-centric role to a broader control layer across the merchant’s ecosystem.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029200" cy="3246120"/>
          </a:xfrm>
          <a:prstGeom prst="roundRect">
            <a:avLst>
              <a:gd name="adj" fmla="val 2254"/>
            </a:avLst>
          </a:prstGeom>
          <a:solidFill>
            <a:srgbClr val="EEF2F7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26771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1E7EE"/>
          </a:solidFill>
          <a:ln w="12700">
            <a:solidFill>
              <a:srgbClr val="E1E7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TODAY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Process the transaction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31012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Compete on authorization performance, gateway features and transaction economics.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Visibility largely ends at the traffic we process.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3364992"/>
            <a:ext cx="658368" cy="640080"/>
          </a:xfrm>
          <a:prstGeom prst="chevron">
            <a:avLst/>
          </a:prstGeom>
          <a:solidFill>
            <a:srgbClr val="1E63B5"/>
          </a:solidFill>
          <a:ln w="12700">
            <a:solidFill>
              <a:srgbClr val="1E6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65392" y="205740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240">
            <a:solidFill>
              <a:srgbClr val="BFD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93992" y="2267712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67144" y="23317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STRATEGIC OPPORTUNITY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93992" y="27432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Optimize the payment estate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93992" y="331012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Create value across credentials, routing, decisioning, settlement and funds — across JPM and third-party rails.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93992" y="4416552"/>
            <a:ext cx="3931920" cy="0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93992" y="459028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The control plane becomes the connective layer.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619963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8A2B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Source: Internal Payment Domain Platform strategy; reframed for executive discussion.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Merchant payment environments are becoming more complex — while optimization remains fragmented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4416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The need is increasingly for an abstraction layer above any individual processor.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31546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9536" y="226771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33172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MULTI-PROVIDER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761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Multiple processors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9536" y="33101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Large enterprises often keep multiple processors live for resilience, local access, acquired estates and negotiating leverage.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069080" y="2057400"/>
            <a:ext cx="31546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70248" y="226771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8F7FB"/>
          </a:solidFill>
          <a:ln w="12700">
            <a:solidFill>
              <a:srgbClr val="E8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3400" y="233172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A7C8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MULTI-CHANNEL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70248" y="2761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Store, web, app, wallet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70248" y="33101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One merchant relationship now spans multiple acceptance surfaces, credentials and customer journeys.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79792" y="2057400"/>
            <a:ext cx="31546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0" y="226771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AF7F5"/>
          </a:solidFill>
          <a:ln w="12700">
            <a:solidFill>
              <a:srgbClr val="EA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54112" y="233172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9C9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MULTI-MARKET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2761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Currencies, FX, payouts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80960" y="33101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Optimization extends into settlement currency, corridor economics, funds availability and payout choices.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1097280" y="4709160"/>
            <a:ext cx="10012680" cy="822960"/>
          </a:xfrm>
          <a:prstGeom prst="roundRect">
            <a:avLst>
              <a:gd name="adj" fmla="val 5556"/>
            </a:avLst>
          </a:prstGeom>
          <a:solidFill>
            <a:srgbClr val="EAF2FB"/>
          </a:solidFill>
          <a:ln w="12700">
            <a:solidFill>
              <a:srgbClr val="D5E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53312" y="49286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Implication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4846320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A processor-centric view captures only part of the merchant’s problem.  The strategic opportunity is a common layer that can observe and optimize across the broader estate.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619963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8A2B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Source: Internal strategy document, market position and cross-border sections.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Payment optimization extends well beyond the authorization decision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4416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Authorization is important — but merchant economics continue through credentials, routing, settlement, FX and funds movement.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10195560" cy="0"/>
          </a:xfrm>
          <a:prstGeom prst="line">
            <a:avLst/>
          </a:prstGeom>
          <a:noFill/>
          <a:ln w="25400">
            <a:solidFill>
              <a:srgbClr val="C9D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2999232"/>
            <a:ext cx="502920" cy="502920"/>
          </a:xfrm>
          <a:prstGeom prst="ellipse">
            <a:avLst/>
          </a:prstGeom>
          <a:solidFill>
            <a:srgbClr val="1E63B5"/>
          </a:solidFill>
          <a:ln w="12700">
            <a:solidFill>
              <a:srgbClr val="1E6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Credential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6393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Can I recognize and use it?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063240" y="2999232"/>
            <a:ext cx="502920" cy="5029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79192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Authorize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6393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Should / where should it run?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0" y="2999232"/>
            <a:ext cx="502920" cy="502920"/>
          </a:xfrm>
          <a:prstGeom prst="ellipse">
            <a:avLst/>
          </a:prstGeom>
          <a:solidFill>
            <a:srgbClr val="2AA7C8"/>
          </a:solidFill>
          <a:ln w="12700">
            <a:solidFill>
              <a:srgbClr val="2AA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5152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Route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36393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Which endpoint or rail?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995160" y="2999232"/>
            <a:ext cx="502920" cy="502920"/>
          </a:xfrm>
          <a:prstGeom prst="ellipse">
            <a:avLst/>
          </a:prstGeom>
          <a:solidFill>
            <a:srgbClr val="2D9C95"/>
          </a:solidFill>
          <a:ln w="12700">
            <a:solidFill>
              <a:srgbClr val="2D9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11112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Settle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6393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In what currency and when?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961120" y="2999232"/>
            <a:ext cx="502920" cy="502920"/>
          </a:xfrm>
          <a:prstGeom prst="ellipse">
            <a:avLst/>
          </a:prstGeom>
          <a:solidFill>
            <a:srgbClr val="4B9E65"/>
          </a:solidFill>
          <a:ln w="12700">
            <a:solidFill>
              <a:srgbClr val="4B9E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77072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Move funds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58200" y="36393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Where should the money land?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560320" y="4526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milliseconds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minutes → days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0120" y="4983480"/>
            <a:ext cx="10058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3970">
            <a:solidFill>
              <a:srgbClr val="C7D8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07008" y="5193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Strategic shift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51023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Expand the value proposition from “optimize my authorization” to “optimize how payments and funds move across my ecosystem.”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619963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8A2B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Source: Internal strategy document; lifecycle framing synthesized from the authorization and funds-optimization sections.</a:t>
            </a:r>
            <a:endParaRPr lang="en-US" sz="7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WHAT IS THE CONTROL PLANE?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A common intelligence, decisioning and optimization layer above individual execution providers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4416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The control plane does not replace processors; it coordinates and optimizes across them.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60520" y="1783080"/>
            <a:ext cx="3840480" cy="530352"/>
          </a:xfrm>
          <a:prstGeom prst="roundRect">
            <a:avLst>
              <a:gd name="adj" fmla="val 862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43400" y="19476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MERCHANT / PLATFORM ESTATE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42432" y="2359152"/>
            <a:ext cx="640080" cy="384048"/>
          </a:xfrm>
          <a:prstGeom prst="downArrow">
            <a:avLst/>
          </a:prstGeom>
          <a:solidFill>
            <a:srgbClr val="A8B9CB"/>
          </a:solidFill>
          <a:ln w="12700">
            <a:solidFill>
              <a:srgbClr val="A8B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2788920"/>
            <a:ext cx="10058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6510">
            <a:solidFill>
              <a:srgbClr val="9EB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25880" y="29535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J.P. MORGAN PAYMENT CONTROL PLANE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25880" y="3319272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EAF2FB"/>
          </a:solidFill>
          <a:ln w="10160">
            <a:solidFill>
              <a:srgbClr val="1E6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34564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7307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Data • identity • measurement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3319272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E9F8FB"/>
          </a:solidFill>
          <a:ln w="10160">
            <a:solidFill>
              <a:srgbClr val="2AA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34564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DECIDE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73075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Policy • routing • experimentation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3319272"/>
            <a:ext cx="2743200" cy="658368"/>
          </a:xfrm>
          <a:prstGeom prst="roundRect">
            <a:avLst>
              <a:gd name="adj" fmla="val 6944"/>
            </a:avLst>
          </a:prstGeom>
          <a:solidFill>
            <a:srgbClr val="EAF7F5"/>
          </a:solidFill>
          <a:ln w="10160">
            <a:solidFill>
              <a:srgbClr val="2D9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34564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373075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Settlement • FX • funds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42432" y="4389120"/>
            <a:ext cx="640080" cy="384048"/>
          </a:xfrm>
          <a:prstGeom prst="downArrow">
            <a:avLst/>
          </a:prstGeom>
          <a:solidFill>
            <a:srgbClr val="A8B9CB"/>
          </a:solidFill>
          <a:ln w="12700">
            <a:solidFill>
              <a:srgbClr val="A8B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4864608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3272" y="50292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JPM processing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4864608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9272" y="50292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Third-party PSPs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4864608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05272" y="50292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Local / A2A rails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18120" y="4864608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91272" y="50292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FX / treasury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104120" y="4864608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F1F4F8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77272" y="50292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Payout rails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619963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8A2B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Source: Internal strategy document, architecture section; simplified into three strategic layers.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WHERE CAN JPM DIFFERENTIATE?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The advantage is the combination of payment and banking assets — not any single control-plane feature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4416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The strategy should distinguish enabling capabilities from areas where JPM can create durable differentiation.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965960"/>
            <a:ext cx="1074420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86200" y="21305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Market reality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12280" y="21305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Potential JPM advantage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0" y="21305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Strategic role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" y="2505456"/>
            <a:ext cx="10707624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Data &amp; measurement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8620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Fragmented across providers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12280" y="2606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Issuer + acquiring + network signals, where permissible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26880" y="2606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1363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Vault / credentials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86200" y="3136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Strong specialist and PSP offerings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12280" y="31363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Portability across a broader merchant estate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26880" y="31363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CONTROL POINT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8096" y="3566160"/>
            <a:ext cx="10707624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6667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Orchestration / proxy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200" y="3666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Increasingly replicable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12280" y="36667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Enterprise-grade connectivity and policy enforcement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26880" y="36667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ENABLER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41970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Decision intelligence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86200" y="4197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Still emerging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12280" y="41970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Closed-loop measurement + experimentation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26880" y="41970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DIFFERENTIATOR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8096" y="4626864"/>
            <a:ext cx="10707624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727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Funds optimization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86200" y="4727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Fragmented across payment / treasury stacks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12280" y="4727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Banking, FX, clearing and liquidity capabilities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26880" y="4727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GROWTH VECTOR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97280" y="5532120"/>
            <a:ext cx="10012680" cy="475488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12700">
            <a:solidFill>
              <a:srgbClr val="D5E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25880" y="5669280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Orchestration enables the control plane; the differentiated value comes from intelligence, decisioning and financial optimization.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594360" y="619963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8A2B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Source: Internal strategy document, competitive position and pressure-test sections; claims softened to comparative advantages.</a:t>
            </a:r>
            <a:endParaRPr lang="en-US" sz="7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MOMENTUM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The foundations of the control plane are already being built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4416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Several 2027 initiatives map directly to the strategic architecture — creating an opportunity to connect them as a platform, not manage them as isolated products.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2331720" cy="24231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26771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BIN Insights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101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Instrument and payment intelligence that improves visibility into the transaction.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3520440" y="2057400"/>
            <a:ext cx="2331720" cy="24231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03320" y="226771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9F8FB"/>
          </a:solidFill>
          <a:ln w="12700">
            <a:solidFill>
              <a:srgbClr val="E9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76472" y="233172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A7C8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CONTROL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2788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Vault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03320" y="33101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Credential abstraction and lifecycle management across the merchant relationship.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355080" y="2057400"/>
            <a:ext cx="2331720" cy="24231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37960" y="226771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EF4FA"/>
          </a:solidFill>
          <a:ln w="12700">
            <a:solidFill>
              <a:srgbClr val="EEF4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11112" y="233172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8BCB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EXECUTE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37960" y="2788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Forward Proxy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33101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Connectivity that allows transactions to reach JPM or third-party processing endpoints.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9189720" y="2057400"/>
            <a:ext cx="2331720" cy="24231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372600" y="226771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AF7F5"/>
          </a:solidFill>
          <a:ln w="12700">
            <a:solidFill>
              <a:srgbClr val="EAF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45752" y="233172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9C9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DECIDE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72600" y="2788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Decision Engine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72600" y="33101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Policy, routing, experimentation and optimization based on measurable outcomes.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1783080" y="4873752"/>
            <a:ext cx="8366760" cy="0"/>
          </a:xfrm>
          <a:prstGeom prst="line">
            <a:avLst/>
          </a:prstGeom>
          <a:noFill/>
          <a:ln w="25400">
            <a:solidFill>
              <a:srgbClr val="AFC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09928" y="4754880"/>
            <a:ext cx="237744" cy="237744"/>
          </a:xfrm>
          <a:prstGeom prst="ellipse">
            <a:avLst/>
          </a:prstGeom>
          <a:solidFill>
            <a:srgbClr val="1E63B5"/>
          </a:solidFill>
          <a:ln w="12700">
            <a:solidFill>
              <a:srgbClr val="1E6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44568" y="4754880"/>
            <a:ext cx="237744" cy="237744"/>
          </a:xfrm>
          <a:prstGeom prst="ellipse">
            <a:avLst/>
          </a:prstGeom>
          <a:solidFill>
            <a:srgbClr val="2AA7C8"/>
          </a:solidFill>
          <a:ln w="12700">
            <a:solidFill>
              <a:srgbClr val="2AA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79208" y="4754880"/>
            <a:ext cx="237744" cy="237744"/>
          </a:xfrm>
          <a:prstGeom prst="ellipse">
            <a:avLst/>
          </a:prstGeom>
          <a:solidFill>
            <a:srgbClr val="4C8BCB"/>
          </a:solidFill>
          <a:ln w="12700">
            <a:solidFill>
              <a:srgbClr val="4C8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213848" y="4754880"/>
            <a:ext cx="237744" cy="237744"/>
          </a:xfrm>
          <a:prstGeom prst="ellipse">
            <a:avLst/>
          </a:prstGeom>
          <a:solidFill>
            <a:srgbClr val="2D9C95"/>
          </a:solidFill>
          <a:ln w="12700">
            <a:solidFill>
              <a:srgbClr val="2D9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120" y="5230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Together, these initiatives provide much of the data, credential, connectivity and decisioning foundation required for a broader control plane.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594360" y="619963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8A2B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Source: Current Merchant Services product initiatives supplied for this strategy discussion.</a:t>
            </a:r>
            <a:endParaRPr lang="en-US" sz="7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FROM PRODUCTS TO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The control plane is not a fifth product — it is the architecture that connects the products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4416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Connecting the capabilities creates a closed-loop optimization model that is more valuable than the sum of the individual components.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892040" y="2542032"/>
            <a:ext cx="2377440" cy="2377440"/>
          </a:xfrm>
          <a:prstGeom prst="ellipse">
            <a:avLst/>
          </a:prstGeom>
          <a:solidFill>
            <a:srgbClr val="F8FAFC"/>
          </a:solidFill>
          <a:ln w="15240">
            <a:solidFill>
              <a:srgbClr val="D5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85232" y="32461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CONTROL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PLANE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40680" y="178308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E6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50408" y="1929384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OBSERVE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50408" y="224028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BIN Insights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909560" y="260604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D9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19288" y="2752344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9C9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DECIDE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19288" y="306324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Decision Engine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635240" y="475488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AA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44968" y="4901184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A7C8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EXECUTE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44968" y="521208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Vault + Forward Proxy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3429000" y="475488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4C8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38728" y="4901184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8BCB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MEASURE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38728" y="521208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Outcomes / economics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154680" y="260604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64408" y="2752344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80ED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LEARN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64408" y="306324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Rules + models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7269480" y="2423160"/>
            <a:ext cx="457200" cy="292608"/>
          </a:xfrm>
          <a:prstGeom prst="chevron">
            <a:avLst/>
          </a:prstGeom>
          <a:solidFill>
            <a:srgbClr val="A9B8C8"/>
          </a:solidFill>
          <a:ln w="12700">
            <a:solidFill>
              <a:srgbClr val="A9B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58200" y="3657600"/>
            <a:ext cx="292608" cy="475488"/>
          </a:xfrm>
          <a:prstGeom prst="downArrow">
            <a:avLst/>
          </a:prstGeom>
          <a:solidFill>
            <a:srgbClr val="A9B8C8"/>
          </a:solidFill>
          <a:ln w="12700">
            <a:solidFill>
              <a:srgbClr val="A9B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rot="10800000">
            <a:off x="6126480" y="5102352"/>
            <a:ext cx="457200" cy="292608"/>
          </a:xfrm>
          <a:prstGeom prst="chevron">
            <a:avLst/>
          </a:prstGeom>
          <a:solidFill>
            <a:srgbClr val="A9B8C8"/>
          </a:solidFill>
          <a:ln w="12700">
            <a:solidFill>
              <a:srgbClr val="A9B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rot="16200000">
            <a:off x="3794760" y="4041648"/>
            <a:ext cx="457200" cy="292608"/>
          </a:xfrm>
          <a:prstGeom prst="chevron">
            <a:avLst/>
          </a:prstGeom>
          <a:solidFill>
            <a:srgbClr val="A9B8C8"/>
          </a:solidFill>
          <a:ln w="12700">
            <a:solidFill>
              <a:srgbClr val="A9B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87952" y="2395728"/>
            <a:ext cx="457200" cy="292608"/>
          </a:xfrm>
          <a:prstGeom prst="chevron">
            <a:avLst/>
          </a:prstGeom>
          <a:solidFill>
            <a:srgbClr val="A9B8C8"/>
          </a:solidFill>
          <a:ln w="12700">
            <a:solidFill>
              <a:srgbClr val="A9B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Platform 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2423160"/>
            <a:ext cx="2057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• Shared data model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• Common policy framework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• Unified outcome measurement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• Reusable APIs and controls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• Learning that compounds across use cases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594360" y="619963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8A2B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Source: Strategy synthesis based on internal product capabilities and control-plane architecture.</a:t>
            </a:r>
            <a:endParaRPr lang="en-US" sz="7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PATH FORWARD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Connect the existing capabilities first — then expand the optimization surface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4416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A phased approach preserves standalone value while building toward estate-wide optimization.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30175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502920" cy="502920"/>
          </a:xfrm>
          <a:prstGeom prst="ellipse">
            <a:avLst/>
          </a:prstGeom>
          <a:solidFill>
            <a:srgbClr val="1E63B5"/>
          </a:solidFill>
          <a:ln w="12700">
            <a:solidFill>
              <a:srgbClr val="1E6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4140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23225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CONNECT THE FOUNDATIONS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Create the common data, policy and measurement layer across BIN Insights, Vault, Forward Proxy and Decision Engine.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1005840" y="4160520"/>
            <a:ext cx="2487168" cy="0"/>
          </a:xfrm>
          <a:prstGeom prst="line">
            <a:avLst/>
          </a:prstGeom>
          <a:noFill/>
          <a:ln w="12700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3159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Outcome: integrated control-plane foundation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886200" y="3218688"/>
            <a:ext cx="411480" cy="457200"/>
          </a:xfrm>
          <a:prstGeom prst="chevron">
            <a:avLst/>
          </a:prstGeom>
          <a:solidFill>
            <a:srgbClr val="B7C6D6"/>
          </a:solidFill>
          <a:ln w="12700">
            <a:solidFill>
              <a:srgbClr val="B7C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60520" y="2057400"/>
            <a:ext cx="30175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0" y="2286000"/>
            <a:ext cx="502920" cy="502920"/>
          </a:xfrm>
          <a:prstGeom prst="ellipse">
            <a:avLst/>
          </a:prstGeom>
          <a:solidFill>
            <a:srgbClr val="2AA7C8"/>
          </a:solidFill>
          <a:ln w="12700">
            <a:solidFill>
              <a:srgbClr val="2AA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0" y="24140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3225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PROVE ESTATE-WIDE 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0632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Use the platform to measure and optimize performance across JPM and selected third-party processing endpoints.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389120" y="4160520"/>
            <a:ext cx="2487168" cy="0"/>
          </a:xfrm>
          <a:prstGeom prst="line">
            <a:avLst/>
          </a:prstGeom>
          <a:noFill/>
          <a:ln w="12700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0" y="43159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AA7C8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Outcome: measurable merchant uplift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269480" y="3218688"/>
            <a:ext cx="411480" cy="457200"/>
          </a:xfrm>
          <a:prstGeom prst="chevron">
            <a:avLst/>
          </a:prstGeom>
          <a:solidFill>
            <a:srgbClr val="B7C6D6"/>
          </a:solidFill>
          <a:ln w="12700">
            <a:solidFill>
              <a:srgbClr val="B7C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43800" y="2057400"/>
            <a:ext cx="30175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0" y="2286000"/>
            <a:ext cx="502920" cy="502920"/>
          </a:xfrm>
          <a:prstGeom prst="ellipse">
            <a:avLst/>
          </a:prstGeom>
          <a:solidFill>
            <a:srgbClr val="2D9C95"/>
          </a:solidFill>
          <a:ln w="12700">
            <a:solidFill>
              <a:srgbClr val="2D9C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0" y="24140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23225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EXPAND INTO MONEY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30632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Extend the control plane into settlement currency, FX, liquidity, netting and payout optimization.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772400" y="4160520"/>
            <a:ext cx="2487168" cy="0"/>
          </a:xfrm>
          <a:prstGeom prst="line">
            <a:avLst/>
          </a:prstGeom>
          <a:noFill/>
          <a:ln w="12700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0" y="43159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D9C9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Outcome: broader payment + treasury value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1143000" y="5212080"/>
            <a:ext cx="9921240" cy="658368"/>
          </a:xfrm>
          <a:prstGeom prst="roundRect">
            <a:avLst>
              <a:gd name="adj" fmla="val 6944"/>
            </a:avLst>
          </a:prstGeom>
          <a:solidFill>
            <a:srgbClr val="EAF2FB"/>
          </a:solidFill>
          <a:ln w="12700">
            <a:solidFill>
              <a:srgbClr val="D5E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71600" y="543153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3B5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Leadership alignment requested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01568" y="532180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02A4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Treat the current investments as a common control-plane strategy; align architecture and measurement across them; preserve an explicit path into funds optimization.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594360" y="6199632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8A2B3"/>
                </a:solidFill>
                <a:latin typeface="AmplitudeTF" pitchFamily="34" charset="0"/>
                <a:ea typeface="AmplitudeTF" pitchFamily="34" charset="-122"/>
                <a:cs typeface="AmplitudeTF" pitchFamily="34" charset="-120"/>
              </a:rPr>
              <a:t>Source: Strategy synthesis; sequencing builds on the internal roadmap while reflecting initiatives already underway.</a:t>
            </a:r>
            <a:endParaRPr lang="en-US" sz="7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mplitudeTF"/>
                <a:ea typeface="AmplitudeTF"/>
                <a:cs typeface="AmplitudeTF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mplitudeT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plitudeTF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992</Words>
  <Application>Microsoft Office PowerPoint</Application>
  <PresentationFormat>Widescreen</PresentationFormat>
  <Paragraphs>164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AmplitudeTF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J.P. Morgan Merchant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Control Plane Strategy</dc:title>
  <dc:subject>Payment Control Plane Strategy</dc:subject>
  <dc:creator>OpenAI</dc:creator>
  <cp:lastModifiedBy>James Nampalam</cp:lastModifiedBy>
  <cp:revision>1</cp:revision>
  <dcterms:created xsi:type="dcterms:W3CDTF">2026-08-18T16:07:28Z</dcterms:created>
  <dcterms:modified xsi:type="dcterms:W3CDTF">2026-08-18T16:11:04Z</dcterms:modified>
</cp:coreProperties>
</file>