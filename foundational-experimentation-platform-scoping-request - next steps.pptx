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1A830EB5-90C4-4B94-B1F3-990ABEE713C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INVESTMENT CASE</a:t>
            </a: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8770DFD3-66A5-4374-93E2-7E193917201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857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39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Build the Foundational Experimentation Platform</a:t>
            </a:r>
          </a:p>
        </p:txBody>
      </p:sp>
      <p:sp>
        <p:nvSpPr>
          <p:cNvPr id="3" name="deck-subtitle">
            <a:extLst>
              <a:ext uri="{FF2B5EF4-FFF2-40B4-BE49-F238E27FC236}">
                <a16:creationId xmlns:a16="http://schemas.microsoft.com/office/drawing/2014/main" id="{439EDC74-3730-4A71-9B1E-D9F8FFC2A65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857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D8E5EC"/>
                </a:solidFill>
                <a:latin typeface="AmplitudeTF"/>
                <a:ea typeface="AmplitudeTF"/>
                <a:cs typeface="AmplitudeTF"/>
              </a:defRPr>
            </a:pPr>
            <a:r>
              <a:rPr sz="1800" b="0">
                <a:solidFill>
                  <a:srgbClr val="D8E5EC"/>
                </a:solidFill>
                <a:latin typeface="AmplitudeTF"/>
                <a:ea typeface="AmplitudeTF"/>
                <a:cs typeface="AmplitudeTF"/>
              </a:rPr>
              <a:t>Create a shared decisioning and experimentation foundation for payments, pricing, onboarding and digital journeys.</a:t>
            </a:r>
          </a:p>
        </p:txBody>
      </p:sp>
      <p:sp>
        <p:nvSpPr>
          <p:cNvPr id="4" name="thesis-band">
            <a:extLst>
              <a:ext uri="{FF2B5EF4-FFF2-40B4-BE49-F238E27FC236}">
                <a16:creationId xmlns:a16="http://schemas.microsoft.com/office/drawing/2014/main" id="{F9462CC8-4F4D-4786-8448-F475652AF9F6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hesis-label">
            <a:extLst>
              <a:ext uri="{FF2B5EF4-FFF2-40B4-BE49-F238E27FC236}">
                <a16:creationId xmlns:a16="http://schemas.microsoft.com/office/drawing/2014/main" id="{D32EE1BF-340F-4C4F-B17F-1E4489C1A00A}"/>
              </a:ext>
            </a:extLst>
          </p:cNvPr>
          <p:cNvSpPr>
            <a:spLocks noGrp="1"/>
          </p:cNvSpPr>
          <p:nvPr/>
        </p:nvSpPr>
        <p:spPr>
          <a:xfrm>
            <a:off x="933450" y="4143375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THE DECISION</a:t>
            </a:r>
          </a:p>
        </p:txBody>
      </p:sp>
      <p:sp>
        <p:nvSpPr>
          <p:cNvPr id="6" name="thesis-copy">
            <a:extLst>
              <a:ext uri="{FF2B5EF4-FFF2-40B4-BE49-F238E27FC236}">
                <a16:creationId xmlns:a16="http://schemas.microsoft.com/office/drawing/2014/main" id="{839E96F5-A900-4BDF-8B3A-DD0F88905176}"/>
              </a:ext>
            </a:extLst>
          </p:cNvPr>
          <p:cNvSpPr>
            <a:spLocks noGrp="1"/>
          </p:cNvSpPr>
          <p:nvPr/>
        </p:nvSpPr>
        <p:spPr>
          <a:xfrm>
            <a:off x="933450" y="4476750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Approve a structured scoping and design phase to define the requirements, architecture and investment needed for the shared platform.</a:t>
            </a:r>
          </a:p>
        </p:txBody>
      </p:sp>
      <p:sp>
        <p:nvSpPr>
          <p:cNvPr id="7" name="outcome-0">
            <a:extLst>
              <a:ext uri="{FF2B5EF4-FFF2-40B4-BE49-F238E27FC236}">
                <a16:creationId xmlns:a16="http://schemas.microsoft.com/office/drawing/2014/main" id="{1582F21B-3A5A-407A-B7CC-5E8BE432AEAD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3200400" cy="781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utcome-h-0">
            <a:extLst>
              <a:ext uri="{FF2B5EF4-FFF2-40B4-BE49-F238E27FC236}">
                <a16:creationId xmlns:a16="http://schemas.microsoft.com/office/drawing/2014/main" id="{1BDE2A48-C5C0-4472-A59B-824F63C4E443}"/>
              </a:ext>
            </a:extLst>
          </p:cNvPr>
          <p:cNvSpPr>
            <a:spLocks noGrp="1"/>
          </p:cNvSpPr>
          <p:nvPr/>
        </p:nvSpPr>
        <p:spPr>
          <a:xfrm>
            <a:off x="8572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Align the opportunity</a:t>
            </a:r>
          </a:p>
        </p:txBody>
      </p:sp>
      <p:sp>
        <p:nvSpPr>
          <p:cNvPr id="9" name="outcome-b-0">
            <a:extLst>
              <a:ext uri="{FF2B5EF4-FFF2-40B4-BE49-F238E27FC236}">
                <a16:creationId xmlns:a16="http://schemas.microsoft.com/office/drawing/2014/main" id="{961510FE-46DC-4702-BC9E-CF17D47ACAA8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Prioritize use cases, domains and measurable outcomes</a:t>
            </a:r>
          </a:p>
        </p:txBody>
      </p:sp>
      <p:sp>
        <p:nvSpPr>
          <p:cNvPr id="10" name="outcome-1">
            <a:extLst>
              <a:ext uri="{FF2B5EF4-FFF2-40B4-BE49-F238E27FC236}">
                <a16:creationId xmlns:a16="http://schemas.microsoft.com/office/drawing/2014/main" id="{C7B0BEA3-7C14-4254-8268-C65B5070E5A9}"/>
              </a:ext>
            </a:extLst>
          </p:cNvPr>
          <p:cNvSpPr>
            <a:spLocks noGrp="1"/>
          </p:cNvSpPr>
          <p:nvPr/>
        </p:nvSpPr>
        <p:spPr>
          <a:xfrm>
            <a:off x="4305300" y="5391150"/>
            <a:ext cx="3200400" cy="7810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utcome-h-1">
            <a:extLst>
              <a:ext uri="{FF2B5EF4-FFF2-40B4-BE49-F238E27FC236}">
                <a16:creationId xmlns:a16="http://schemas.microsoft.com/office/drawing/2014/main" id="{FB5C6E38-F3BB-4FCF-9834-7D55B80B4AD3}"/>
              </a:ext>
            </a:extLst>
          </p:cNvPr>
          <p:cNvSpPr>
            <a:spLocks noGrp="1"/>
          </p:cNvSpPr>
          <p:nvPr/>
        </p:nvSpPr>
        <p:spPr>
          <a:xfrm>
            <a:off x="44767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Define the foundation</a:t>
            </a:r>
          </a:p>
        </p:txBody>
      </p:sp>
      <p:sp>
        <p:nvSpPr>
          <p:cNvPr id="12" name="outcome-b-1">
            <a:extLst>
              <a:ext uri="{FF2B5EF4-FFF2-40B4-BE49-F238E27FC236}">
                <a16:creationId xmlns:a16="http://schemas.microsoft.com/office/drawing/2014/main" id="{4E459F2E-6D41-4C4A-8860-A233C72AA361}"/>
              </a:ext>
            </a:extLst>
          </p:cNvPr>
          <p:cNvSpPr>
            <a:spLocks noGrp="1"/>
          </p:cNvSpPr>
          <p:nvPr/>
        </p:nvSpPr>
        <p:spPr>
          <a:xfrm>
            <a:off x="44767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Confirm requirements, architecture, governance and delivery approach</a:t>
            </a:r>
          </a:p>
        </p:txBody>
      </p:sp>
      <p:sp>
        <p:nvSpPr>
          <p:cNvPr id="13" name="outcome-2">
            <a:extLst>
              <a:ext uri="{FF2B5EF4-FFF2-40B4-BE49-F238E27FC236}">
                <a16:creationId xmlns:a16="http://schemas.microsoft.com/office/drawing/2014/main" id="{850D5B21-9801-446B-9C08-0DF35E9A7DE7}"/>
              </a:ext>
            </a:extLst>
          </p:cNvPr>
          <p:cNvSpPr>
            <a:spLocks noGrp="1"/>
          </p:cNvSpPr>
          <p:nvPr/>
        </p:nvSpPr>
        <p:spPr>
          <a:xfrm>
            <a:off x="7924800" y="5391150"/>
            <a:ext cx="3200400" cy="781050"/>
          </a:xfrm>
          <a:prstGeom prst="rect">
            <a:avLst/>
          </a:prstGeom>
          <a:solidFill>
            <a:srgbClr val="BFE7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utcome-h-2">
            <a:extLst>
              <a:ext uri="{FF2B5EF4-FFF2-40B4-BE49-F238E27FC236}">
                <a16:creationId xmlns:a16="http://schemas.microsoft.com/office/drawing/2014/main" id="{5646D3F6-AA07-48D8-8FD4-9F0C337738C9}"/>
              </a:ext>
            </a:extLst>
          </p:cNvPr>
          <p:cNvSpPr>
            <a:spLocks noGrp="1"/>
          </p:cNvSpPr>
          <p:nvPr/>
        </p:nvSpPr>
        <p:spPr>
          <a:xfrm>
            <a:off x="8096250" y="55340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Return investment-ready</a:t>
            </a:r>
          </a:p>
        </p:txBody>
      </p:sp>
      <p:sp>
        <p:nvSpPr>
          <p:cNvPr id="15" name="outcome-b-2">
            <a:extLst>
              <a:ext uri="{FF2B5EF4-FFF2-40B4-BE49-F238E27FC236}">
                <a16:creationId xmlns:a16="http://schemas.microsoft.com/office/drawing/2014/main" id="{1EB0F1DA-3A26-4A1A-BEC8-917EC6A34977}"/>
              </a:ext>
            </a:extLst>
          </p:cNvPr>
          <p:cNvSpPr>
            <a:spLocks noGrp="1"/>
          </p:cNvSpPr>
          <p:nvPr/>
        </p:nvSpPr>
        <p:spPr>
          <a:xfrm>
            <a:off x="8096250" y="58102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050" b="0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Bring back team, cost, roadmap, benefits and implementation ask</a:t>
            </a:r>
          </a:p>
        </p:txBody>
      </p:sp>
      <p:sp>
        <p:nvSpPr>
          <p:cNvPr id="16" name="page-1">
            <a:extLst>
              <a:ext uri="{FF2B5EF4-FFF2-40B4-BE49-F238E27FC236}">
                <a16:creationId xmlns:a16="http://schemas.microsoft.com/office/drawing/2014/main" id="{3312943A-FE39-4797-82CD-497752468217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A9BCC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A9BCC8"/>
                </a:solidFill>
                <a:latin typeface="AmplitudeTF"/>
                <a:ea typeface="AmplitudeTF"/>
                <a:cs typeface="AmplitudeTF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6789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2">
            <a:extLst>
              <a:ext uri="{FF2B5EF4-FFF2-40B4-BE49-F238E27FC236}">
                <a16:creationId xmlns:a16="http://schemas.microsoft.com/office/drawing/2014/main" id="{2E7A57A6-F7C2-4AA9-B0E7-1772F32551D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WHY CHANGE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A8745D6A-E6F2-405D-885C-A3344B67DC6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The gateway executes transactions—but cannot optimize at market speed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4F696F60-EB0F-4FCA-8CB7-D02ED14937F7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2">
            <a:extLst>
              <a:ext uri="{FF2B5EF4-FFF2-40B4-BE49-F238E27FC236}">
                <a16:creationId xmlns:a16="http://schemas.microsoft.com/office/drawing/2014/main" id="{EF751761-3FA3-477B-A5DE-2F6E70FA17AC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02</a:t>
            </a:r>
          </a:p>
        </p:txBody>
      </p:sp>
      <p:sp>
        <p:nvSpPr>
          <p:cNvPr id="5" name="constraint-1">
            <a:extLst>
              <a:ext uri="{FF2B5EF4-FFF2-40B4-BE49-F238E27FC236}">
                <a16:creationId xmlns:a16="http://schemas.microsoft.com/office/drawing/2014/main" id="{42FF2772-7503-4206-AFBC-346CBEBEDA8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nstraint-1-accent">
            <a:extLst>
              <a:ext uri="{FF2B5EF4-FFF2-40B4-BE49-F238E27FC236}">
                <a16:creationId xmlns:a16="http://schemas.microsoft.com/office/drawing/2014/main" id="{2E1199D5-5D29-47E7-9C35-D1EE1CAE0C8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6200" cy="25717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nstraint-1-heading">
            <a:extLst>
              <a:ext uri="{FF2B5EF4-FFF2-40B4-BE49-F238E27FC236}">
                <a16:creationId xmlns:a16="http://schemas.microsoft.com/office/drawing/2014/main" id="{63666C44-44EE-4E9A-9358-62DA91656E0E}"/>
              </a:ext>
            </a:extLst>
          </p:cNvPr>
          <p:cNvSpPr>
            <a:spLocks noGrp="1"/>
          </p:cNvSpPr>
          <p:nvPr/>
        </p:nvSpPr>
        <p:spPr>
          <a:xfrm>
            <a:off x="95250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Decisions are embedded in code</a:t>
            </a:r>
          </a:p>
        </p:txBody>
      </p:sp>
      <p:sp>
        <p:nvSpPr>
          <p:cNvPr id="8" name="constraint-1-body">
            <a:extLst>
              <a:ext uri="{FF2B5EF4-FFF2-40B4-BE49-F238E27FC236}">
                <a16:creationId xmlns:a16="http://schemas.microsoft.com/office/drawing/2014/main" id="{AFC62899-21B7-43A9-B0B3-E87FE9916927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Optimization logic is tied to shared payment flows. Strategy changes require engineering releases and cannot be deployed independently.</a:t>
            </a:r>
          </a:p>
        </p:txBody>
      </p:sp>
      <p:sp>
        <p:nvSpPr>
          <p:cNvPr id="9" name="constraint-2">
            <a:extLst>
              <a:ext uri="{FF2B5EF4-FFF2-40B4-BE49-F238E27FC236}">
                <a16:creationId xmlns:a16="http://schemas.microsoft.com/office/drawing/2014/main" id="{D7DD3C71-EFC3-4C00-B1DC-2DF746EFBC3C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onstraint-2-accent">
            <a:extLst>
              <a:ext uri="{FF2B5EF4-FFF2-40B4-BE49-F238E27FC236}">
                <a16:creationId xmlns:a16="http://schemas.microsoft.com/office/drawing/2014/main" id="{3715FE77-0957-4CC4-9B30-72982752D8D6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76200" cy="25717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straint-2-heading">
            <a:extLst>
              <a:ext uri="{FF2B5EF4-FFF2-40B4-BE49-F238E27FC236}">
                <a16:creationId xmlns:a16="http://schemas.microsoft.com/office/drawing/2014/main" id="{BB23BD51-8A32-4FC4-A1E9-193B08C86884}"/>
              </a:ext>
            </a:extLst>
          </p:cNvPr>
          <p:cNvSpPr>
            <a:spLocks noGrp="1"/>
          </p:cNvSpPr>
          <p:nvPr/>
        </p:nvSpPr>
        <p:spPr>
          <a:xfrm>
            <a:off x="470535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Experimentation is fragmented</a:t>
            </a:r>
          </a:p>
        </p:txBody>
      </p:sp>
      <p:sp>
        <p:nvSpPr>
          <p:cNvPr id="12" name="constraint-2-body">
            <a:extLst>
              <a:ext uri="{FF2B5EF4-FFF2-40B4-BE49-F238E27FC236}">
                <a16:creationId xmlns:a16="http://schemas.microsoft.com/office/drawing/2014/main" id="{D6D7DF5E-B89C-40CD-95CA-82938ED2AA4E}"/>
              </a:ext>
            </a:extLst>
          </p:cNvPr>
          <p:cNvSpPr>
            <a:spLocks noGrp="1"/>
          </p:cNvSpPr>
          <p:nvPr/>
        </p:nvSpPr>
        <p:spPr>
          <a:xfrm>
            <a:off x="470535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Traffic allocation, control groups and performance measurement are inconsistent—limiting safe rollout and causal learning.</a:t>
            </a:r>
          </a:p>
        </p:txBody>
      </p:sp>
      <p:sp>
        <p:nvSpPr>
          <p:cNvPr id="13" name="constraint-3">
            <a:extLst>
              <a:ext uri="{FF2B5EF4-FFF2-40B4-BE49-F238E27FC236}">
                <a16:creationId xmlns:a16="http://schemas.microsoft.com/office/drawing/2014/main" id="{13EC5D0D-2B96-40BF-A105-5F1E047086C8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33147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onstraint-3-accent">
            <a:extLst>
              <a:ext uri="{FF2B5EF4-FFF2-40B4-BE49-F238E27FC236}">
                <a16:creationId xmlns:a16="http://schemas.microsoft.com/office/drawing/2014/main" id="{811D1179-8BD4-42F8-9B22-4C8A4807A233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76200" cy="2571750"/>
          </a:xfrm>
          <a:prstGeom prst="rect">
            <a:avLst/>
          </a:prstGeom>
          <a:solidFill>
            <a:srgbClr val="4E7C8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onstraint-3-heading">
            <a:extLst>
              <a:ext uri="{FF2B5EF4-FFF2-40B4-BE49-F238E27FC236}">
                <a16:creationId xmlns:a16="http://schemas.microsoft.com/office/drawing/2014/main" id="{493B66C7-5E5B-4EF3-A87D-F572ED20F3D2}"/>
              </a:ext>
            </a:extLst>
          </p:cNvPr>
          <p:cNvSpPr>
            <a:spLocks noGrp="1"/>
          </p:cNvSpPr>
          <p:nvPr/>
        </p:nvSpPr>
        <p:spPr>
          <a:xfrm>
            <a:off x="8458200" y="2038350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Complexity compounds with every product</a:t>
            </a:r>
          </a:p>
        </p:txBody>
      </p:sp>
      <p:sp>
        <p:nvSpPr>
          <p:cNvPr id="16" name="constraint-3-body">
            <a:extLst>
              <a:ext uri="{FF2B5EF4-FFF2-40B4-BE49-F238E27FC236}">
                <a16:creationId xmlns:a16="http://schemas.microsoft.com/office/drawing/2014/main" id="{19EADC6C-2447-4EDF-ACFD-9FFB4B472059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28194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New logic adds branches, dependencies and release risk to shared flows—while transaction execution paths become harder to trace.</a:t>
            </a:r>
          </a:p>
        </p:txBody>
      </p:sp>
      <p:sp>
        <p:nvSpPr>
          <p:cNvPr id="17" name="consequence">
            <a:extLst>
              <a:ext uri="{FF2B5EF4-FFF2-40B4-BE49-F238E27FC236}">
                <a16:creationId xmlns:a16="http://schemas.microsoft.com/office/drawing/2014/main" id="{B396411E-0845-459F-8118-5656015B033D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1104900"/>
          </a:xfrm>
          <a:prstGeom prst="roundRect">
            <a:avLst>
              <a:gd name="adj" fmla="val 6897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onsequence-label">
            <a:extLst>
              <a:ext uri="{FF2B5EF4-FFF2-40B4-BE49-F238E27FC236}">
                <a16:creationId xmlns:a16="http://schemas.microsoft.com/office/drawing/2014/main" id="{3CFE8FD3-BB6C-4105-9B00-C33B10288BF6}"/>
              </a:ext>
            </a:extLst>
          </p:cNvPr>
          <p:cNvSpPr>
            <a:spLocks noGrp="1"/>
          </p:cNvSpPr>
          <p:nvPr/>
        </p:nvSpPr>
        <p:spPr>
          <a:xfrm>
            <a:off x="933450" y="49720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BUSINESS CONSEQUENCE</a:t>
            </a:r>
          </a:p>
        </p:txBody>
      </p:sp>
      <p:sp>
        <p:nvSpPr>
          <p:cNvPr id="19" name="consequence-copy">
            <a:extLst>
              <a:ext uri="{FF2B5EF4-FFF2-40B4-BE49-F238E27FC236}">
                <a16:creationId xmlns:a16="http://schemas.microsoft.com/office/drawing/2014/main" id="{9A4B5CBA-0881-4293-B522-8C5BBFA94415}"/>
              </a:ext>
            </a:extLst>
          </p:cNvPr>
          <p:cNvSpPr>
            <a:spLocks noGrp="1"/>
          </p:cNvSpPr>
          <p:nvPr/>
        </p:nvSpPr>
        <p:spPr>
          <a:xfrm>
            <a:off x="933450" y="5267325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The constraint is not a shortage of optimization ideas—it is the absence of a common layer to deploy, measure and scale them safely.</a:t>
            </a:r>
          </a:p>
        </p:txBody>
      </p:sp>
    </p:spTree>
    <p:extLst>
      <p:ext uri="{BB962C8B-B14F-4D97-AF65-F5344CB8AC3E}">
        <p14:creationId xmlns:p14="http://schemas.microsoft.com/office/powerpoint/2010/main" val="15345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icker-3">
            <a:extLst>
              <a:ext uri="{FF2B5EF4-FFF2-40B4-BE49-F238E27FC236}">
                <a16:creationId xmlns:a16="http://schemas.microsoft.com/office/drawing/2014/main" id="{7319AF76-9681-4CD9-A154-AB114607C3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VALUE UNLOCKED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824397CF-634B-4191-82A9-88EA40CE9F3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 common orchestration platform unlocks multiple sources of value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143D5ADD-092E-4BEF-B054-47AC72315593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3">
            <a:extLst>
              <a:ext uri="{FF2B5EF4-FFF2-40B4-BE49-F238E27FC236}">
                <a16:creationId xmlns:a16="http://schemas.microsoft.com/office/drawing/2014/main" id="{8E81082A-2056-45EC-8729-E8D2C8F39981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03</a:t>
            </a:r>
          </a:p>
        </p:txBody>
      </p:sp>
      <p:sp>
        <p:nvSpPr>
          <p:cNvPr id="5" name="value-subtitle">
            <a:extLst>
              <a:ext uri="{FF2B5EF4-FFF2-40B4-BE49-F238E27FC236}">
                <a16:creationId xmlns:a16="http://schemas.microsoft.com/office/drawing/2014/main" id="{6A469B94-2027-4ECA-9E29-9465D4227D8A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35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Reusable decisioning, experimentation and orchestration capabilities improve performance, reduce cost, strengthen resilience and enable differentiated vertical propositions.</a:t>
            </a:r>
          </a:p>
        </p:txBody>
      </p:sp>
      <p:sp>
        <p:nvSpPr>
          <p:cNvPr id="6" name="pool-0">
            <a:extLst>
              <a:ext uri="{FF2B5EF4-FFF2-40B4-BE49-F238E27FC236}">
                <a16:creationId xmlns:a16="http://schemas.microsoft.com/office/drawing/2014/main" id="{823F11FD-056B-4C4D-BD1A-F7CC4D57D276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ol-top-0">
            <a:extLst>
              <a:ext uri="{FF2B5EF4-FFF2-40B4-BE49-F238E27FC236}">
                <a16:creationId xmlns:a16="http://schemas.microsoft.com/office/drawing/2014/main" id="{6248EE58-2729-4B3D-952D-A69FE6E4F55A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381250" cy="952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pool-label-0">
            <a:extLst>
              <a:ext uri="{FF2B5EF4-FFF2-40B4-BE49-F238E27FC236}">
                <a16:creationId xmlns:a16="http://schemas.microsoft.com/office/drawing/2014/main" id="{AB04FF5B-7B32-4F18-A3CB-FDAE78E1EC4A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OPTIMIZE REVENUE</a:t>
            </a:r>
          </a:p>
        </p:txBody>
      </p:sp>
      <p:sp>
        <p:nvSpPr>
          <p:cNvPr id="9" name="pool-head-0">
            <a:extLst>
              <a:ext uri="{FF2B5EF4-FFF2-40B4-BE49-F238E27FC236}">
                <a16:creationId xmlns:a16="http://schemas.microsoft.com/office/drawing/2014/main" id="{A72D2F43-8266-4693-8672-7E47C4A01713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Recover more good payments</a:t>
            </a:r>
          </a:p>
        </p:txBody>
      </p:sp>
      <p:sp>
        <p:nvSpPr>
          <p:cNvPr id="10" name="pool-items-0">
            <a:extLst>
              <a:ext uri="{FF2B5EF4-FFF2-40B4-BE49-F238E27FC236}">
                <a16:creationId xmlns:a16="http://schemas.microsoft.com/office/drawing/2014/main" id="{2EB16A66-4D2C-48BB-8F74-9A7802A6841B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Smart retries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Authentication optimization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Message augmentation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Intelligent routing</a:t>
            </a:r>
          </a:p>
        </p:txBody>
      </p:sp>
      <p:sp>
        <p:nvSpPr>
          <p:cNvPr id="11" name="pool-1">
            <a:extLst>
              <a:ext uri="{FF2B5EF4-FFF2-40B4-BE49-F238E27FC236}">
                <a16:creationId xmlns:a16="http://schemas.microsoft.com/office/drawing/2014/main" id="{FD315E6B-9C42-43D4-9D0C-8BFF6082F3EC}"/>
              </a:ext>
            </a:extLst>
          </p:cNvPr>
          <p:cNvSpPr>
            <a:spLocks noGrp="1"/>
          </p:cNvSpPr>
          <p:nvPr/>
        </p:nvSpPr>
        <p:spPr>
          <a:xfrm>
            <a:off x="340995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ool-top-1">
            <a:extLst>
              <a:ext uri="{FF2B5EF4-FFF2-40B4-BE49-F238E27FC236}">
                <a16:creationId xmlns:a16="http://schemas.microsoft.com/office/drawing/2014/main" id="{97BAC809-26F4-4CA0-B592-7465D57C9A29}"/>
              </a:ext>
            </a:extLst>
          </p:cNvPr>
          <p:cNvSpPr>
            <a:spLocks noGrp="1"/>
          </p:cNvSpPr>
          <p:nvPr/>
        </p:nvSpPr>
        <p:spPr>
          <a:xfrm>
            <a:off x="3409950" y="2038350"/>
            <a:ext cx="2381250" cy="952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ool-label-1">
            <a:extLst>
              <a:ext uri="{FF2B5EF4-FFF2-40B4-BE49-F238E27FC236}">
                <a16:creationId xmlns:a16="http://schemas.microsoft.com/office/drawing/2014/main" id="{7842DF9F-579B-4809-8A57-6813F26A620E}"/>
              </a:ext>
            </a:extLst>
          </p:cNvPr>
          <p:cNvSpPr>
            <a:spLocks noGrp="1"/>
          </p:cNvSpPr>
          <p:nvPr/>
        </p:nvSpPr>
        <p:spPr>
          <a:xfrm>
            <a:off x="360045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0A6C8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0A6C8"/>
                </a:solidFill>
                <a:latin typeface="AmplitudeTF"/>
                <a:ea typeface="AmplitudeTF"/>
                <a:cs typeface="AmplitudeTF"/>
              </a:rPr>
              <a:t>REDUCE PAYMENT COST</a:t>
            </a:r>
          </a:p>
        </p:txBody>
      </p:sp>
      <p:sp>
        <p:nvSpPr>
          <p:cNvPr id="14" name="pool-head-1">
            <a:extLst>
              <a:ext uri="{FF2B5EF4-FFF2-40B4-BE49-F238E27FC236}">
                <a16:creationId xmlns:a16="http://schemas.microsoft.com/office/drawing/2014/main" id="{C82A3B49-8C57-441C-9042-812E93FD8C19}"/>
              </a:ext>
            </a:extLst>
          </p:cNvPr>
          <p:cNvSpPr>
            <a:spLocks noGrp="1"/>
          </p:cNvSpPr>
          <p:nvPr/>
        </p:nvSpPr>
        <p:spPr>
          <a:xfrm>
            <a:off x="360045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Select the best economic path</a:t>
            </a:r>
          </a:p>
        </p:txBody>
      </p:sp>
      <p:sp>
        <p:nvSpPr>
          <p:cNvPr id="15" name="pool-items-1">
            <a:extLst>
              <a:ext uri="{FF2B5EF4-FFF2-40B4-BE49-F238E27FC236}">
                <a16:creationId xmlns:a16="http://schemas.microsoft.com/office/drawing/2014/main" id="{ED8BF174-A631-4B35-853A-BFE1079370D5}"/>
              </a:ext>
            </a:extLst>
          </p:cNvPr>
          <p:cNvSpPr>
            <a:spLocks noGrp="1"/>
          </p:cNvSpPr>
          <p:nvPr/>
        </p:nvSpPr>
        <p:spPr>
          <a:xfrm>
            <a:off x="360045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Least-cost debit routing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Rail and network selection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Acquirer optimization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Cost–performance balancing</a:t>
            </a:r>
          </a:p>
        </p:txBody>
      </p:sp>
      <p:sp>
        <p:nvSpPr>
          <p:cNvPr id="16" name="pool-2">
            <a:extLst>
              <a:ext uri="{FF2B5EF4-FFF2-40B4-BE49-F238E27FC236}">
                <a16:creationId xmlns:a16="http://schemas.microsoft.com/office/drawing/2014/main" id="{C0E4A4FC-3680-406A-A88F-4FD13DD533E0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ool-top-2">
            <a:extLst>
              <a:ext uri="{FF2B5EF4-FFF2-40B4-BE49-F238E27FC236}">
                <a16:creationId xmlns:a16="http://schemas.microsoft.com/office/drawing/2014/main" id="{E90E34DF-D8B0-4AC2-8C2F-D83C26B3B70E}"/>
              </a:ext>
            </a:extLst>
          </p:cNvPr>
          <p:cNvSpPr>
            <a:spLocks noGrp="1"/>
          </p:cNvSpPr>
          <p:nvPr/>
        </p:nvSpPr>
        <p:spPr>
          <a:xfrm>
            <a:off x="6134100" y="2038350"/>
            <a:ext cx="2381250" cy="95250"/>
          </a:xfrm>
          <a:prstGeom prst="rect">
            <a:avLst/>
          </a:prstGeom>
          <a:solidFill>
            <a:srgbClr val="4E7C8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ool-label-2">
            <a:extLst>
              <a:ext uri="{FF2B5EF4-FFF2-40B4-BE49-F238E27FC236}">
                <a16:creationId xmlns:a16="http://schemas.microsoft.com/office/drawing/2014/main" id="{82042F0C-3362-44C9-AAE9-4D7C6E0EFF72}"/>
              </a:ext>
            </a:extLst>
          </p:cNvPr>
          <p:cNvSpPr>
            <a:spLocks noGrp="1"/>
          </p:cNvSpPr>
          <p:nvPr/>
        </p:nvSpPr>
        <p:spPr>
          <a:xfrm>
            <a:off x="632460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E7C8C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4E7C8C"/>
                </a:solidFill>
                <a:latin typeface="AmplitudeTF"/>
                <a:ea typeface="AmplitudeTF"/>
                <a:cs typeface="AmplitudeTF"/>
              </a:rPr>
              <a:t>STRENGTHEN RESILIENCE</a:t>
            </a:r>
          </a:p>
        </p:txBody>
      </p:sp>
      <p:sp>
        <p:nvSpPr>
          <p:cNvPr id="19" name="pool-head-2">
            <a:extLst>
              <a:ext uri="{FF2B5EF4-FFF2-40B4-BE49-F238E27FC236}">
                <a16:creationId xmlns:a16="http://schemas.microsoft.com/office/drawing/2014/main" id="{FC2031C7-F327-45BE-BEAB-0133305268B3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Change safely under live traffic</a:t>
            </a:r>
          </a:p>
        </p:txBody>
      </p:sp>
      <p:sp>
        <p:nvSpPr>
          <p:cNvPr id="20" name="pool-items-2">
            <a:extLst>
              <a:ext uri="{FF2B5EF4-FFF2-40B4-BE49-F238E27FC236}">
                <a16:creationId xmlns:a16="http://schemas.microsoft.com/office/drawing/2014/main" id="{A08CBF76-69B1-4EA4-BF66-E7B14C069B1B}"/>
              </a:ext>
            </a:extLst>
          </p:cNvPr>
          <p:cNvSpPr>
            <a:spLocks noGrp="1"/>
          </p:cNvSpPr>
          <p:nvPr/>
        </p:nvSpPr>
        <p:spPr>
          <a:xfrm>
            <a:off x="632460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Failover and guardrails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Progressive rollout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Automated rollback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Decision traceability</a:t>
            </a:r>
          </a:p>
        </p:txBody>
      </p:sp>
      <p:sp>
        <p:nvSpPr>
          <p:cNvPr id="21" name="pool-3">
            <a:extLst>
              <a:ext uri="{FF2B5EF4-FFF2-40B4-BE49-F238E27FC236}">
                <a16:creationId xmlns:a16="http://schemas.microsoft.com/office/drawing/2014/main" id="{5E79F107-18B3-45EA-B796-4FFC6140B2DB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381250" cy="2876550"/>
          </a:xfrm>
          <a:prstGeom prst="roundRect">
            <a:avLst>
              <a:gd name="adj" fmla="val 3200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ool-top-3">
            <a:extLst>
              <a:ext uri="{FF2B5EF4-FFF2-40B4-BE49-F238E27FC236}">
                <a16:creationId xmlns:a16="http://schemas.microsoft.com/office/drawing/2014/main" id="{D4A66D7F-BA26-4A3A-9804-F0C7397C6F6F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381250" cy="95250"/>
          </a:xfrm>
          <a:prstGeom prst="rect">
            <a:avLst/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pool-label-3">
            <a:extLst>
              <a:ext uri="{FF2B5EF4-FFF2-40B4-BE49-F238E27FC236}">
                <a16:creationId xmlns:a16="http://schemas.microsoft.com/office/drawing/2014/main" id="{E2C9154F-FF7F-4D5E-B5FB-44A8F0CEAE89}"/>
              </a:ext>
            </a:extLst>
          </p:cNvPr>
          <p:cNvSpPr>
            <a:spLocks noGrp="1"/>
          </p:cNvSpPr>
          <p:nvPr/>
        </p:nvSpPr>
        <p:spPr>
          <a:xfrm>
            <a:off x="9048750" y="2286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ENABLE VERTICAL EXPANSION</a:t>
            </a:r>
          </a:p>
        </p:txBody>
      </p:sp>
      <p:sp>
        <p:nvSpPr>
          <p:cNvPr id="24" name="pool-head-3">
            <a:extLst>
              <a:ext uri="{FF2B5EF4-FFF2-40B4-BE49-F238E27FC236}">
                <a16:creationId xmlns:a16="http://schemas.microsoft.com/office/drawing/2014/main" id="{DD64532D-A5D1-4348-861A-A2646D61CA31}"/>
              </a:ext>
            </a:extLst>
          </p:cNvPr>
          <p:cNvSpPr>
            <a:spLocks noGrp="1"/>
          </p:cNvSpPr>
          <p:nvPr/>
        </p:nvSpPr>
        <p:spPr>
          <a:xfrm>
            <a:off x="9048750" y="262890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Launch differentiated payment journeys</a:t>
            </a:r>
          </a:p>
        </p:txBody>
      </p:sp>
      <p:sp>
        <p:nvSpPr>
          <p:cNvPr id="25" name="pool-items-3">
            <a:extLst>
              <a:ext uri="{FF2B5EF4-FFF2-40B4-BE49-F238E27FC236}">
                <a16:creationId xmlns:a16="http://schemas.microsoft.com/office/drawing/2014/main" id="{AE1C13A4-5008-4E5B-8221-BE08020FEB2E}"/>
              </a:ext>
            </a:extLst>
          </p:cNvPr>
          <p:cNvSpPr>
            <a:spLocks noGrp="1"/>
          </p:cNvSpPr>
          <p:nvPr/>
        </p:nvSpPr>
        <p:spPr>
          <a:xfrm>
            <a:off x="9048750" y="3524250"/>
            <a:ext cx="2000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Vertical-specific blueprints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Reusable strategy components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Faster segment entry</a:t>
            </a:r>
          </a:p>
          <a:p>
            <a:pPr algn="l">
              <a:def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No platform rebuild</a:t>
            </a:r>
          </a:p>
        </p:txBody>
      </p:sp>
      <p:sp>
        <p:nvSpPr>
          <p:cNvPr id="26" name="value-takeaway">
            <a:extLst>
              <a:ext uri="{FF2B5EF4-FFF2-40B4-BE49-F238E27FC236}">
                <a16:creationId xmlns:a16="http://schemas.microsoft.com/office/drawing/2014/main" id="{483055C9-FDD0-4AA2-AD20-1E907425AA4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value-takeaway-label">
            <a:extLst>
              <a:ext uri="{FF2B5EF4-FFF2-40B4-BE49-F238E27FC236}">
                <a16:creationId xmlns:a16="http://schemas.microsoft.com/office/drawing/2014/main" id="{7390ECB3-5E1B-43EA-A778-0104D0C34056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PLATFORM ECONOMICS</a:t>
            </a:r>
          </a:p>
        </p:txBody>
      </p:sp>
      <p:sp>
        <p:nvSpPr>
          <p:cNvPr id="28" name="value-takeaway-copy">
            <a:extLst>
              <a:ext uri="{FF2B5EF4-FFF2-40B4-BE49-F238E27FC236}">
                <a16:creationId xmlns:a16="http://schemas.microsoft.com/office/drawing/2014/main" id="{85D3855D-F91B-42CA-9ED7-D361B1543FCA}"/>
              </a:ext>
            </a:extLst>
          </p:cNvPr>
          <p:cNvSpPr>
            <a:spLocks noGrp="1"/>
          </p:cNvSpPr>
          <p:nvPr/>
        </p:nvSpPr>
        <p:spPr>
          <a:xfrm>
            <a:off x="895350" y="5705475"/>
            <a:ext cx="10172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7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Build shared capabilities once, then reuse them across optimization products, enterprise journeys and vertical-specific blueprints.</a:t>
            </a:r>
          </a:p>
        </p:txBody>
      </p:sp>
    </p:spTree>
    <p:extLst>
      <p:ext uri="{BB962C8B-B14F-4D97-AF65-F5344CB8AC3E}">
        <p14:creationId xmlns:p14="http://schemas.microsoft.com/office/powerpoint/2010/main" val="123569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kicker-4">
            <a:extLst>
              <a:ext uri="{FF2B5EF4-FFF2-40B4-BE49-F238E27FC236}">
                <a16:creationId xmlns:a16="http://schemas.microsoft.com/office/drawing/2014/main" id="{492560E8-C6E7-498C-B954-280B8B860D5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SUCCESS FRAMEWORK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5067C64C-18ED-4ED4-90B6-20EF0B72ADF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Measure success through business outcomes and platform performance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7D148309-8955-4545-8134-F90ED36AC2F6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4">
            <a:extLst>
              <a:ext uri="{FF2B5EF4-FFF2-40B4-BE49-F238E27FC236}">
                <a16:creationId xmlns:a16="http://schemas.microsoft.com/office/drawing/2014/main" id="{79A9008E-418B-4B19-8761-F23908CBBB40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04</a:t>
            </a:r>
          </a:p>
        </p:txBody>
      </p:sp>
      <p:sp>
        <p:nvSpPr>
          <p:cNvPr id="5" name="metrics-subtitle">
            <a:extLst>
              <a:ext uri="{FF2B5EF4-FFF2-40B4-BE49-F238E27FC236}">
                <a16:creationId xmlns:a16="http://schemas.microsoft.com/office/drawing/2014/main" id="{6BA5D169-685A-47C5-9704-13ACEA31068C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35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The scoping phase will establish baselines, targets, measurement methods and guardrails before the full investment request.</a:t>
            </a:r>
          </a:p>
        </p:txBody>
      </p:sp>
      <p:sp>
        <p:nvSpPr>
          <p:cNvPr id="6" name="business-panel">
            <a:extLst>
              <a:ext uri="{FF2B5EF4-FFF2-40B4-BE49-F238E27FC236}">
                <a16:creationId xmlns:a16="http://schemas.microsoft.com/office/drawing/2014/main" id="{A5A0C71A-5259-4419-8887-6037B2017C96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5105400" cy="3105150"/>
          </a:xfrm>
          <a:prstGeom prst="roundRect">
            <a:avLst>
              <a:gd name="adj" fmla="val 2454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latform-panel">
            <a:extLst>
              <a:ext uri="{FF2B5EF4-FFF2-40B4-BE49-F238E27FC236}">
                <a16:creationId xmlns:a16="http://schemas.microsoft.com/office/drawing/2014/main" id="{1CA7D79D-BC80-42BD-AE1D-EA85CB0FBF7E}"/>
              </a:ext>
            </a:extLst>
          </p:cNvPr>
          <p:cNvSpPr>
            <a:spLocks noGrp="1"/>
          </p:cNvSpPr>
          <p:nvPr/>
        </p:nvSpPr>
        <p:spPr>
          <a:xfrm>
            <a:off x="6400800" y="2114550"/>
            <a:ext cx="5105400" cy="3105150"/>
          </a:xfrm>
          <a:prstGeom prst="roundRect">
            <a:avLst>
              <a:gd name="adj" fmla="val 2454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usiness-panel-label">
            <a:extLst>
              <a:ext uri="{FF2B5EF4-FFF2-40B4-BE49-F238E27FC236}">
                <a16:creationId xmlns:a16="http://schemas.microsoft.com/office/drawing/2014/main" id="{C1FDA274-4A20-436C-B5DC-3BB8D93CFCAF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BUSINESS OUTCOMES</a:t>
            </a:r>
          </a:p>
        </p:txBody>
      </p:sp>
      <p:sp>
        <p:nvSpPr>
          <p:cNvPr id="9" name="business-panel-head">
            <a:extLst>
              <a:ext uri="{FF2B5EF4-FFF2-40B4-BE49-F238E27FC236}">
                <a16:creationId xmlns:a16="http://schemas.microsoft.com/office/drawing/2014/main" id="{055D4441-FE83-476D-A79D-E1542857085D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Prove measurable enterprise value</a:t>
            </a:r>
          </a:p>
        </p:txBody>
      </p:sp>
      <p:sp>
        <p:nvSpPr>
          <p:cNvPr id="10" name="business-row-0">
            <a:extLst>
              <a:ext uri="{FF2B5EF4-FFF2-40B4-BE49-F238E27FC236}">
                <a16:creationId xmlns:a16="http://schemas.microsoft.com/office/drawing/2014/main" id="{2F3CA5EF-1232-49B4-A0B5-5F60A7792FF7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1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Approval-rate lift vs. control</a:t>
            </a:r>
          </a:p>
        </p:txBody>
      </p:sp>
      <p:sp>
        <p:nvSpPr>
          <p:cNvPr id="11" name="business-dot-0">
            <a:extLst>
              <a:ext uri="{FF2B5EF4-FFF2-40B4-BE49-F238E27FC236}">
                <a16:creationId xmlns:a16="http://schemas.microsoft.com/office/drawing/2014/main" id="{530D458D-8568-4562-B1B1-E0CD0A757036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57150" cy="571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usiness-row-1">
            <a:extLst>
              <a:ext uri="{FF2B5EF4-FFF2-40B4-BE49-F238E27FC236}">
                <a16:creationId xmlns:a16="http://schemas.microsoft.com/office/drawing/2014/main" id="{E084FE25-A0F6-45FE-AD6F-60A61431C4F3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Payment cost per eligible transaction</a:t>
            </a:r>
          </a:p>
        </p:txBody>
      </p:sp>
      <p:sp>
        <p:nvSpPr>
          <p:cNvPr id="13" name="business-dot-1">
            <a:extLst>
              <a:ext uri="{FF2B5EF4-FFF2-40B4-BE49-F238E27FC236}">
                <a16:creationId xmlns:a16="http://schemas.microsoft.com/office/drawing/2014/main" id="{81DC74D9-EF67-413A-9921-C56C03DEEF52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usiness-row-2">
            <a:extLst>
              <a:ext uri="{FF2B5EF4-FFF2-40B4-BE49-F238E27FC236}">
                <a16:creationId xmlns:a16="http://schemas.microsoft.com/office/drawing/2014/main" id="{8DECC547-BCE5-4035-8DFB-A4BE1C3308E1}"/>
              </a:ext>
            </a:extLst>
          </p:cNvPr>
          <p:cNvSpPr>
            <a:spLocks noGrp="1"/>
          </p:cNvSpPr>
          <p:nvPr/>
        </p:nvSpPr>
        <p:spPr>
          <a:xfrm>
            <a:off x="1066800" y="3943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Recovered merchant revenue</a:t>
            </a:r>
          </a:p>
        </p:txBody>
      </p:sp>
      <p:sp>
        <p:nvSpPr>
          <p:cNvPr id="15" name="business-dot-2">
            <a:extLst>
              <a:ext uri="{FF2B5EF4-FFF2-40B4-BE49-F238E27FC236}">
                <a16:creationId xmlns:a16="http://schemas.microsoft.com/office/drawing/2014/main" id="{B9E35F71-55A6-4F7C-8781-D0828B606B7E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usiness-row-3">
            <a:extLst>
              <a:ext uri="{FF2B5EF4-FFF2-40B4-BE49-F238E27FC236}">
                <a16:creationId xmlns:a16="http://schemas.microsoft.com/office/drawing/2014/main" id="{30DDF3A1-29CA-4FFD-AA37-3419C7F0335F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Checkout and onboarding conversion</a:t>
            </a:r>
          </a:p>
        </p:txBody>
      </p:sp>
      <p:sp>
        <p:nvSpPr>
          <p:cNvPr id="17" name="business-dot-3">
            <a:extLst>
              <a:ext uri="{FF2B5EF4-FFF2-40B4-BE49-F238E27FC236}">
                <a16:creationId xmlns:a16="http://schemas.microsoft.com/office/drawing/2014/main" id="{4038B41F-23FF-4C54-9C0B-8129F3313E05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usiness-row-4">
            <a:extLst>
              <a:ext uri="{FF2B5EF4-FFF2-40B4-BE49-F238E27FC236}">
                <a16:creationId xmlns:a16="http://schemas.microsoft.com/office/drawing/2014/main" id="{2ADC501F-19FB-473F-812F-687DC4728002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Revenue enabled by new verticals</a:t>
            </a:r>
          </a:p>
        </p:txBody>
      </p:sp>
      <p:sp>
        <p:nvSpPr>
          <p:cNvPr id="19" name="business-dot-4">
            <a:extLst>
              <a:ext uri="{FF2B5EF4-FFF2-40B4-BE49-F238E27FC236}">
                <a16:creationId xmlns:a16="http://schemas.microsoft.com/office/drawing/2014/main" id="{9A5CE89E-8D28-47DA-BBFF-33D8D9F3675A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platform-panel-label">
            <a:extLst>
              <a:ext uri="{FF2B5EF4-FFF2-40B4-BE49-F238E27FC236}">
                <a16:creationId xmlns:a16="http://schemas.microsoft.com/office/drawing/2014/main" id="{4A5F0D88-962D-4619-AD37-3674D862524A}"/>
              </a:ext>
            </a:extLst>
          </p:cNvPr>
          <p:cNvSpPr>
            <a:spLocks noGrp="1"/>
          </p:cNvSpPr>
          <p:nvPr/>
        </p:nvSpPr>
        <p:spPr>
          <a:xfrm>
            <a:off x="6629400" y="23431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PLATFORM PERFORMANCE</a:t>
            </a:r>
          </a:p>
        </p:txBody>
      </p:sp>
      <p:sp>
        <p:nvSpPr>
          <p:cNvPr id="21" name="platform-panel-head">
            <a:extLst>
              <a:ext uri="{FF2B5EF4-FFF2-40B4-BE49-F238E27FC236}">
                <a16:creationId xmlns:a16="http://schemas.microsoft.com/office/drawing/2014/main" id="{3B47B0BA-2DA6-4EFA-9801-971E7964A723}"/>
              </a:ext>
            </a:extLst>
          </p:cNvPr>
          <p:cNvSpPr>
            <a:spLocks noGrp="1"/>
          </p:cNvSpPr>
          <p:nvPr/>
        </p:nvSpPr>
        <p:spPr>
          <a:xfrm>
            <a:off x="6629400" y="26860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8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Prove speed, adoption and reliability</a:t>
            </a:r>
          </a:p>
        </p:txBody>
      </p:sp>
      <p:sp>
        <p:nvSpPr>
          <p:cNvPr id="22" name="platform-row-0">
            <a:extLst>
              <a:ext uri="{FF2B5EF4-FFF2-40B4-BE49-F238E27FC236}">
                <a16:creationId xmlns:a16="http://schemas.microsoft.com/office/drawing/2014/main" id="{BE54153E-C092-48D5-A12F-E789F34BAC01}"/>
              </a:ext>
            </a:extLst>
          </p:cNvPr>
          <p:cNvSpPr>
            <a:spLocks noGrp="1"/>
          </p:cNvSpPr>
          <p:nvPr/>
        </p:nvSpPr>
        <p:spPr>
          <a:xfrm>
            <a:off x="6781800" y="32194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1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Time to launch a strategy</a:t>
            </a:r>
          </a:p>
        </p:txBody>
      </p:sp>
      <p:sp>
        <p:nvSpPr>
          <p:cNvPr id="23" name="platform-dot-0">
            <a:extLst>
              <a:ext uri="{FF2B5EF4-FFF2-40B4-BE49-F238E27FC236}">
                <a16:creationId xmlns:a16="http://schemas.microsoft.com/office/drawing/2014/main" id="{14C0CA58-9381-486A-BBF7-9F900D3FE19E}"/>
              </a:ext>
            </a:extLst>
          </p:cNvPr>
          <p:cNvSpPr>
            <a:spLocks noGrp="1"/>
          </p:cNvSpPr>
          <p:nvPr/>
        </p:nvSpPr>
        <p:spPr>
          <a:xfrm>
            <a:off x="6629400" y="3295650"/>
            <a:ext cx="57150" cy="571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latform-row-1">
            <a:extLst>
              <a:ext uri="{FF2B5EF4-FFF2-40B4-BE49-F238E27FC236}">
                <a16:creationId xmlns:a16="http://schemas.microsoft.com/office/drawing/2014/main" id="{3FB7B56F-BAC3-4F5A-BF8B-0A8602D948FF}"/>
              </a:ext>
            </a:extLst>
          </p:cNvPr>
          <p:cNvSpPr>
            <a:spLocks noGrp="1"/>
          </p:cNvSpPr>
          <p:nvPr/>
        </p:nvSpPr>
        <p:spPr>
          <a:xfrm>
            <a:off x="6781800" y="3581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Experiment velocity and coverage</a:t>
            </a:r>
          </a:p>
        </p:txBody>
      </p:sp>
      <p:sp>
        <p:nvSpPr>
          <p:cNvPr id="25" name="platform-dot-1">
            <a:extLst>
              <a:ext uri="{FF2B5EF4-FFF2-40B4-BE49-F238E27FC236}">
                <a16:creationId xmlns:a16="http://schemas.microsoft.com/office/drawing/2014/main" id="{563A7399-BFB9-451A-95B4-DB80A388601C}"/>
              </a:ext>
            </a:extLst>
          </p:cNvPr>
          <p:cNvSpPr>
            <a:spLocks noGrp="1"/>
          </p:cNvSpPr>
          <p:nvPr/>
        </p:nvSpPr>
        <p:spPr>
          <a:xfrm>
            <a:off x="6629400" y="365760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platform-row-2">
            <a:extLst>
              <a:ext uri="{FF2B5EF4-FFF2-40B4-BE49-F238E27FC236}">
                <a16:creationId xmlns:a16="http://schemas.microsoft.com/office/drawing/2014/main" id="{DECE466D-1D82-4A4B-B1FF-C66317937040}"/>
              </a:ext>
            </a:extLst>
          </p:cNvPr>
          <p:cNvSpPr>
            <a:spLocks noGrp="1"/>
          </p:cNvSpPr>
          <p:nvPr/>
        </p:nvSpPr>
        <p:spPr>
          <a:xfrm>
            <a:off x="6781800" y="39433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Strategy and domain adoption</a:t>
            </a:r>
          </a:p>
        </p:txBody>
      </p:sp>
      <p:sp>
        <p:nvSpPr>
          <p:cNvPr id="27" name="platform-dot-2">
            <a:extLst>
              <a:ext uri="{FF2B5EF4-FFF2-40B4-BE49-F238E27FC236}">
                <a16:creationId xmlns:a16="http://schemas.microsoft.com/office/drawing/2014/main" id="{5A6D8261-231E-4B6C-9DB2-192B61EFA1A1}"/>
              </a:ext>
            </a:extLst>
          </p:cNvPr>
          <p:cNvSpPr>
            <a:spLocks noGrp="1"/>
          </p:cNvSpPr>
          <p:nvPr/>
        </p:nvSpPr>
        <p:spPr>
          <a:xfrm>
            <a:off x="6629400" y="401955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platform-row-3">
            <a:extLst>
              <a:ext uri="{FF2B5EF4-FFF2-40B4-BE49-F238E27FC236}">
                <a16:creationId xmlns:a16="http://schemas.microsoft.com/office/drawing/2014/main" id="{E5099BF5-5CAF-4ED6-AC45-85D068FEF4F4}"/>
              </a:ext>
            </a:extLst>
          </p:cNvPr>
          <p:cNvSpPr>
            <a:spLocks noGrp="1"/>
          </p:cNvSpPr>
          <p:nvPr/>
        </p:nvSpPr>
        <p:spPr>
          <a:xfrm>
            <a:off x="6781800" y="4305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Decision and outcome traceability</a:t>
            </a:r>
          </a:p>
        </p:txBody>
      </p:sp>
      <p:sp>
        <p:nvSpPr>
          <p:cNvPr id="29" name="platform-dot-3">
            <a:extLst>
              <a:ext uri="{FF2B5EF4-FFF2-40B4-BE49-F238E27FC236}">
                <a16:creationId xmlns:a16="http://schemas.microsoft.com/office/drawing/2014/main" id="{FF812752-154C-4880-83B3-8B0FE9C189A5}"/>
              </a:ext>
            </a:extLst>
          </p:cNvPr>
          <p:cNvSpPr>
            <a:spLocks noGrp="1"/>
          </p:cNvSpPr>
          <p:nvPr/>
        </p:nvSpPr>
        <p:spPr>
          <a:xfrm>
            <a:off x="6629400" y="438150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platform-row-4">
            <a:extLst>
              <a:ext uri="{FF2B5EF4-FFF2-40B4-BE49-F238E27FC236}">
                <a16:creationId xmlns:a16="http://schemas.microsoft.com/office/drawing/2014/main" id="{3EA3E1BA-B6CE-4C3C-A06D-BC100FAD7A74}"/>
              </a:ext>
            </a:extLst>
          </p:cNvPr>
          <p:cNvSpPr>
            <a:spLocks noGrp="1"/>
          </p:cNvSpPr>
          <p:nvPr/>
        </p:nvSpPr>
        <p:spPr>
          <a:xfrm>
            <a:off x="6781800" y="46672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defRPr>
            </a:pPr>
            <a:r>
              <a:rPr sz="1275" b="0">
                <a:solidFill>
                  <a:srgbClr val="152536"/>
                </a:solidFill>
                <a:latin typeface="AmplitudeTF"/>
                <a:ea typeface="AmplitudeTF"/>
                <a:cs typeface="AmplitudeTF"/>
              </a:rPr>
              <a:t>Decision latency and availability</a:t>
            </a:r>
          </a:p>
        </p:txBody>
      </p:sp>
      <p:sp>
        <p:nvSpPr>
          <p:cNvPr id="31" name="platform-dot-4">
            <a:extLst>
              <a:ext uri="{FF2B5EF4-FFF2-40B4-BE49-F238E27FC236}">
                <a16:creationId xmlns:a16="http://schemas.microsoft.com/office/drawing/2014/main" id="{277D5FDD-447A-4CBD-8F5E-78A66CC2ED7F}"/>
              </a:ext>
            </a:extLst>
          </p:cNvPr>
          <p:cNvSpPr>
            <a:spLocks noGrp="1"/>
          </p:cNvSpPr>
          <p:nvPr/>
        </p:nvSpPr>
        <p:spPr>
          <a:xfrm>
            <a:off x="6629400" y="4743450"/>
            <a:ext cx="57150" cy="57150"/>
          </a:xfrm>
          <a:prstGeom prst="rect">
            <a:avLst/>
          </a:prstGeom>
          <a:solidFill>
            <a:srgbClr val="00A6C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guardrails">
            <a:extLst>
              <a:ext uri="{FF2B5EF4-FFF2-40B4-BE49-F238E27FC236}">
                <a16:creationId xmlns:a16="http://schemas.microsoft.com/office/drawing/2014/main" id="{0784B2EE-4876-4868-9946-104B686F9B04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820400" cy="628650"/>
          </a:xfrm>
          <a:prstGeom prst="roundRect">
            <a:avLst>
              <a:gd name="adj" fmla="val 12121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guardrails-label">
            <a:extLst>
              <a:ext uri="{FF2B5EF4-FFF2-40B4-BE49-F238E27FC236}">
                <a16:creationId xmlns:a16="http://schemas.microsoft.com/office/drawing/2014/main" id="{12CA41A5-E2C2-4976-9937-9E4A8DC48338}"/>
              </a:ext>
            </a:extLst>
          </p:cNvPr>
          <p:cNvSpPr>
            <a:spLocks noGrp="1"/>
          </p:cNvSpPr>
          <p:nvPr/>
        </p:nvSpPr>
        <p:spPr>
          <a:xfrm>
            <a:off x="895350" y="56864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975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GUARDRAILS</a:t>
            </a:r>
          </a:p>
        </p:txBody>
      </p:sp>
      <p:sp>
        <p:nvSpPr>
          <p:cNvPr id="34" name="guardrails-copy">
            <a:extLst>
              <a:ext uri="{FF2B5EF4-FFF2-40B4-BE49-F238E27FC236}">
                <a16:creationId xmlns:a16="http://schemas.microsoft.com/office/drawing/2014/main" id="{97670491-B1D9-4FAB-BCD6-A28292630CE7}"/>
              </a:ext>
            </a:extLst>
          </p:cNvPr>
          <p:cNvSpPr>
            <a:spLocks noGrp="1"/>
          </p:cNvSpPr>
          <p:nvPr/>
        </p:nvSpPr>
        <p:spPr>
          <a:xfrm>
            <a:off x="2247900" y="56578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27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Fraud and chargebacks  •  customer experience  •  operational stability  •  privacy and compliance</a:t>
            </a:r>
          </a:p>
        </p:txBody>
      </p:sp>
    </p:spTree>
    <p:extLst>
      <p:ext uri="{BB962C8B-B14F-4D97-AF65-F5344CB8AC3E}">
        <p14:creationId xmlns:p14="http://schemas.microsoft.com/office/powerpoint/2010/main" val="89736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5">
            <a:extLst>
              <a:ext uri="{FF2B5EF4-FFF2-40B4-BE49-F238E27FC236}">
                <a16:creationId xmlns:a16="http://schemas.microsoft.com/office/drawing/2014/main" id="{5AFE3D13-6FB2-40A6-BAE3-E564A8DE979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TARGET STATE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CF0E8ADF-1E0B-4620-AA93-43001C61D78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Every payment becomes a measurable decision—not a fixed code path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5C61B111-DC23-4328-B211-8B798A2480B4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5">
            <a:extLst>
              <a:ext uri="{FF2B5EF4-FFF2-40B4-BE49-F238E27FC236}">
                <a16:creationId xmlns:a16="http://schemas.microsoft.com/office/drawing/2014/main" id="{7D027C5E-A482-4D4F-B222-4E64AE59803A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05</a:t>
            </a:r>
          </a:p>
        </p:txBody>
      </p:sp>
      <p:sp>
        <p:nvSpPr>
          <p:cNvPr id="5" name="flow-line-0">
            <a:extLst>
              <a:ext uri="{FF2B5EF4-FFF2-40B4-BE49-F238E27FC236}">
                <a16:creationId xmlns:a16="http://schemas.microsoft.com/office/drawing/2014/main" id="{CAB0E68E-4FD5-41D1-88AF-0F6393D38ED3}"/>
              </a:ext>
            </a:extLst>
          </p:cNvPr>
          <p:cNvSpPr>
            <a:spLocks noGrp="1"/>
          </p:cNvSpPr>
          <p:nvPr/>
        </p:nvSpPr>
        <p:spPr>
          <a:xfrm>
            <a:off x="2333625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flow-arrow-0">
            <a:extLst>
              <a:ext uri="{FF2B5EF4-FFF2-40B4-BE49-F238E27FC236}">
                <a16:creationId xmlns:a16="http://schemas.microsoft.com/office/drawing/2014/main" id="{572B4CDD-4213-49CF-ABB5-FA36D9EC674E}"/>
              </a:ext>
            </a:extLst>
          </p:cNvPr>
          <p:cNvSpPr>
            <a:spLocks noGrp="1"/>
          </p:cNvSpPr>
          <p:nvPr/>
        </p:nvSpPr>
        <p:spPr>
          <a:xfrm>
            <a:off x="2571750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7" name="flow-line-1">
            <a:extLst>
              <a:ext uri="{FF2B5EF4-FFF2-40B4-BE49-F238E27FC236}">
                <a16:creationId xmlns:a16="http://schemas.microsoft.com/office/drawing/2014/main" id="{40B4CCB1-6550-4B8E-A95B-5D654FC0F834}"/>
              </a:ext>
            </a:extLst>
          </p:cNvPr>
          <p:cNvSpPr>
            <a:spLocks noGrp="1"/>
          </p:cNvSpPr>
          <p:nvPr/>
        </p:nvSpPr>
        <p:spPr>
          <a:xfrm>
            <a:off x="4572000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flow-arrow-1">
            <a:extLst>
              <a:ext uri="{FF2B5EF4-FFF2-40B4-BE49-F238E27FC236}">
                <a16:creationId xmlns:a16="http://schemas.microsoft.com/office/drawing/2014/main" id="{3FF37935-7F6B-413A-AF06-AF2B2A49DF10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9" name="flow-line-2">
            <a:extLst>
              <a:ext uri="{FF2B5EF4-FFF2-40B4-BE49-F238E27FC236}">
                <a16:creationId xmlns:a16="http://schemas.microsoft.com/office/drawing/2014/main" id="{BB915B60-74C5-4459-8C64-CDA7F9B30C72}"/>
              </a:ext>
            </a:extLst>
          </p:cNvPr>
          <p:cNvSpPr>
            <a:spLocks noGrp="1"/>
          </p:cNvSpPr>
          <p:nvPr/>
        </p:nvSpPr>
        <p:spPr>
          <a:xfrm>
            <a:off x="6810375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flow-arrow-2">
            <a:extLst>
              <a:ext uri="{FF2B5EF4-FFF2-40B4-BE49-F238E27FC236}">
                <a16:creationId xmlns:a16="http://schemas.microsoft.com/office/drawing/2014/main" id="{5F967A4E-6E4E-46BC-936E-DF9043B22867}"/>
              </a:ext>
            </a:extLst>
          </p:cNvPr>
          <p:cNvSpPr>
            <a:spLocks noGrp="1"/>
          </p:cNvSpPr>
          <p:nvPr/>
        </p:nvSpPr>
        <p:spPr>
          <a:xfrm>
            <a:off x="7048500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11" name="flow-line-3">
            <a:extLst>
              <a:ext uri="{FF2B5EF4-FFF2-40B4-BE49-F238E27FC236}">
                <a16:creationId xmlns:a16="http://schemas.microsoft.com/office/drawing/2014/main" id="{C1FC01F9-B5CE-4723-BB3C-FE6049BE6537}"/>
              </a:ext>
            </a:extLst>
          </p:cNvPr>
          <p:cNvSpPr>
            <a:spLocks noGrp="1"/>
          </p:cNvSpPr>
          <p:nvPr/>
        </p:nvSpPr>
        <p:spPr>
          <a:xfrm>
            <a:off x="9048750" y="2895600"/>
            <a:ext cx="590550" cy="381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low-arrow-3">
            <a:extLst>
              <a:ext uri="{FF2B5EF4-FFF2-40B4-BE49-F238E27FC236}">
                <a16:creationId xmlns:a16="http://schemas.microsoft.com/office/drawing/2014/main" id="{236B173A-18A0-4FFE-8149-E839C97B9473}"/>
              </a:ext>
            </a:extLst>
          </p:cNvPr>
          <p:cNvSpPr>
            <a:spLocks noGrp="1"/>
          </p:cNvSpPr>
          <p:nvPr/>
        </p:nvSpPr>
        <p:spPr>
          <a:xfrm>
            <a:off x="9286875" y="2686050"/>
            <a:ext cx="26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240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›</a:t>
            </a:r>
          </a:p>
        </p:txBody>
      </p:sp>
      <p:sp>
        <p:nvSpPr>
          <p:cNvPr id="13" name="step-0">
            <a:extLst>
              <a:ext uri="{FF2B5EF4-FFF2-40B4-BE49-F238E27FC236}">
                <a16:creationId xmlns:a16="http://schemas.microsoft.com/office/drawing/2014/main" id="{DE2F2BC9-8749-4BA6-87F8-1C8433D5F8E0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-num-0">
            <a:extLst>
              <a:ext uri="{FF2B5EF4-FFF2-40B4-BE49-F238E27FC236}">
                <a16:creationId xmlns:a16="http://schemas.microsoft.com/office/drawing/2014/main" id="{01C42734-FF91-4E39-AB35-64FC097DCC6D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01</a:t>
            </a:r>
          </a:p>
        </p:txBody>
      </p:sp>
      <p:sp>
        <p:nvSpPr>
          <p:cNvPr id="15" name="step-h-0">
            <a:extLst>
              <a:ext uri="{FF2B5EF4-FFF2-40B4-BE49-F238E27FC236}">
                <a16:creationId xmlns:a16="http://schemas.microsoft.com/office/drawing/2014/main" id="{546E840F-0F1B-4065-BC22-E86830F5D177}"/>
              </a:ext>
            </a:extLst>
          </p:cNvPr>
          <p:cNvSpPr>
            <a:spLocks noGrp="1"/>
          </p:cNvSpPr>
          <p:nvPr/>
        </p:nvSpPr>
        <p:spPr>
          <a:xfrm>
            <a:off x="87630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DECIDE</a:t>
            </a:r>
          </a:p>
        </p:txBody>
      </p:sp>
      <p:sp>
        <p:nvSpPr>
          <p:cNvPr id="16" name="step-b-0">
            <a:extLst>
              <a:ext uri="{FF2B5EF4-FFF2-40B4-BE49-F238E27FC236}">
                <a16:creationId xmlns:a16="http://schemas.microsoft.com/office/drawing/2014/main" id="{A34CFCA5-7365-47C4-9F6F-ACDA5A0B30AE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Choose the best available treatment</a:t>
            </a:r>
          </a:p>
        </p:txBody>
      </p:sp>
      <p:sp>
        <p:nvSpPr>
          <p:cNvPr id="17" name="step-1">
            <a:extLst>
              <a:ext uri="{FF2B5EF4-FFF2-40B4-BE49-F238E27FC236}">
                <a16:creationId xmlns:a16="http://schemas.microsoft.com/office/drawing/2014/main" id="{26AC27A4-7335-4176-8E41-1FFF66AA2FDA}"/>
              </a:ext>
            </a:extLst>
          </p:cNvPr>
          <p:cNvSpPr>
            <a:spLocks noGrp="1"/>
          </p:cNvSpPr>
          <p:nvPr/>
        </p:nvSpPr>
        <p:spPr>
          <a:xfrm>
            <a:off x="2924175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ep-num-1">
            <a:extLst>
              <a:ext uri="{FF2B5EF4-FFF2-40B4-BE49-F238E27FC236}">
                <a16:creationId xmlns:a16="http://schemas.microsoft.com/office/drawing/2014/main" id="{76506522-A671-454D-BA01-DFE2264E24E0}"/>
              </a:ext>
            </a:extLst>
          </p:cNvPr>
          <p:cNvSpPr>
            <a:spLocks noGrp="1"/>
          </p:cNvSpPr>
          <p:nvPr/>
        </p:nvSpPr>
        <p:spPr>
          <a:xfrm>
            <a:off x="3114675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02</a:t>
            </a:r>
          </a:p>
        </p:txBody>
      </p:sp>
      <p:sp>
        <p:nvSpPr>
          <p:cNvPr id="19" name="step-h-1">
            <a:extLst>
              <a:ext uri="{FF2B5EF4-FFF2-40B4-BE49-F238E27FC236}">
                <a16:creationId xmlns:a16="http://schemas.microsoft.com/office/drawing/2014/main" id="{DCA01EDA-D318-4FE6-9822-5F1AF2CFE947}"/>
              </a:ext>
            </a:extLst>
          </p:cNvPr>
          <p:cNvSpPr>
            <a:spLocks noGrp="1"/>
          </p:cNvSpPr>
          <p:nvPr/>
        </p:nvSpPr>
        <p:spPr>
          <a:xfrm>
            <a:off x="3114675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EXPERIMENT</a:t>
            </a:r>
          </a:p>
        </p:txBody>
      </p:sp>
      <p:sp>
        <p:nvSpPr>
          <p:cNvPr id="20" name="step-b-1">
            <a:extLst>
              <a:ext uri="{FF2B5EF4-FFF2-40B4-BE49-F238E27FC236}">
                <a16:creationId xmlns:a16="http://schemas.microsoft.com/office/drawing/2014/main" id="{D326ADED-1030-4C66-B09A-409D0CAE864A}"/>
              </a:ext>
            </a:extLst>
          </p:cNvPr>
          <p:cNvSpPr>
            <a:spLocks noGrp="1"/>
          </p:cNvSpPr>
          <p:nvPr/>
        </p:nvSpPr>
        <p:spPr>
          <a:xfrm>
            <a:off x="3114675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Allocate traffic with controls and guardrails</a:t>
            </a:r>
          </a:p>
        </p:txBody>
      </p:sp>
      <p:sp>
        <p:nvSpPr>
          <p:cNvPr id="21" name="step-2">
            <a:extLst>
              <a:ext uri="{FF2B5EF4-FFF2-40B4-BE49-F238E27FC236}">
                <a16:creationId xmlns:a16="http://schemas.microsoft.com/office/drawing/2014/main" id="{48D09271-E30F-4AE5-8836-7BA790596791}"/>
              </a:ext>
            </a:extLst>
          </p:cNvPr>
          <p:cNvSpPr>
            <a:spLocks noGrp="1"/>
          </p:cNvSpPr>
          <p:nvPr/>
        </p:nvSpPr>
        <p:spPr>
          <a:xfrm>
            <a:off x="516255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-num-2">
            <a:extLst>
              <a:ext uri="{FF2B5EF4-FFF2-40B4-BE49-F238E27FC236}">
                <a16:creationId xmlns:a16="http://schemas.microsoft.com/office/drawing/2014/main" id="{18E2BB0E-93B6-4C21-BC07-29FC3FF33865}"/>
              </a:ext>
            </a:extLst>
          </p:cNvPr>
          <p:cNvSpPr>
            <a:spLocks noGrp="1"/>
          </p:cNvSpPr>
          <p:nvPr/>
        </p:nvSpPr>
        <p:spPr>
          <a:xfrm>
            <a:off x="535305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03</a:t>
            </a:r>
          </a:p>
        </p:txBody>
      </p:sp>
      <p:sp>
        <p:nvSpPr>
          <p:cNvPr id="23" name="step-h-2">
            <a:extLst>
              <a:ext uri="{FF2B5EF4-FFF2-40B4-BE49-F238E27FC236}">
                <a16:creationId xmlns:a16="http://schemas.microsoft.com/office/drawing/2014/main" id="{C5460BAA-8BC7-48B6-A3C3-EB3465758BBC}"/>
              </a:ext>
            </a:extLst>
          </p:cNvPr>
          <p:cNvSpPr>
            <a:spLocks noGrp="1"/>
          </p:cNvSpPr>
          <p:nvPr/>
        </p:nvSpPr>
        <p:spPr>
          <a:xfrm>
            <a:off x="535305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EXECUTE</a:t>
            </a:r>
          </a:p>
        </p:txBody>
      </p:sp>
      <p:sp>
        <p:nvSpPr>
          <p:cNvPr id="24" name="step-b-2">
            <a:extLst>
              <a:ext uri="{FF2B5EF4-FFF2-40B4-BE49-F238E27FC236}">
                <a16:creationId xmlns:a16="http://schemas.microsoft.com/office/drawing/2014/main" id="{81AC4B19-2465-432A-9149-DE70FDED8DFD}"/>
              </a:ext>
            </a:extLst>
          </p:cNvPr>
          <p:cNvSpPr>
            <a:spLocks noGrp="1"/>
          </p:cNvSpPr>
          <p:nvPr/>
        </p:nvSpPr>
        <p:spPr>
          <a:xfrm>
            <a:off x="535305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Apply the selected route or payment strategy</a:t>
            </a:r>
          </a:p>
        </p:txBody>
      </p:sp>
      <p:sp>
        <p:nvSpPr>
          <p:cNvPr id="25" name="step-3">
            <a:extLst>
              <a:ext uri="{FF2B5EF4-FFF2-40B4-BE49-F238E27FC236}">
                <a16:creationId xmlns:a16="http://schemas.microsoft.com/office/drawing/2014/main" id="{0314D851-E68E-4F28-BF66-27DCE1015978}"/>
              </a:ext>
            </a:extLst>
          </p:cNvPr>
          <p:cNvSpPr>
            <a:spLocks noGrp="1"/>
          </p:cNvSpPr>
          <p:nvPr/>
        </p:nvSpPr>
        <p:spPr>
          <a:xfrm>
            <a:off x="7400925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-num-3">
            <a:extLst>
              <a:ext uri="{FF2B5EF4-FFF2-40B4-BE49-F238E27FC236}">
                <a16:creationId xmlns:a16="http://schemas.microsoft.com/office/drawing/2014/main" id="{5495BEC8-0727-4FC8-9F74-36EF26DC24AD}"/>
              </a:ext>
            </a:extLst>
          </p:cNvPr>
          <p:cNvSpPr>
            <a:spLocks noGrp="1"/>
          </p:cNvSpPr>
          <p:nvPr/>
        </p:nvSpPr>
        <p:spPr>
          <a:xfrm>
            <a:off x="7591425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04</a:t>
            </a:r>
          </a:p>
        </p:txBody>
      </p:sp>
      <p:sp>
        <p:nvSpPr>
          <p:cNvPr id="27" name="step-h-3">
            <a:extLst>
              <a:ext uri="{FF2B5EF4-FFF2-40B4-BE49-F238E27FC236}">
                <a16:creationId xmlns:a16="http://schemas.microsoft.com/office/drawing/2014/main" id="{BD593B0A-3BCC-4A6E-8F78-92779B49F0A1}"/>
              </a:ext>
            </a:extLst>
          </p:cNvPr>
          <p:cNvSpPr>
            <a:spLocks noGrp="1"/>
          </p:cNvSpPr>
          <p:nvPr/>
        </p:nvSpPr>
        <p:spPr>
          <a:xfrm>
            <a:off x="7591425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MEASURE</a:t>
            </a:r>
          </a:p>
        </p:txBody>
      </p:sp>
      <p:sp>
        <p:nvSpPr>
          <p:cNvPr id="28" name="step-b-3">
            <a:extLst>
              <a:ext uri="{FF2B5EF4-FFF2-40B4-BE49-F238E27FC236}">
                <a16:creationId xmlns:a16="http://schemas.microsoft.com/office/drawing/2014/main" id="{9D448064-7FC5-450A-8A1B-F61B8CA17180}"/>
              </a:ext>
            </a:extLst>
          </p:cNvPr>
          <p:cNvSpPr>
            <a:spLocks noGrp="1"/>
          </p:cNvSpPr>
          <p:nvPr/>
        </p:nvSpPr>
        <p:spPr>
          <a:xfrm>
            <a:off x="7591425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Link the decision to cost and authorization outcomes</a:t>
            </a:r>
          </a:p>
        </p:txBody>
      </p:sp>
      <p:sp>
        <p:nvSpPr>
          <p:cNvPr id="29" name="step-4">
            <a:extLst>
              <a:ext uri="{FF2B5EF4-FFF2-40B4-BE49-F238E27FC236}">
                <a16:creationId xmlns:a16="http://schemas.microsoft.com/office/drawing/2014/main" id="{2A079B63-49B0-4A7A-A142-5A43C890647E}"/>
              </a:ext>
            </a:extLst>
          </p:cNvPr>
          <p:cNvSpPr>
            <a:spLocks noGrp="1"/>
          </p:cNvSpPr>
          <p:nvPr/>
        </p:nvSpPr>
        <p:spPr>
          <a:xfrm>
            <a:off x="9639300" y="2152650"/>
            <a:ext cx="1866900" cy="1866900"/>
          </a:xfrm>
          <a:prstGeom prst="roundRect">
            <a:avLst>
              <a:gd name="adj" fmla="val 4082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-num-4">
            <a:extLst>
              <a:ext uri="{FF2B5EF4-FFF2-40B4-BE49-F238E27FC236}">
                <a16:creationId xmlns:a16="http://schemas.microsoft.com/office/drawing/2014/main" id="{38D1CD72-6A29-4F82-945F-8BEACA1ACA9D}"/>
              </a:ext>
            </a:extLst>
          </p:cNvPr>
          <p:cNvSpPr>
            <a:spLocks noGrp="1"/>
          </p:cNvSpPr>
          <p:nvPr/>
        </p:nvSpPr>
        <p:spPr>
          <a:xfrm>
            <a:off x="9829800" y="23431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05</a:t>
            </a:r>
          </a:p>
        </p:txBody>
      </p:sp>
      <p:sp>
        <p:nvSpPr>
          <p:cNvPr id="31" name="step-h-4">
            <a:extLst>
              <a:ext uri="{FF2B5EF4-FFF2-40B4-BE49-F238E27FC236}">
                <a16:creationId xmlns:a16="http://schemas.microsoft.com/office/drawing/2014/main" id="{7A2E9AC5-5E92-4F4E-88BE-0E1B8B186140}"/>
              </a:ext>
            </a:extLst>
          </p:cNvPr>
          <p:cNvSpPr>
            <a:spLocks noGrp="1"/>
          </p:cNvSpPr>
          <p:nvPr/>
        </p:nvSpPr>
        <p:spPr>
          <a:xfrm>
            <a:off x="9829800" y="27146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LEARN + GOVERN</a:t>
            </a:r>
          </a:p>
        </p:txBody>
      </p:sp>
      <p:sp>
        <p:nvSpPr>
          <p:cNvPr id="32" name="step-b-4">
            <a:extLst>
              <a:ext uri="{FF2B5EF4-FFF2-40B4-BE49-F238E27FC236}">
                <a16:creationId xmlns:a16="http://schemas.microsoft.com/office/drawing/2014/main" id="{1C17E39C-8691-4426-B4F4-4CAB4AEC3DD7}"/>
              </a:ext>
            </a:extLst>
          </p:cNvPr>
          <p:cNvSpPr>
            <a:spLocks noGrp="1"/>
          </p:cNvSpPr>
          <p:nvPr/>
        </p:nvSpPr>
        <p:spPr>
          <a:xfrm>
            <a:off x="9829800" y="3181350"/>
            <a:ext cx="14859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Improve, version and safely release strategies</a:t>
            </a:r>
          </a:p>
        </p:txBody>
      </p:sp>
      <p:sp>
        <p:nvSpPr>
          <p:cNvPr id="33" name="loop-band">
            <a:extLst>
              <a:ext uri="{FF2B5EF4-FFF2-40B4-BE49-F238E27FC236}">
                <a16:creationId xmlns:a16="http://schemas.microsoft.com/office/drawing/2014/main" id="{3BA1A1B0-3AD8-4FC5-9468-ACD9C125CAFC}"/>
              </a:ext>
            </a:extLst>
          </p:cNvPr>
          <p:cNvSpPr>
            <a:spLocks noGrp="1"/>
          </p:cNvSpPr>
          <p:nvPr/>
        </p:nvSpPr>
        <p:spPr>
          <a:xfrm>
            <a:off x="1524000" y="4514850"/>
            <a:ext cx="91440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loop">
            <a:extLst>
              <a:ext uri="{FF2B5EF4-FFF2-40B4-BE49-F238E27FC236}">
                <a16:creationId xmlns:a16="http://schemas.microsoft.com/office/drawing/2014/main" id="{0772602E-E4DA-4997-9202-BA90963039AA}"/>
              </a:ext>
            </a:extLst>
          </p:cNvPr>
          <p:cNvSpPr>
            <a:spLocks noGrp="1"/>
          </p:cNvSpPr>
          <p:nvPr/>
        </p:nvSpPr>
        <p:spPr>
          <a:xfrm>
            <a:off x="1790700" y="4762500"/>
            <a:ext cx="861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4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Payment intent  →  decision  →  strategy  →  execution  →  outcome  →  optimization</a:t>
            </a:r>
          </a:p>
        </p:txBody>
      </p:sp>
      <p:sp>
        <p:nvSpPr>
          <p:cNvPr id="35" name="loop-note">
            <a:extLst>
              <a:ext uri="{FF2B5EF4-FFF2-40B4-BE49-F238E27FC236}">
                <a16:creationId xmlns:a16="http://schemas.microsoft.com/office/drawing/2014/main" id="{27209FF1-CA5D-4B19-BBD9-43E7C77C297C}"/>
              </a:ext>
            </a:extLst>
          </p:cNvPr>
          <p:cNvSpPr>
            <a:spLocks noGrp="1"/>
          </p:cNvSpPr>
          <p:nvPr/>
        </p:nvSpPr>
        <p:spPr>
          <a:xfrm>
            <a:off x="1790700" y="5181600"/>
            <a:ext cx="861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A common control plane provides versioning, auditability, rollback and performance evidence across every use case.</a:t>
            </a:r>
          </a:p>
        </p:txBody>
      </p:sp>
    </p:spTree>
    <p:extLst>
      <p:ext uri="{BB962C8B-B14F-4D97-AF65-F5344CB8AC3E}">
        <p14:creationId xmlns:p14="http://schemas.microsoft.com/office/powerpoint/2010/main" val="2038833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kicker-6">
            <a:extLst>
              <a:ext uri="{FF2B5EF4-FFF2-40B4-BE49-F238E27FC236}">
                <a16:creationId xmlns:a16="http://schemas.microsoft.com/office/drawing/2014/main" id="{5F4C0C20-F582-49FB-9B64-B6254D8EC80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SHARED FOUNDATION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BB95000A-5F9B-4710-8F06-76D3C833442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 foundational experimentation platform serves the enterprise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098D9B0E-045B-42AD-A3D8-D82790C2DFFE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6">
            <a:extLst>
              <a:ext uri="{FF2B5EF4-FFF2-40B4-BE49-F238E27FC236}">
                <a16:creationId xmlns:a16="http://schemas.microsoft.com/office/drawing/2014/main" id="{C2A2E42E-AD1E-4C92-9963-B506CF2747CD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06</a:t>
            </a:r>
          </a:p>
        </p:txBody>
      </p:sp>
      <p:sp>
        <p:nvSpPr>
          <p:cNvPr id="5" name="domain-connector-0">
            <a:extLst>
              <a:ext uri="{FF2B5EF4-FFF2-40B4-BE49-F238E27FC236}">
                <a16:creationId xmlns:a16="http://schemas.microsoft.com/office/drawing/2014/main" id="{7F777D13-9F12-409E-8FE2-AEF38F3C1E6C}"/>
              </a:ext>
            </a:extLst>
          </p:cNvPr>
          <p:cNvSpPr>
            <a:spLocks noGrp="1"/>
          </p:cNvSpPr>
          <p:nvPr/>
        </p:nvSpPr>
        <p:spPr>
          <a:xfrm>
            <a:off x="1676400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omain-connector-1">
            <a:extLst>
              <a:ext uri="{FF2B5EF4-FFF2-40B4-BE49-F238E27FC236}">
                <a16:creationId xmlns:a16="http://schemas.microsoft.com/office/drawing/2014/main" id="{2ED3B528-8C6E-4F4A-975B-B21A30613FCE}"/>
              </a:ext>
            </a:extLst>
          </p:cNvPr>
          <p:cNvSpPr>
            <a:spLocks noGrp="1"/>
          </p:cNvSpPr>
          <p:nvPr/>
        </p:nvSpPr>
        <p:spPr>
          <a:xfrm>
            <a:off x="3876675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omain-connector-2">
            <a:extLst>
              <a:ext uri="{FF2B5EF4-FFF2-40B4-BE49-F238E27FC236}">
                <a16:creationId xmlns:a16="http://schemas.microsoft.com/office/drawing/2014/main" id="{DAA1FB39-6782-47D5-B8F4-23463DCF99A8}"/>
              </a:ext>
            </a:extLst>
          </p:cNvPr>
          <p:cNvSpPr>
            <a:spLocks noGrp="1"/>
          </p:cNvSpPr>
          <p:nvPr/>
        </p:nvSpPr>
        <p:spPr>
          <a:xfrm>
            <a:off x="6076950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omain-connector-3">
            <a:extLst>
              <a:ext uri="{FF2B5EF4-FFF2-40B4-BE49-F238E27FC236}">
                <a16:creationId xmlns:a16="http://schemas.microsoft.com/office/drawing/2014/main" id="{7B03E3B2-B5F0-4C90-AD57-A9D533341173}"/>
              </a:ext>
            </a:extLst>
          </p:cNvPr>
          <p:cNvSpPr>
            <a:spLocks noGrp="1"/>
          </p:cNvSpPr>
          <p:nvPr/>
        </p:nvSpPr>
        <p:spPr>
          <a:xfrm>
            <a:off x="8277225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omain-connector-4">
            <a:extLst>
              <a:ext uri="{FF2B5EF4-FFF2-40B4-BE49-F238E27FC236}">
                <a16:creationId xmlns:a16="http://schemas.microsoft.com/office/drawing/2014/main" id="{65CE8323-ACA6-46D3-926E-ACD6770B0905}"/>
              </a:ext>
            </a:extLst>
          </p:cNvPr>
          <p:cNvSpPr>
            <a:spLocks noGrp="1"/>
          </p:cNvSpPr>
          <p:nvPr/>
        </p:nvSpPr>
        <p:spPr>
          <a:xfrm>
            <a:off x="10477500" y="3276600"/>
            <a:ext cx="38100" cy="457200"/>
          </a:xfrm>
          <a:prstGeom prst="rect">
            <a:avLst/>
          </a:prstGeom>
          <a:solidFill>
            <a:srgbClr val="CFD9E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domain-0">
            <a:extLst>
              <a:ext uri="{FF2B5EF4-FFF2-40B4-BE49-F238E27FC236}">
                <a16:creationId xmlns:a16="http://schemas.microsoft.com/office/drawing/2014/main" id="{CA1A2036-75FA-454C-845E-A5175EFE464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omain-label-0">
            <a:extLst>
              <a:ext uri="{FF2B5EF4-FFF2-40B4-BE49-F238E27FC236}">
                <a16:creationId xmlns:a16="http://schemas.microsoft.com/office/drawing/2014/main" id="{3B200D5C-0523-428D-9EF4-6A3CD1775566}"/>
              </a:ext>
            </a:extLst>
          </p:cNvPr>
          <p:cNvSpPr>
            <a:spLocks noGrp="1"/>
          </p:cNvSpPr>
          <p:nvPr/>
        </p:nvSpPr>
        <p:spPr>
          <a:xfrm>
            <a:off x="838200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PAYMENTS</a:t>
            </a:r>
          </a:p>
        </p:txBody>
      </p:sp>
      <p:sp>
        <p:nvSpPr>
          <p:cNvPr id="12" name="domain-head-0">
            <a:extLst>
              <a:ext uri="{FF2B5EF4-FFF2-40B4-BE49-F238E27FC236}">
                <a16:creationId xmlns:a16="http://schemas.microsoft.com/office/drawing/2014/main" id="{88B4A315-3AC1-408A-A9EA-5B346E8C9D27}"/>
              </a:ext>
            </a:extLst>
          </p:cNvPr>
          <p:cNvSpPr>
            <a:spLocks noGrp="1"/>
          </p:cNvSpPr>
          <p:nvPr/>
        </p:nvSpPr>
        <p:spPr>
          <a:xfrm>
            <a:off x="838200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Optimize payment outcomes</a:t>
            </a:r>
          </a:p>
        </p:txBody>
      </p:sp>
      <p:sp>
        <p:nvSpPr>
          <p:cNvPr id="13" name="domain-body-0">
            <a:extLst>
              <a:ext uri="{FF2B5EF4-FFF2-40B4-BE49-F238E27FC236}">
                <a16:creationId xmlns:a16="http://schemas.microsoft.com/office/drawing/2014/main" id="{76B28ECC-813D-4B8B-BCAD-71395FF1376D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Routing • retries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Auth • rails</a:t>
            </a:r>
          </a:p>
        </p:txBody>
      </p:sp>
      <p:sp>
        <p:nvSpPr>
          <p:cNvPr id="14" name="domain-1">
            <a:extLst>
              <a:ext uri="{FF2B5EF4-FFF2-40B4-BE49-F238E27FC236}">
                <a16:creationId xmlns:a16="http://schemas.microsoft.com/office/drawing/2014/main" id="{A99A1D53-77AA-403A-AB78-105A423D6231}"/>
              </a:ext>
            </a:extLst>
          </p:cNvPr>
          <p:cNvSpPr>
            <a:spLocks noGrp="1"/>
          </p:cNvSpPr>
          <p:nvPr/>
        </p:nvSpPr>
        <p:spPr>
          <a:xfrm>
            <a:off x="2886075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omain-label-1">
            <a:extLst>
              <a:ext uri="{FF2B5EF4-FFF2-40B4-BE49-F238E27FC236}">
                <a16:creationId xmlns:a16="http://schemas.microsoft.com/office/drawing/2014/main" id="{5CA23878-F623-428E-9E20-32EF0DF508A7}"/>
              </a:ext>
            </a:extLst>
          </p:cNvPr>
          <p:cNvSpPr>
            <a:spLocks noGrp="1"/>
          </p:cNvSpPr>
          <p:nvPr/>
        </p:nvSpPr>
        <p:spPr>
          <a:xfrm>
            <a:off x="3038475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0A6C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00A6C8"/>
                </a:solidFill>
                <a:latin typeface="AmplitudeTF"/>
                <a:ea typeface="AmplitudeTF"/>
                <a:cs typeface="AmplitudeTF"/>
              </a:rPr>
              <a:t>PRICING</a:t>
            </a:r>
          </a:p>
        </p:txBody>
      </p:sp>
      <p:sp>
        <p:nvSpPr>
          <p:cNvPr id="16" name="domain-head-1">
            <a:extLst>
              <a:ext uri="{FF2B5EF4-FFF2-40B4-BE49-F238E27FC236}">
                <a16:creationId xmlns:a16="http://schemas.microsoft.com/office/drawing/2014/main" id="{10FD0C7C-A55D-4EDC-8DA6-F0D6BBF224D4}"/>
              </a:ext>
            </a:extLst>
          </p:cNvPr>
          <p:cNvSpPr>
            <a:spLocks noGrp="1"/>
          </p:cNvSpPr>
          <p:nvPr/>
        </p:nvSpPr>
        <p:spPr>
          <a:xfrm>
            <a:off x="3038475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Test offers and economics</a:t>
            </a:r>
          </a:p>
        </p:txBody>
      </p:sp>
      <p:sp>
        <p:nvSpPr>
          <p:cNvPr id="17" name="domain-body-1">
            <a:extLst>
              <a:ext uri="{FF2B5EF4-FFF2-40B4-BE49-F238E27FC236}">
                <a16:creationId xmlns:a16="http://schemas.microsoft.com/office/drawing/2014/main" id="{65F83FFE-10CB-47D1-9DAE-3544B2607C26}"/>
              </a:ext>
            </a:extLst>
          </p:cNvPr>
          <p:cNvSpPr>
            <a:spLocks noGrp="1"/>
          </p:cNvSpPr>
          <p:nvPr/>
        </p:nvSpPr>
        <p:spPr>
          <a:xfrm>
            <a:off x="3038475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Price points • bundles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Fees • incentives</a:t>
            </a:r>
          </a:p>
        </p:txBody>
      </p:sp>
      <p:sp>
        <p:nvSpPr>
          <p:cNvPr id="18" name="domain-2">
            <a:extLst>
              <a:ext uri="{FF2B5EF4-FFF2-40B4-BE49-F238E27FC236}">
                <a16:creationId xmlns:a16="http://schemas.microsoft.com/office/drawing/2014/main" id="{1DA5750F-841F-4469-BAEC-EF15C94E5210}"/>
              </a:ext>
            </a:extLst>
          </p:cNvPr>
          <p:cNvSpPr>
            <a:spLocks noGrp="1"/>
          </p:cNvSpPr>
          <p:nvPr/>
        </p:nvSpPr>
        <p:spPr>
          <a:xfrm>
            <a:off x="5086350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domain-label-2">
            <a:extLst>
              <a:ext uri="{FF2B5EF4-FFF2-40B4-BE49-F238E27FC236}">
                <a16:creationId xmlns:a16="http://schemas.microsoft.com/office/drawing/2014/main" id="{40599A4C-DAED-463E-95A3-27341F7F97D0}"/>
              </a:ext>
            </a:extLst>
          </p:cNvPr>
          <p:cNvSpPr>
            <a:spLocks noGrp="1"/>
          </p:cNvSpPr>
          <p:nvPr/>
        </p:nvSpPr>
        <p:spPr>
          <a:xfrm>
            <a:off x="5238750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4E7C8C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4E7C8C"/>
                </a:solidFill>
                <a:latin typeface="AmplitudeTF"/>
                <a:ea typeface="AmplitudeTF"/>
                <a:cs typeface="AmplitudeTF"/>
              </a:rPr>
              <a:t>ONBOARDING</a:t>
            </a:r>
          </a:p>
        </p:txBody>
      </p:sp>
      <p:sp>
        <p:nvSpPr>
          <p:cNvPr id="20" name="domain-head-2">
            <a:extLst>
              <a:ext uri="{FF2B5EF4-FFF2-40B4-BE49-F238E27FC236}">
                <a16:creationId xmlns:a16="http://schemas.microsoft.com/office/drawing/2014/main" id="{7F4461EE-841B-43F6-B9E4-FE3386525EAE}"/>
              </a:ext>
            </a:extLst>
          </p:cNvPr>
          <p:cNvSpPr>
            <a:spLocks noGrp="1"/>
          </p:cNvSpPr>
          <p:nvPr/>
        </p:nvSpPr>
        <p:spPr>
          <a:xfrm>
            <a:off x="5238750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Improve activation and conversion</a:t>
            </a:r>
          </a:p>
        </p:txBody>
      </p:sp>
      <p:sp>
        <p:nvSpPr>
          <p:cNvPr id="21" name="domain-body-2">
            <a:extLst>
              <a:ext uri="{FF2B5EF4-FFF2-40B4-BE49-F238E27FC236}">
                <a16:creationId xmlns:a16="http://schemas.microsoft.com/office/drawing/2014/main" id="{44818F2E-DDAD-49C5-B87E-DCA37688394A}"/>
              </a:ext>
            </a:extLst>
          </p:cNvPr>
          <p:cNvSpPr>
            <a:spLocks noGrp="1"/>
          </p:cNvSpPr>
          <p:nvPr/>
        </p:nvSpPr>
        <p:spPr>
          <a:xfrm>
            <a:off x="5238750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Steps • eligibility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Identity • messaging</a:t>
            </a:r>
          </a:p>
        </p:txBody>
      </p:sp>
      <p:sp>
        <p:nvSpPr>
          <p:cNvPr id="22" name="domain-3">
            <a:extLst>
              <a:ext uri="{FF2B5EF4-FFF2-40B4-BE49-F238E27FC236}">
                <a16:creationId xmlns:a16="http://schemas.microsoft.com/office/drawing/2014/main" id="{87738B77-5558-4110-826E-9EF3AC89903F}"/>
              </a:ext>
            </a:extLst>
          </p:cNvPr>
          <p:cNvSpPr>
            <a:spLocks noGrp="1"/>
          </p:cNvSpPr>
          <p:nvPr/>
        </p:nvSpPr>
        <p:spPr>
          <a:xfrm>
            <a:off x="7286625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domain-label-3">
            <a:extLst>
              <a:ext uri="{FF2B5EF4-FFF2-40B4-BE49-F238E27FC236}">
                <a16:creationId xmlns:a16="http://schemas.microsoft.com/office/drawing/2014/main" id="{6F2DAC6D-BF4B-4842-B4DE-9504A7EA016F}"/>
              </a:ext>
            </a:extLst>
          </p:cNvPr>
          <p:cNvSpPr>
            <a:spLocks noGrp="1"/>
          </p:cNvSpPr>
          <p:nvPr/>
        </p:nvSpPr>
        <p:spPr>
          <a:xfrm>
            <a:off x="7439025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56C88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356C88"/>
                </a:solidFill>
                <a:latin typeface="AmplitudeTF"/>
                <a:ea typeface="AmplitudeTF"/>
                <a:cs typeface="AmplitudeTF"/>
              </a:rPr>
              <a:t>CHECKOUT</a:t>
            </a:r>
          </a:p>
        </p:txBody>
      </p:sp>
      <p:sp>
        <p:nvSpPr>
          <p:cNvPr id="24" name="domain-head-3">
            <a:extLst>
              <a:ext uri="{FF2B5EF4-FFF2-40B4-BE49-F238E27FC236}">
                <a16:creationId xmlns:a16="http://schemas.microsoft.com/office/drawing/2014/main" id="{A45F37A3-58AC-4557-B6B6-684421E8442E}"/>
              </a:ext>
            </a:extLst>
          </p:cNvPr>
          <p:cNvSpPr>
            <a:spLocks noGrp="1"/>
          </p:cNvSpPr>
          <p:nvPr/>
        </p:nvSpPr>
        <p:spPr>
          <a:xfrm>
            <a:off x="7439025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Increase checkout conversion</a:t>
            </a:r>
          </a:p>
        </p:txBody>
      </p:sp>
      <p:sp>
        <p:nvSpPr>
          <p:cNvPr id="25" name="domain-body-3">
            <a:extLst>
              <a:ext uri="{FF2B5EF4-FFF2-40B4-BE49-F238E27FC236}">
                <a16:creationId xmlns:a16="http://schemas.microsoft.com/office/drawing/2014/main" id="{B27D5F7C-A9F2-4B50-B138-A157BC319F45}"/>
              </a:ext>
            </a:extLst>
          </p:cNvPr>
          <p:cNvSpPr>
            <a:spLocks noGrp="1"/>
          </p:cNvSpPr>
          <p:nvPr/>
        </p:nvSpPr>
        <p:spPr>
          <a:xfrm>
            <a:off x="7439025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Flow • payment methods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Fields • messaging</a:t>
            </a:r>
          </a:p>
        </p:txBody>
      </p:sp>
      <p:sp>
        <p:nvSpPr>
          <p:cNvPr id="26" name="domain-4">
            <a:extLst>
              <a:ext uri="{FF2B5EF4-FFF2-40B4-BE49-F238E27FC236}">
                <a16:creationId xmlns:a16="http://schemas.microsoft.com/office/drawing/2014/main" id="{F9F9EB5F-A506-4963-BE1F-3CDCB7842278}"/>
              </a:ext>
            </a:extLst>
          </p:cNvPr>
          <p:cNvSpPr>
            <a:spLocks noGrp="1"/>
          </p:cNvSpPr>
          <p:nvPr/>
        </p:nvSpPr>
        <p:spPr>
          <a:xfrm>
            <a:off x="9486900" y="1809750"/>
            <a:ext cx="2019300" cy="1504950"/>
          </a:xfrm>
          <a:prstGeom prst="roundRect">
            <a:avLst>
              <a:gd name="adj" fmla="val 5063"/>
            </a:avLst>
          </a:prstGeom>
          <a:solidFill>
            <a:srgbClr val="F3F7F9"/>
          </a:solidFill>
          <a:ln w="9525">
            <a:solidFill>
              <a:srgbClr val="CF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domain-label-4">
            <a:extLst>
              <a:ext uri="{FF2B5EF4-FFF2-40B4-BE49-F238E27FC236}">
                <a16:creationId xmlns:a16="http://schemas.microsoft.com/office/drawing/2014/main" id="{370B2330-40BF-4893-B6A3-9FB5F35D70CB}"/>
              </a:ext>
            </a:extLst>
          </p:cNvPr>
          <p:cNvSpPr>
            <a:spLocks noGrp="1"/>
          </p:cNvSpPr>
          <p:nvPr/>
        </p:nvSpPr>
        <p:spPr>
          <a:xfrm>
            <a:off x="9639300" y="2019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COMMERCE CENTER</a:t>
            </a:r>
          </a:p>
        </p:txBody>
      </p:sp>
      <p:sp>
        <p:nvSpPr>
          <p:cNvPr id="28" name="domain-head-4">
            <a:extLst>
              <a:ext uri="{FF2B5EF4-FFF2-40B4-BE49-F238E27FC236}">
                <a16:creationId xmlns:a16="http://schemas.microsoft.com/office/drawing/2014/main" id="{E1F77808-B481-4BE1-A6FB-F4F09BFA1C93}"/>
              </a:ext>
            </a:extLst>
          </p:cNvPr>
          <p:cNvSpPr>
            <a:spLocks noGrp="1"/>
          </p:cNvSpPr>
          <p:nvPr/>
        </p:nvSpPr>
        <p:spPr>
          <a:xfrm>
            <a:off x="9639300" y="23622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35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Improve portal engagement</a:t>
            </a:r>
          </a:p>
        </p:txBody>
      </p:sp>
      <p:sp>
        <p:nvSpPr>
          <p:cNvPr id="29" name="domain-body-4">
            <a:extLst>
              <a:ext uri="{FF2B5EF4-FFF2-40B4-BE49-F238E27FC236}">
                <a16:creationId xmlns:a16="http://schemas.microsoft.com/office/drawing/2014/main" id="{9329AAAB-AE6F-4DCA-829D-25D0C5F22E82}"/>
              </a:ext>
            </a:extLst>
          </p:cNvPr>
          <p:cNvSpPr>
            <a:spLocks noGrp="1"/>
          </p:cNvSpPr>
          <p:nvPr/>
        </p:nvSpPr>
        <p:spPr>
          <a:xfrm>
            <a:off x="9639300" y="28765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Content • self-service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Features • journeys</a:t>
            </a:r>
          </a:p>
        </p:txBody>
      </p:sp>
      <p:sp>
        <p:nvSpPr>
          <p:cNvPr id="30" name="shared-platform">
            <a:extLst>
              <a:ext uri="{FF2B5EF4-FFF2-40B4-BE49-F238E27FC236}">
                <a16:creationId xmlns:a16="http://schemas.microsoft.com/office/drawing/2014/main" id="{0CFC51FA-701A-497A-9C2C-0669A51CEF5F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820400" cy="1219200"/>
          </a:xfrm>
          <a:prstGeom prst="roundRect">
            <a:avLst>
              <a:gd name="adj" fmla="val 6250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red-platform-title">
            <a:extLst>
              <a:ext uri="{FF2B5EF4-FFF2-40B4-BE49-F238E27FC236}">
                <a16:creationId xmlns:a16="http://schemas.microsoft.com/office/drawing/2014/main" id="{85ECFDC4-E552-4379-8A86-494D79027288}"/>
              </a:ext>
            </a:extLst>
          </p:cNvPr>
          <p:cNvSpPr>
            <a:spLocks noGrp="1"/>
          </p:cNvSpPr>
          <p:nvPr/>
        </p:nvSpPr>
        <p:spPr>
          <a:xfrm>
            <a:off x="914400" y="39433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FOUNDATIONAL EXPERIMENTATION PLATFORM</a:t>
            </a:r>
          </a:p>
        </p:txBody>
      </p:sp>
      <p:sp>
        <p:nvSpPr>
          <p:cNvPr id="32" name="shared-platform-thesis">
            <a:extLst>
              <a:ext uri="{FF2B5EF4-FFF2-40B4-BE49-F238E27FC236}">
                <a16:creationId xmlns:a16="http://schemas.microsoft.com/office/drawing/2014/main" id="{2DC03E51-69D5-48C1-8E3A-F6207EC7AA26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Shared enterprise infrastructure supplies reusable capabilities for trusted experiments across every domain.</a:t>
            </a:r>
          </a:p>
        </p:txBody>
      </p:sp>
      <p:sp>
        <p:nvSpPr>
          <p:cNvPr id="33" name="shared-cap-0">
            <a:extLst>
              <a:ext uri="{FF2B5EF4-FFF2-40B4-BE49-F238E27FC236}">
                <a16:creationId xmlns:a16="http://schemas.microsoft.com/office/drawing/2014/main" id="{A9B401D7-6B2B-4C9D-9E63-67B9C25B95F6}"/>
              </a:ext>
            </a:extLst>
          </p:cNvPr>
          <p:cNvSpPr>
            <a:spLocks noGrp="1"/>
          </p:cNvSpPr>
          <p:nvPr/>
        </p:nvSpPr>
        <p:spPr>
          <a:xfrm>
            <a:off x="9144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Identity + assignment</a:t>
            </a:r>
          </a:p>
        </p:txBody>
      </p:sp>
      <p:sp>
        <p:nvSpPr>
          <p:cNvPr id="34" name="shared-cap-1">
            <a:extLst>
              <a:ext uri="{FF2B5EF4-FFF2-40B4-BE49-F238E27FC236}">
                <a16:creationId xmlns:a16="http://schemas.microsoft.com/office/drawing/2014/main" id="{7E760C32-B9A5-444F-B6EF-79AD6D7BB09B}"/>
              </a:ext>
            </a:extLst>
          </p:cNvPr>
          <p:cNvSpPr>
            <a:spLocks noGrp="1"/>
          </p:cNvSpPr>
          <p:nvPr/>
        </p:nvSpPr>
        <p:spPr>
          <a:xfrm>
            <a:off x="29718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Audience + targeting</a:t>
            </a:r>
          </a:p>
        </p:txBody>
      </p:sp>
      <p:sp>
        <p:nvSpPr>
          <p:cNvPr id="35" name="shared-cap-2">
            <a:extLst>
              <a:ext uri="{FF2B5EF4-FFF2-40B4-BE49-F238E27FC236}">
                <a16:creationId xmlns:a16="http://schemas.microsoft.com/office/drawing/2014/main" id="{F16A0919-2E2D-453F-93FF-B38ED55AA625}"/>
              </a:ext>
            </a:extLst>
          </p:cNvPr>
          <p:cNvSpPr>
            <a:spLocks noGrp="1"/>
          </p:cNvSpPr>
          <p:nvPr/>
        </p:nvSpPr>
        <p:spPr>
          <a:xfrm>
            <a:off x="50292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Traffic allocation</a:t>
            </a:r>
          </a:p>
        </p:txBody>
      </p:sp>
      <p:sp>
        <p:nvSpPr>
          <p:cNvPr id="36" name="shared-cap-3">
            <a:extLst>
              <a:ext uri="{FF2B5EF4-FFF2-40B4-BE49-F238E27FC236}">
                <a16:creationId xmlns:a16="http://schemas.microsoft.com/office/drawing/2014/main" id="{DFA7A4D2-1E1B-49B1-80A3-92297FC66856}"/>
              </a:ext>
            </a:extLst>
          </p:cNvPr>
          <p:cNvSpPr>
            <a:spLocks noGrp="1"/>
          </p:cNvSpPr>
          <p:nvPr/>
        </p:nvSpPr>
        <p:spPr>
          <a:xfrm>
            <a:off x="70866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Outcome measurement</a:t>
            </a:r>
          </a:p>
        </p:txBody>
      </p:sp>
      <p:sp>
        <p:nvSpPr>
          <p:cNvPr id="37" name="shared-cap-4">
            <a:extLst>
              <a:ext uri="{FF2B5EF4-FFF2-40B4-BE49-F238E27FC236}">
                <a16:creationId xmlns:a16="http://schemas.microsoft.com/office/drawing/2014/main" id="{BD88F98D-0693-4EA5-A53B-6CD2EA1EA907}"/>
              </a:ext>
            </a:extLst>
          </p:cNvPr>
          <p:cNvSpPr>
            <a:spLocks noGrp="1"/>
          </p:cNvSpPr>
          <p:nvPr/>
        </p:nvSpPr>
        <p:spPr>
          <a:xfrm>
            <a:off x="9144000" y="46958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125" b="1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Guardrails + governance</a:t>
            </a:r>
          </a:p>
        </p:txBody>
      </p:sp>
      <p:sp>
        <p:nvSpPr>
          <p:cNvPr id="38" name="scale-benefit">
            <a:extLst>
              <a:ext uri="{FF2B5EF4-FFF2-40B4-BE49-F238E27FC236}">
                <a16:creationId xmlns:a16="http://schemas.microsoft.com/office/drawing/2014/main" id="{4F08275D-A5D2-49B9-8EA6-7DFFD81A0EA9}"/>
              </a:ext>
            </a:extLst>
          </p:cNvPr>
          <p:cNvSpPr>
            <a:spLocks noGrp="1"/>
          </p:cNvSpPr>
          <p:nvPr/>
        </p:nvSpPr>
        <p:spPr>
          <a:xfrm>
            <a:off x="1524000" y="5314950"/>
            <a:ext cx="9144000" cy="723900"/>
          </a:xfrm>
          <a:prstGeom prst="roundRect">
            <a:avLst>
              <a:gd name="adj" fmla="val 10526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cale-benefit-copy">
            <a:extLst>
              <a:ext uri="{FF2B5EF4-FFF2-40B4-BE49-F238E27FC236}">
                <a16:creationId xmlns:a16="http://schemas.microsoft.com/office/drawing/2014/main" id="{56FCF92D-F3FC-4E64-BCCF-C202E4A6F58C}"/>
              </a:ext>
            </a:extLst>
          </p:cNvPr>
          <p:cNvSpPr>
            <a:spLocks noGrp="1"/>
          </p:cNvSpPr>
          <p:nvPr/>
        </p:nvSpPr>
        <p:spPr>
          <a:xfrm>
            <a:off x="1847850" y="5524500"/>
            <a:ext cx="849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5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Fund the foundation once—then reuse identity, measurement and governance across products, journeys and business models.</a:t>
            </a:r>
          </a:p>
        </p:txBody>
      </p:sp>
    </p:spTree>
    <p:extLst>
      <p:ext uri="{BB962C8B-B14F-4D97-AF65-F5344CB8AC3E}">
        <p14:creationId xmlns:p14="http://schemas.microsoft.com/office/powerpoint/2010/main" val="1009417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-7">
            <a:extLst>
              <a:ext uri="{FF2B5EF4-FFF2-40B4-BE49-F238E27FC236}">
                <a16:creationId xmlns:a16="http://schemas.microsoft.com/office/drawing/2014/main" id="{79D4342C-A362-439C-87FF-214C5C2994A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NEXT STEPS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326312A1-FA3B-43EB-8A24-4CFD61B0455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2700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Approve scoping now; return with a defined investment and delivery ask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9E115BBD-8FD0-4E44-BB74-4C96C62286A7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0072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age-7">
            <a:extLst>
              <a:ext uri="{FF2B5EF4-FFF2-40B4-BE49-F238E27FC236}">
                <a16:creationId xmlns:a16="http://schemas.microsoft.com/office/drawing/2014/main" id="{5AD9B9D0-644F-4EE3-BF02-F28742C86818}"/>
              </a:ext>
            </a:extLst>
          </p:cNvPr>
          <p:cNvSpPr>
            <a:spLocks noGrp="1"/>
          </p:cNvSpPr>
          <p:nvPr/>
        </p:nvSpPr>
        <p:spPr>
          <a:xfrm>
            <a:off x="11068050" y="64484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900" b="1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07</a:t>
            </a:r>
          </a:p>
        </p:txBody>
      </p:sp>
      <p:sp>
        <p:nvSpPr>
          <p:cNvPr id="5" name="next-0">
            <a:extLst>
              <a:ext uri="{FF2B5EF4-FFF2-40B4-BE49-F238E27FC236}">
                <a16:creationId xmlns:a16="http://schemas.microsoft.com/office/drawing/2014/main" id="{35006649-C8FE-4A73-89C5-2E3397D6280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3200400" cy="2647950"/>
          </a:xfrm>
          <a:prstGeom prst="roundRect">
            <a:avLst>
              <a:gd name="adj" fmla="val 2878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ext-label-0">
            <a:extLst>
              <a:ext uri="{FF2B5EF4-FFF2-40B4-BE49-F238E27FC236}">
                <a16:creationId xmlns:a16="http://schemas.microsoft.com/office/drawing/2014/main" id="{333043EB-A826-4A03-9B30-896D29E7B56E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1  SCOPE</a:t>
            </a:r>
          </a:p>
        </p:txBody>
      </p:sp>
      <p:sp>
        <p:nvSpPr>
          <p:cNvPr id="7" name="next-head-0">
            <a:extLst>
              <a:ext uri="{FF2B5EF4-FFF2-40B4-BE49-F238E27FC236}">
                <a16:creationId xmlns:a16="http://schemas.microsoft.com/office/drawing/2014/main" id="{D18429F2-4203-4BE3-94C2-19500DBD8D3E}"/>
              </a:ext>
            </a:extLst>
          </p:cNvPr>
          <p:cNvSpPr>
            <a:spLocks noGrp="1"/>
          </p:cNvSpPr>
          <p:nvPr/>
        </p:nvSpPr>
        <p:spPr>
          <a:xfrm>
            <a:off x="895350" y="2505075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Align requirements and priorities</a:t>
            </a:r>
          </a:p>
        </p:txBody>
      </p:sp>
      <p:sp>
        <p:nvSpPr>
          <p:cNvPr id="8" name="next-body-0">
            <a:extLst>
              <a:ext uri="{FF2B5EF4-FFF2-40B4-BE49-F238E27FC236}">
                <a16:creationId xmlns:a16="http://schemas.microsoft.com/office/drawing/2014/main" id="{4C558A7A-F342-4EF9-B108-93711C968C54}"/>
              </a:ext>
            </a:extLst>
          </p:cNvPr>
          <p:cNvSpPr>
            <a:spLocks noGrp="1"/>
          </p:cNvSpPr>
          <p:nvPr/>
        </p:nvSpPr>
        <p:spPr>
          <a:xfrm>
            <a:off x="895350" y="3295650"/>
            <a:ext cx="2781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Prioritize domains and use cases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Document functional requirements</a:t>
            </a:r>
          </a:p>
          <a:p>
            <a:pPr algn="l">
              <a:def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DCE9F0"/>
                </a:solidFill>
                <a:latin typeface="AmplitudeTF"/>
                <a:ea typeface="AmplitudeTF"/>
                <a:cs typeface="AmplitudeTF"/>
              </a:rPr>
              <a:t>Establish baselines and value hypotheses</a:t>
            </a:r>
          </a:p>
        </p:txBody>
      </p:sp>
      <p:sp>
        <p:nvSpPr>
          <p:cNvPr id="9" name="next-1">
            <a:extLst>
              <a:ext uri="{FF2B5EF4-FFF2-40B4-BE49-F238E27FC236}">
                <a16:creationId xmlns:a16="http://schemas.microsoft.com/office/drawing/2014/main" id="{065388CA-7CAA-48FA-AC85-0703581A020D}"/>
              </a:ext>
            </a:extLst>
          </p:cNvPr>
          <p:cNvSpPr>
            <a:spLocks noGrp="1"/>
          </p:cNvSpPr>
          <p:nvPr/>
        </p:nvSpPr>
        <p:spPr>
          <a:xfrm>
            <a:off x="4305300" y="1885950"/>
            <a:ext cx="3200400" cy="2647950"/>
          </a:xfrm>
          <a:prstGeom prst="roundRect">
            <a:avLst>
              <a:gd name="adj" fmla="val 2878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ext-label-1">
            <a:extLst>
              <a:ext uri="{FF2B5EF4-FFF2-40B4-BE49-F238E27FC236}">
                <a16:creationId xmlns:a16="http://schemas.microsoft.com/office/drawing/2014/main" id="{3875A4E2-E933-4DAF-B30A-382FC470A4E5}"/>
              </a:ext>
            </a:extLst>
          </p:cNvPr>
          <p:cNvSpPr>
            <a:spLocks noGrp="1"/>
          </p:cNvSpPr>
          <p:nvPr/>
        </p:nvSpPr>
        <p:spPr>
          <a:xfrm>
            <a:off x="4514850" y="211455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2  DESIGN</a:t>
            </a:r>
          </a:p>
        </p:txBody>
      </p:sp>
      <p:sp>
        <p:nvSpPr>
          <p:cNvPr id="11" name="next-head-1">
            <a:extLst>
              <a:ext uri="{FF2B5EF4-FFF2-40B4-BE49-F238E27FC236}">
                <a16:creationId xmlns:a16="http://schemas.microsoft.com/office/drawing/2014/main" id="{13CEBA4B-4EAF-4E52-9DAA-0FEB57977CC1}"/>
              </a:ext>
            </a:extLst>
          </p:cNvPr>
          <p:cNvSpPr>
            <a:spLocks noGrp="1"/>
          </p:cNvSpPr>
          <p:nvPr/>
        </p:nvSpPr>
        <p:spPr>
          <a:xfrm>
            <a:off x="4514850" y="2505075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Define the target foundation</a:t>
            </a:r>
          </a:p>
        </p:txBody>
      </p:sp>
      <p:sp>
        <p:nvSpPr>
          <p:cNvPr id="12" name="next-body-1">
            <a:extLst>
              <a:ext uri="{FF2B5EF4-FFF2-40B4-BE49-F238E27FC236}">
                <a16:creationId xmlns:a16="http://schemas.microsoft.com/office/drawing/2014/main" id="{4FBDFA08-051A-4A9C-9820-60116A19C6B5}"/>
              </a:ext>
            </a:extLst>
          </p:cNvPr>
          <p:cNvSpPr>
            <a:spLocks noGrp="1"/>
          </p:cNvSpPr>
          <p:nvPr/>
        </p:nvSpPr>
        <p:spPr>
          <a:xfrm>
            <a:off x="4514850" y="3295650"/>
            <a:ext cx="2781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Target architecture and integrations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Operating model and governance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Security, data and control requirements</a:t>
            </a:r>
          </a:p>
        </p:txBody>
      </p:sp>
      <p:sp>
        <p:nvSpPr>
          <p:cNvPr id="13" name="next-2">
            <a:extLst>
              <a:ext uri="{FF2B5EF4-FFF2-40B4-BE49-F238E27FC236}">
                <a16:creationId xmlns:a16="http://schemas.microsoft.com/office/drawing/2014/main" id="{43284924-61D2-4663-A6CE-8AFD3B9257CA}"/>
              </a:ext>
            </a:extLst>
          </p:cNvPr>
          <p:cNvSpPr>
            <a:spLocks noGrp="1"/>
          </p:cNvSpPr>
          <p:nvPr/>
        </p:nvSpPr>
        <p:spPr>
          <a:xfrm>
            <a:off x="7924800" y="1885950"/>
            <a:ext cx="3200400" cy="2647950"/>
          </a:xfrm>
          <a:prstGeom prst="roundRect">
            <a:avLst>
              <a:gd name="adj" fmla="val 2878"/>
            </a:avLst>
          </a:prstGeom>
          <a:solidFill>
            <a:srgbClr val="F3F7F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ext-label-2">
            <a:extLst>
              <a:ext uri="{FF2B5EF4-FFF2-40B4-BE49-F238E27FC236}">
                <a16:creationId xmlns:a16="http://schemas.microsoft.com/office/drawing/2014/main" id="{C302F491-23A6-4141-B602-FC6DA3C5B359}"/>
              </a:ext>
            </a:extLst>
          </p:cNvPr>
          <p:cNvSpPr>
            <a:spLocks noGrp="1"/>
          </p:cNvSpPr>
          <p:nvPr/>
        </p:nvSpPr>
        <p:spPr>
          <a:xfrm>
            <a:off x="8134350" y="211455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0072CE"/>
                </a:solidFill>
                <a:latin typeface="AmplitudeTF"/>
                <a:ea typeface="AmplitudeTF"/>
                <a:cs typeface="AmplitudeTF"/>
              </a:rPr>
              <a:t>3  SIZE THE ASK</a:t>
            </a:r>
          </a:p>
        </p:txBody>
      </p:sp>
      <p:sp>
        <p:nvSpPr>
          <p:cNvPr id="15" name="next-head-2">
            <a:extLst>
              <a:ext uri="{FF2B5EF4-FFF2-40B4-BE49-F238E27FC236}">
                <a16:creationId xmlns:a16="http://schemas.microsoft.com/office/drawing/2014/main" id="{C1A3719B-AF9F-4816-9202-B7DD55F4AE2D}"/>
              </a:ext>
            </a:extLst>
          </p:cNvPr>
          <p:cNvSpPr>
            <a:spLocks noGrp="1"/>
          </p:cNvSpPr>
          <p:nvPr/>
        </p:nvSpPr>
        <p:spPr>
          <a:xfrm>
            <a:off x="8134350" y="2505075"/>
            <a:ext cx="2781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defRPr>
            </a:pPr>
            <a:r>
              <a:rPr sz="1725" b="1">
                <a:solidFill>
                  <a:srgbClr val="09253F"/>
                </a:solidFill>
                <a:latin typeface="AmplitudeTF"/>
                <a:ea typeface="AmplitudeTF"/>
                <a:cs typeface="AmplitudeTF"/>
              </a:rPr>
              <a:t>Build the implementation case</a:t>
            </a:r>
          </a:p>
        </p:txBody>
      </p:sp>
      <p:sp>
        <p:nvSpPr>
          <p:cNvPr id="16" name="next-body-2">
            <a:extLst>
              <a:ext uri="{FF2B5EF4-FFF2-40B4-BE49-F238E27FC236}">
                <a16:creationId xmlns:a16="http://schemas.microsoft.com/office/drawing/2014/main" id="{730C583C-63B5-492D-8C32-7B240892CD7E}"/>
              </a:ext>
            </a:extLst>
          </p:cNvPr>
          <p:cNvSpPr>
            <a:spLocks noGrp="1"/>
          </p:cNvSpPr>
          <p:nvPr/>
        </p:nvSpPr>
        <p:spPr>
          <a:xfrm>
            <a:off x="8134350" y="3295650"/>
            <a:ext cx="27813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Delivery roadmap and milestones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Team structure and skills</a:t>
            </a:r>
          </a:p>
          <a:p>
            <a:pPr algn="l">
              <a:def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defRPr>
            </a:pPr>
            <a:r>
              <a:rPr sz="1200" b="0">
                <a:solidFill>
                  <a:srgbClr val="617384"/>
                </a:solidFill>
                <a:latin typeface="AmplitudeTF"/>
                <a:ea typeface="AmplitudeTF"/>
                <a:cs typeface="AmplitudeTF"/>
              </a:rPr>
              <a:t>Investment range and quantified benefits</a:t>
            </a:r>
          </a:p>
        </p:txBody>
      </p:sp>
      <p:sp>
        <p:nvSpPr>
          <p:cNvPr id="17" name="ask">
            <a:extLst>
              <a:ext uri="{FF2B5EF4-FFF2-40B4-BE49-F238E27FC236}">
                <a16:creationId xmlns:a16="http://schemas.microsoft.com/office/drawing/2014/main" id="{1645898B-FCBE-490F-A705-2DA524C18AB8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1162050"/>
          </a:xfrm>
          <a:prstGeom prst="roundRect">
            <a:avLst>
              <a:gd name="adj" fmla="val 6557"/>
            </a:avLst>
          </a:prstGeom>
          <a:solidFill>
            <a:srgbClr val="09253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ask-title">
            <a:extLst>
              <a:ext uri="{FF2B5EF4-FFF2-40B4-BE49-F238E27FC236}">
                <a16:creationId xmlns:a16="http://schemas.microsoft.com/office/drawing/2014/main" id="{70E6012A-E334-40DA-A8FD-018ABAFB11B8}"/>
              </a:ext>
            </a:extLst>
          </p:cNvPr>
          <p:cNvSpPr>
            <a:spLocks noGrp="1"/>
          </p:cNvSpPr>
          <p:nvPr/>
        </p:nvSpPr>
        <p:spPr>
          <a:xfrm>
            <a:off x="933450" y="51625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defRPr>
            </a:pPr>
            <a:r>
              <a:rPr sz="1050" b="1">
                <a:solidFill>
                  <a:srgbClr val="BFE7DF"/>
                </a:solidFill>
                <a:latin typeface="AmplitudeTF"/>
                <a:ea typeface="AmplitudeTF"/>
                <a:cs typeface="AmplitudeTF"/>
              </a:rPr>
              <a:t>DECISION REQUIRED TODAY</a:t>
            </a:r>
          </a:p>
        </p:txBody>
      </p:sp>
      <p:sp>
        <p:nvSpPr>
          <p:cNvPr id="19" name="ask-copy">
            <a:extLst>
              <a:ext uri="{FF2B5EF4-FFF2-40B4-BE49-F238E27FC236}">
                <a16:creationId xmlns:a16="http://schemas.microsoft.com/office/drawing/2014/main" id="{89A20BD1-7A7E-4ECB-909C-EB14F166BEE0}"/>
              </a:ext>
            </a:extLst>
          </p:cNvPr>
          <p:cNvSpPr>
            <a:spLocks noGrp="1"/>
          </p:cNvSpPr>
          <p:nvPr/>
        </p:nvSpPr>
        <p:spPr>
          <a:xfrm>
            <a:off x="933450" y="550545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mplitudeTF"/>
                <a:ea typeface="AmplitudeTF"/>
                <a:cs typeface="AmplitudeTF"/>
              </a:defRPr>
            </a:pPr>
            <a:r>
              <a:rPr sz="1650" b="1">
                <a:solidFill>
                  <a:srgbClr val="FFFFFF"/>
                </a:solidFill>
                <a:latin typeface="AmplitudeTF"/>
                <a:ea typeface="AmplitudeTF"/>
                <a:cs typeface="AmplitudeTF"/>
              </a:rPr>
              <a:t>Authorize the cross-functional scoping and design effort; the team will return with the architecture, roadmap, staffing and investment request for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9593397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DocSecurity>0</DocSecurity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AmplitudeTF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James Nampalam</cp:lastModifiedBy>
  <cp:revision>1</cp:revision>
  <dcterms:created xsi:type="dcterms:W3CDTF">2026-08-03T20:33:19Z</dcterms:created>
  <dcterms:modified xsi:type="dcterms:W3CDTF">2026-08-03T20:56:08Z</dcterms:modified>
</cp:coreProperties>
</file>