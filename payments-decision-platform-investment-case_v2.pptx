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yebrow">
            <a:extLst>
              <a:ext uri="{FF2B5EF4-FFF2-40B4-BE49-F238E27FC236}">
                <a16:creationId xmlns:a16="http://schemas.microsoft.com/office/drawing/2014/main" id="{21FFAC98-60B4-4146-B364-DD1946B3E4E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INVESTMENT CASE</a:t>
            </a:r>
          </a:p>
        </p:txBody>
      </p:sp>
      <p:sp>
        <p:nvSpPr>
          <p:cNvPr id="2" name="deck-title">
            <a:extLst>
              <a:ext uri="{FF2B5EF4-FFF2-40B4-BE49-F238E27FC236}">
                <a16:creationId xmlns:a16="http://schemas.microsoft.com/office/drawing/2014/main" id="{2CE4D992-F2C3-4B3E-8329-080D256DDAD7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7429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405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Build the Payments Decision Platform</a:t>
            </a:r>
          </a:p>
        </p:txBody>
      </p:sp>
      <p:sp>
        <p:nvSpPr>
          <p:cNvPr id="3" name="deck-subtitle">
            <a:extLst>
              <a:ext uri="{FF2B5EF4-FFF2-40B4-BE49-F238E27FC236}">
                <a16:creationId xmlns:a16="http://schemas.microsoft.com/office/drawing/2014/main" id="{70ADC66E-C39A-4701-B281-58601BE8E562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7429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D8E5EC"/>
                </a:solidFill>
                <a:latin typeface="AmplitudeTF"/>
                <a:ea typeface="AmplitudeTF"/>
                <a:cs typeface="AmplitudeTF"/>
              </a:defRPr>
            </a:pPr>
            <a:r>
              <a:rPr sz="1800" b="0">
                <a:solidFill>
                  <a:srgbClr val="D8E5EC"/>
                </a:solidFill>
                <a:latin typeface="AmplitudeTF"/>
                <a:ea typeface="AmplitudeTF"/>
                <a:cs typeface="AmplitudeTF"/>
              </a:rPr>
              <a:t>Turn static payment processing into a continuously optimized, measurable and monetizable capability.</a:t>
            </a:r>
          </a:p>
        </p:txBody>
      </p:sp>
      <p:sp>
        <p:nvSpPr>
          <p:cNvPr id="4" name="thesis-band">
            <a:extLst>
              <a:ext uri="{FF2B5EF4-FFF2-40B4-BE49-F238E27FC236}">
                <a16:creationId xmlns:a16="http://schemas.microsoft.com/office/drawing/2014/main" id="{D2CA6DE6-50D6-429C-ADB9-134614B5276C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108204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hesis-label">
            <a:extLst>
              <a:ext uri="{FF2B5EF4-FFF2-40B4-BE49-F238E27FC236}">
                <a16:creationId xmlns:a16="http://schemas.microsoft.com/office/drawing/2014/main" id="{512F7A82-2063-4F71-BB74-9A50D3C82B65}"/>
              </a:ext>
            </a:extLst>
          </p:cNvPr>
          <p:cNvSpPr>
            <a:spLocks noGrp="1"/>
          </p:cNvSpPr>
          <p:nvPr/>
        </p:nvSpPr>
        <p:spPr>
          <a:xfrm>
            <a:off x="933450" y="41433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THE DECISION</a:t>
            </a:r>
          </a:p>
        </p:txBody>
      </p:sp>
      <p:sp>
        <p:nvSpPr>
          <p:cNvPr id="6" name="thesis-copy">
            <a:extLst>
              <a:ext uri="{FF2B5EF4-FFF2-40B4-BE49-F238E27FC236}">
                <a16:creationId xmlns:a16="http://schemas.microsoft.com/office/drawing/2014/main" id="{7178702C-E3DE-44FB-BB08-8EA0DF135E58}"/>
              </a:ext>
            </a:extLst>
          </p:cNvPr>
          <p:cNvSpPr>
            <a:spLocks noGrp="1"/>
          </p:cNvSpPr>
          <p:nvPr/>
        </p:nvSpPr>
        <p:spPr>
          <a:xfrm>
            <a:off x="933450" y="447675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Approve a phased investment in the common orchestration and experimentation platform that powers payment optimization.</a:t>
            </a:r>
          </a:p>
        </p:txBody>
      </p:sp>
      <p:sp>
        <p:nvSpPr>
          <p:cNvPr id="7" name="outcome-0">
            <a:extLst>
              <a:ext uri="{FF2B5EF4-FFF2-40B4-BE49-F238E27FC236}">
                <a16:creationId xmlns:a16="http://schemas.microsoft.com/office/drawing/2014/main" id="{E71438D4-0820-4B49-B8AB-2510DA787616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3200400" cy="7810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utcome-h-0">
            <a:extLst>
              <a:ext uri="{FF2B5EF4-FFF2-40B4-BE49-F238E27FC236}">
                <a16:creationId xmlns:a16="http://schemas.microsoft.com/office/drawing/2014/main" id="{22EC1FCC-5255-4136-AC6E-74EB9994BA11}"/>
              </a:ext>
            </a:extLst>
          </p:cNvPr>
          <p:cNvSpPr>
            <a:spLocks noGrp="1"/>
          </p:cNvSpPr>
          <p:nvPr/>
        </p:nvSpPr>
        <p:spPr>
          <a:xfrm>
            <a:off x="857250" y="55340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35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Merchant value</a:t>
            </a:r>
          </a:p>
        </p:txBody>
      </p:sp>
      <p:sp>
        <p:nvSpPr>
          <p:cNvPr id="9" name="outcome-b-0">
            <a:extLst>
              <a:ext uri="{FF2B5EF4-FFF2-40B4-BE49-F238E27FC236}">
                <a16:creationId xmlns:a16="http://schemas.microsoft.com/office/drawing/2014/main" id="{15FA72CA-D389-48EB-995A-15B349D630C2}"/>
              </a:ext>
            </a:extLst>
          </p:cNvPr>
          <p:cNvSpPr>
            <a:spLocks noGrp="1"/>
          </p:cNvSpPr>
          <p:nvPr/>
        </p:nvSpPr>
        <p:spPr>
          <a:xfrm>
            <a:off x="857250" y="58102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050" b="0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Higher approvals, lower payment cost and stronger resilience</a:t>
            </a:r>
          </a:p>
        </p:txBody>
      </p:sp>
      <p:sp>
        <p:nvSpPr>
          <p:cNvPr id="10" name="outcome-1">
            <a:extLst>
              <a:ext uri="{FF2B5EF4-FFF2-40B4-BE49-F238E27FC236}">
                <a16:creationId xmlns:a16="http://schemas.microsoft.com/office/drawing/2014/main" id="{C4D2283F-DF9D-4DB0-BD1E-5C79975A61B5}"/>
              </a:ext>
            </a:extLst>
          </p:cNvPr>
          <p:cNvSpPr>
            <a:spLocks noGrp="1"/>
          </p:cNvSpPr>
          <p:nvPr/>
        </p:nvSpPr>
        <p:spPr>
          <a:xfrm>
            <a:off x="4305300" y="5391150"/>
            <a:ext cx="3200400" cy="781050"/>
          </a:xfrm>
          <a:prstGeom prst="rect">
            <a:avLst/>
          </a:prstGeom>
          <a:solidFill>
            <a:srgbClr val="00A6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utcome-h-1">
            <a:extLst>
              <a:ext uri="{FF2B5EF4-FFF2-40B4-BE49-F238E27FC236}">
                <a16:creationId xmlns:a16="http://schemas.microsoft.com/office/drawing/2014/main" id="{D6C7D75B-5DAA-4C40-95DC-94FC8A64D554}"/>
              </a:ext>
            </a:extLst>
          </p:cNvPr>
          <p:cNvSpPr>
            <a:spLocks noGrp="1"/>
          </p:cNvSpPr>
          <p:nvPr/>
        </p:nvSpPr>
        <p:spPr>
          <a:xfrm>
            <a:off x="4476750" y="55340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35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Enterprise leverage</a:t>
            </a:r>
          </a:p>
        </p:txBody>
      </p:sp>
      <p:sp>
        <p:nvSpPr>
          <p:cNvPr id="12" name="outcome-b-1">
            <a:extLst>
              <a:ext uri="{FF2B5EF4-FFF2-40B4-BE49-F238E27FC236}">
                <a16:creationId xmlns:a16="http://schemas.microsoft.com/office/drawing/2014/main" id="{5F9641BF-DF34-49B9-A818-A302B8EBD61F}"/>
              </a:ext>
            </a:extLst>
          </p:cNvPr>
          <p:cNvSpPr>
            <a:spLocks noGrp="1"/>
          </p:cNvSpPr>
          <p:nvPr/>
        </p:nvSpPr>
        <p:spPr>
          <a:xfrm>
            <a:off x="4476750" y="58102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050" b="0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Faster strategy launches with reuse across optimization products</a:t>
            </a:r>
          </a:p>
        </p:txBody>
      </p:sp>
      <p:sp>
        <p:nvSpPr>
          <p:cNvPr id="13" name="outcome-2">
            <a:extLst>
              <a:ext uri="{FF2B5EF4-FFF2-40B4-BE49-F238E27FC236}">
                <a16:creationId xmlns:a16="http://schemas.microsoft.com/office/drawing/2014/main" id="{95BC2B6A-F03C-419D-A10E-CAB6481982B3}"/>
              </a:ext>
            </a:extLst>
          </p:cNvPr>
          <p:cNvSpPr>
            <a:spLocks noGrp="1"/>
          </p:cNvSpPr>
          <p:nvPr/>
        </p:nvSpPr>
        <p:spPr>
          <a:xfrm>
            <a:off x="7924800" y="5391150"/>
            <a:ext cx="3200400" cy="781050"/>
          </a:xfrm>
          <a:prstGeom prst="rect">
            <a:avLst/>
          </a:prstGeom>
          <a:solidFill>
            <a:srgbClr val="BFE7D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utcome-h-2">
            <a:extLst>
              <a:ext uri="{FF2B5EF4-FFF2-40B4-BE49-F238E27FC236}">
                <a16:creationId xmlns:a16="http://schemas.microsoft.com/office/drawing/2014/main" id="{3A1992A1-D93B-4EE3-94FD-600E1A946884}"/>
              </a:ext>
            </a:extLst>
          </p:cNvPr>
          <p:cNvSpPr>
            <a:spLocks noGrp="1"/>
          </p:cNvSpPr>
          <p:nvPr/>
        </p:nvSpPr>
        <p:spPr>
          <a:xfrm>
            <a:off x="8096250" y="55340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Commercial growth</a:t>
            </a:r>
          </a:p>
        </p:txBody>
      </p:sp>
      <p:sp>
        <p:nvSpPr>
          <p:cNvPr id="15" name="outcome-b-2">
            <a:extLst>
              <a:ext uri="{FF2B5EF4-FFF2-40B4-BE49-F238E27FC236}">
                <a16:creationId xmlns:a16="http://schemas.microsoft.com/office/drawing/2014/main" id="{D085D07B-F411-40E4-A15D-6EC090C5AF17}"/>
              </a:ext>
            </a:extLst>
          </p:cNvPr>
          <p:cNvSpPr>
            <a:spLocks noGrp="1"/>
          </p:cNvSpPr>
          <p:nvPr/>
        </p:nvSpPr>
        <p:spPr>
          <a:xfrm>
            <a:off x="8096250" y="58102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050" b="0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Measurable premium services with usage- or outcome-based pricing</a:t>
            </a:r>
          </a:p>
        </p:txBody>
      </p:sp>
      <p:sp>
        <p:nvSpPr>
          <p:cNvPr id="16" name="page-1">
            <a:extLst>
              <a:ext uri="{FF2B5EF4-FFF2-40B4-BE49-F238E27FC236}">
                <a16:creationId xmlns:a16="http://schemas.microsoft.com/office/drawing/2014/main" id="{004FE241-22D8-491F-AAC2-6CDC186C84E8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A9BCC8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A9BCC8"/>
                </a:solidFill>
                <a:latin typeface="AmplitudeTF"/>
                <a:ea typeface="AmplitudeTF"/>
                <a:cs typeface="AmplitudeTF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40543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kicker-2">
            <a:extLst>
              <a:ext uri="{FF2B5EF4-FFF2-40B4-BE49-F238E27FC236}">
                <a16:creationId xmlns:a16="http://schemas.microsoft.com/office/drawing/2014/main" id="{068F6998-8385-416A-B289-04F343321A2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WHY CHANGE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D60F7F52-D07B-430E-9647-37DAC631A5B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The gateway executes transactions—but cannot optimize at market speed</a:t>
            </a:r>
          </a:p>
        </p:txBody>
      </p:sp>
      <p:sp>
        <p:nvSpPr>
          <p:cNvPr id="3" name="rule-2">
            <a:extLst>
              <a:ext uri="{FF2B5EF4-FFF2-40B4-BE49-F238E27FC236}">
                <a16:creationId xmlns:a16="http://schemas.microsoft.com/office/drawing/2014/main" id="{E4FF8E0E-776D-4089-930D-435CB23F1801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2">
            <a:extLst>
              <a:ext uri="{FF2B5EF4-FFF2-40B4-BE49-F238E27FC236}">
                <a16:creationId xmlns:a16="http://schemas.microsoft.com/office/drawing/2014/main" id="{9368B14A-DA72-4BC3-8FA5-45A6447ACD1B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02</a:t>
            </a:r>
          </a:p>
        </p:txBody>
      </p:sp>
      <p:sp>
        <p:nvSpPr>
          <p:cNvPr id="5" name="constraint-1">
            <a:extLst>
              <a:ext uri="{FF2B5EF4-FFF2-40B4-BE49-F238E27FC236}">
                <a16:creationId xmlns:a16="http://schemas.microsoft.com/office/drawing/2014/main" id="{EA796DC8-44EC-4471-92B1-8440FA81543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3147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nstraint-1-accent">
            <a:extLst>
              <a:ext uri="{FF2B5EF4-FFF2-40B4-BE49-F238E27FC236}">
                <a16:creationId xmlns:a16="http://schemas.microsoft.com/office/drawing/2014/main" id="{F726A031-9A45-44D9-AC4D-52AE12459E7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6200" cy="25717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nstraint-1-heading">
            <a:extLst>
              <a:ext uri="{FF2B5EF4-FFF2-40B4-BE49-F238E27FC236}">
                <a16:creationId xmlns:a16="http://schemas.microsoft.com/office/drawing/2014/main" id="{471A5833-B302-48F2-A85B-F683A410DB83}"/>
              </a:ext>
            </a:extLst>
          </p:cNvPr>
          <p:cNvSpPr>
            <a:spLocks noGrp="1"/>
          </p:cNvSpPr>
          <p:nvPr/>
        </p:nvSpPr>
        <p:spPr>
          <a:xfrm>
            <a:off x="952500" y="2038350"/>
            <a:ext cx="281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Decisions are embedded in code</a:t>
            </a:r>
          </a:p>
        </p:txBody>
      </p:sp>
      <p:sp>
        <p:nvSpPr>
          <p:cNvPr id="8" name="constraint-1-body">
            <a:extLst>
              <a:ext uri="{FF2B5EF4-FFF2-40B4-BE49-F238E27FC236}">
                <a16:creationId xmlns:a16="http://schemas.microsoft.com/office/drawing/2014/main" id="{0A9F9F0D-AF87-499B-B7FB-91FEE3BA979D}"/>
              </a:ext>
            </a:extLst>
          </p:cNvPr>
          <p:cNvSpPr>
            <a:spLocks noGrp="1"/>
          </p:cNvSpPr>
          <p:nvPr/>
        </p:nvSpPr>
        <p:spPr>
          <a:xfrm>
            <a:off x="952500" y="2647950"/>
            <a:ext cx="28194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Optimization logic is tied to shared payment flows. Strategy changes require engineering releases and cannot be deployed independently.</a:t>
            </a:r>
          </a:p>
        </p:txBody>
      </p:sp>
      <p:sp>
        <p:nvSpPr>
          <p:cNvPr id="9" name="constraint-2">
            <a:extLst>
              <a:ext uri="{FF2B5EF4-FFF2-40B4-BE49-F238E27FC236}">
                <a16:creationId xmlns:a16="http://schemas.microsoft.com/office/drawing/2014/main" id="{C3C71797-2097-49B9-81DF-47B6002DA1F6}"/>
              </a:ext>
            </a:extLst>
          </p:cNvPr>
          <p:cNvSpPr>
            <a:spLocks noGrp="1"/>
          </p:cNvSpPr>
          <p:nvPr/>
        </p:nvSpPr>
        <p:spPr>
          <a:xfrm>
            <a:off x="4438650" y="1809750"/>
            <a:ext cx="33147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onstraint-2-accent">
            <a:extLst>
              <a:ext uri="{FF2B5EF4-FFF2-40B4-BE49-F238E27FC236}">
                <a16:creationId xmlns:a16="http://schemas.microsoft.com/office/drawing/2014/main" id="{E48B2760-7D16-4074-98A4-E64EF0CAACF0}"/>
              </a:ext>
            </a:extLst>
          </p:cNvPr>
          <p:cNvSpPr>
            <a:spLocks noGrp="1"/>
          </p:cNvSpPr>
          <p:nvPr/>
        </p:nvSpPr>
        <p:spPr>
          <a:xfrm>
            <a:off x="4438650" y="1809750"/>
            <a:ext cx="76200" cy="2571750"/>
          </a:xfrm>
          <a:prstGeom prst="rect">
            <a:avLst/>
          </a:prstGeom>
          <a:solidFill>
            <a:srgbClr val="00A6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onstraint-2-heading">
            <a:extLst>
              <a:ext uri="{FF2B5EF4-FFF2-40B4-BE49-F238E27FC236}">
                <a16:creationId xmlns:a16="http://schemas.microsoft.com/office/drawing/2014/main" id="{D7AF7726-47FA-4940-B680-A5A92384EB3B}"/>
              </a:ext>
            </a:extLst>
          </p:cNvPr>
          <p:cNvSpPr>
            <a:spLocks noGrp="1"/>
          </p:cNvSpPr>
          <p:nvPr/>
        </p:nvSpPr>
        <p:spPr>
          <a:xfrm>
            <a:off x="4705350" y="2038350"/>
            <a:ext cx="281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Experimentation is fragmented</a:t>
            </a:r>
          </a:p>
        </p:txBody>
      </p:sp>
      <p:sp>
        <p:nvSpPr>
          <p:cNvPr id="12" name="constraint-2-body">
            <a:extLst>
              <a:ext uri="{FF2B5EF4-FFF2-40B4-BE49-F238E27FC236}">
                <a16:creationId xmlns:a16="http://schemas.microsoft.com/office/drawing/2014/main" id="{524D1F17-1E22-46C5-A753-4839D0AC7228}"/>
              </a:ext>
            </a:extLst>
          </p:cNvPr>
          <p:cNvSpPr>
            <a:spLocks noGrp="1"/>
          </p:cNvSpPr>
          <p:nvPr/>
        </p:nvSpPr>
        <p:spPr>
          <a:xfrm>
            <a:off x="4705350" y="2647950"/>
            <a:ext cx="28194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Traffic allocation, control groups and performance measurement are inconsistent—limiting safe rollout and causal learning.</a:t>
            </a:r>
          </a:p>
        </p:txBody>
      </p:sp>
      <p:sp>
        <p:nvSpPr>
          <p:cNvPr id="13" name="constraint-3">
            <a:extLst>
              <a:ext uri="{FF2B5EF4-FFF2-40B4-BE49-F238E27FC236}">
                <a16:creationId xmlns:a16="http://schemas.microsoft.com/office/drawing/2014/main" id="{0A6E01BF-B469-48DA-AF05-370BB25D2E3A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33147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constraint-3-accent">
            <a:extLst>
              <a:ext uri="{FF2B5EF4-FFF2-40B4-BE49-F238E27FC236}">
                <a16:creationId xmlns:a16="http://schemas.microsoft.com/office/drawing/2014/main" id="{5C574D9F-28C1-4379-AFE7-4B935E009DC1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76200" cy="2571750"/>
          </a:xfrm>
          <a:prstGeom prst="rect">
            <a:avLst/>
          </a:prstGeom>
          <a:solidFill>
            <a:srgbClr val="4E7C8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onstraint-3-heading">
            <a:extLst>
              <a:ext uri="{FF2B5EF4-FFF2-40B4-BE49-F238E27FC236}">
                <a16:creationId xmlns:a16="http://schemas.microsoft.com/office/drawing/2014/main" id="{39CEEFB3-D86A-4010-8817-AAC7608696E6}"/>
              </a:ext>
            </a:extLst>
          </p:cNvPr>
          <p:cNvSpPr>
            <a:spLocks noGrp="1"/>
          </p:cNvSpPr>
          <p:nvPr/>
        </p:nvSpPr>
        <p:spPr>
          <a:xfrm>
            <a:off x="8458200" y="2038350"/>
            <a:ext cx="281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Every use case becomes bespoke</a:t>
            </a:r>
          </a:p>
        </p:txBody>
      </p:sp>
      <p:sp>
        <p:nvSpPr>
          <p:cNvPr id="16" name="constraint-3-body">
            <a:extLst>
              <a:ext uri="{FF2B5EF4-FFF2-40B4-BE49-F238E27FC236}">
                <a16:creationId xmlns:a16="http://schemas.microsoft.com/office/drawing/2014/main" id="{DC7B236B-93DC-42C1-9D0A-BC3AD8110876}"/>
              </a:ext>
            </a:extLst>
          </p:cNvPr>
          <p:cNvSpPr>
            <a:spLocks noGrp="1"/>
          </p:cNvSpPr>
          <p:nvPr/>
        </p:nvSpPr>
        <p:spPr>
          <a:xfrm>
            <a:off x="8458200" y="2647950"/>
            <a:ext cx="28194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Each optimization adds lead time, change risk and duplicate build effort. Value is harder to prove, price and scale.</a:t>
            </a:r>
          </a:p>
        </p:txBody>
      </p:sp>
      <p:sp>
        <p:nvSpPr>
          <p:cNvPr id="17" name="consequence">
            <a:extLst>
              <a:ext uri="{FF2B5EF4-FFF2-40B4-BE49-F238E27FC236}">
                <a16:creationId xmlns:a16="http://schemas.microsoft.com/office/drawing/2014/main" id="{C3F4CFBB-34F1-4142-AAB0-736A76E69566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820400" cy="1104900"/>
          </a:xfrm>
          <a:prstGeom prst="roundRect">
            <a:avLst>
              <a:gd name="adj" fmla="val 6897"/>
            </a:avLst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consequence-label">
            <a:extLst>
              <a:ext uri="{FF2B5EF4-FFF2-40B4-BE49-F238E27FC236}">
                <a16:creationId xmlns:a16="http://schemas.microsoft.com/office/drawing/2014/main" id="{4C727625-B64A-4EC7-8029-3B74ACC8A25D}"/>
              </a:ext>
            </a:extLst>
          </p:cNvPr>
          <p:cNvSpPr>
            <a:spLocks noGrp="1"/>
          </p:cNvSpPr>
          <p:nvPr/>
        </p:nvSpPr>
        <p:spPr>
          <a:xfrm>
            <a:off x="933450" y="49720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BUSINESS CONSEQUENCE</a:t>
            </a:r>
          </a:p>
        </p:txBody>
      </p:sp>
      <p:sp>
        <p:nvSpPr>
          <p:cNvPr id="19" name="consequence-copy">
            <a:extLst>
              <a:ext uri="{FF2B5EF4-FFF2-40B4-BE49-F238E27FC236}">
                <a16:creationId xmlns:a16="http://schemas.microsoft.com/office/drawing/2014/main" id="{14DC5C37-EEAC-47D6-92F2-13AFC0EE5B17}"/>
              </a:ext>
            </a:extLst>
          </p:cNvPr>
          <p:cNvSpPr>
            <a:spLocks noGrp="1"/>
          </p:cNvSpPr>
          <p:nvPr/>
        </p:nvSpPr>
        <p:spPr>
          <a:xfrm>
            <a:off x="933450" y="5267325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725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The constraint is not a shortage of optimization ideas—it is the absence of a common layer to deploy, measure and scale them safely.</a:t>
            </a:r>
          </a:p>
        </p:txBody>
      </p:sp>
    </p:spTree>
    <p:extLst>
      <p:ext uri="{BB962C8B-B14F-4D97-AF65-F5344CB8AC3E}">
        <p14:creationId xmlns:p14="http://schemas.microsoft.com/office/powerpoint/2010/main" val="1580600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kicker-3">
            <a:extLst>
              <a:ext uri="{FF2B5EF4-FFF2-40B4-BE49-F238E27FC236}">
                <a16:creationId xmlns:a16="http://schemas.microsoft.com/office/drawing/2014/main" id="{E9D555F0-C290-4C9A-AFAF-42CAB937D21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VALUE UNLOCKED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38695B96-7986-40E8-AC3F-F25B6C669ABA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A common orchestration platform unlocks multiple sources of value</a:t>
            </a:r>
          </a:p>
        </p:txBody>
      </p:sp>
      <p:sp>
        <p:nvSpPr>
          <p:cNvPr id="3" name="rule-3">
            <a:extLst>
              <a:ext uri="{FF2B5EF4-FFF2-40B4-BE49-F238E27FC236}">
                <a16:creationId xmlns:a16="http://schemas.microsoft.com/office/drawing/2014/main" id="{F674487C-895E-4C1B-93F5-60D99C036944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3">
            <a:extLst>
              <a:ext uri="{FF2B5EF4-FFF2-40B4-BE49-F238E27FC236}">
                <a16:creationId xmlns:a16="http://schemas.microsoft.com/office/drawing/2014/main" id="{2437CB61-D89F-4C9A-975C-4032E682CA19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03</a:t>
            </a:r>
          </a:p>
        </p:txBody>
      </p:sp>
      <p:sp>
        <p:nvSpPr>
          <p:cNvPr id="5" name="value-subtitle">
            <a:extLst>
              <a:ext uri="{FF2B5EF4-FFF2-40B4-BE49-F238E27FC236}">
                <a16:creationId xmlns:a16="http://schemas.microsoft.com/office/drawing/2014/main" id="{6F544A3A-76ED-4EA5-8BC0-E612A2B50A9D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350" b="0" dirty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Reusable decisioning, experimentation and orchestration capabilities improve performance, reduce cost, strengthen resilience and enable differentiated vertical propositions.</a:t>
            </a:r>
          </a:p>
        </p:txBody>
      </p:sp>
      <p:sp>
        <p:nvSpPr>
          <p:cNvPr id="6" name="pool-0">
            <a:extLst>
              <a:ext uri="{FF2B5EF4-FFF2-40B4-BE49-F238E27FC236}">
                <a16:creationId xmlns:a16="http://schemas.microsoft.com/office/drawing/2014/main" id="{DB92D12F-4B03-45EC-A921-CEA477293E83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2381250" cy="2876550"/>
          </a:xfrm>
          <a:prstGeom prst="roundRect">
            <a:avLst>
              <a:gd name="adj" fmla="val 3200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ool-top-0">
            <a:extLst>
              <a:ext uri="{FF2B5EF4-FFF2-40B4-BE49-F238E27FC236}">
                <a16:creationId xmlns:a16="http://schemas.microsoft.com/office/drawing/2014/main" id="{B705D624-3DD5-44F9-BBEC-8E181FE5F3C6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2381250" cy="952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ool-label-0">
            <a:extLst>
              <a:ext uri="{FF2B5EF4-FFF2-40B4-BE49-F238E27FC236}">
                <a16:creationId xmlns:a16="http://schemas.microsoft.com/office/drawing/2014/main" id="{D1C41271-0248-47EC-97ED-56D1B72A1331}"/>
              </a:ext>
            </a:extLst>
          </p:cNvPr>
          <p:cNvSpPr>
            <a:spLocks noGrp="1"/>
          </p:cNvSpPr>
          <p:nvPr/>
        </p:nvSpPr>
        <p:spPr>
          <a:xfrm>
            <a:off x="876300" y="22860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975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OPTIMIZE REVENUE</a:t>
            </a:r>
          </a:p>
        </p:txBody>
      </p:sp>
      <p:sp>
        <p:nvSpPr>
          <p:cNvPr id="9" name="pool-head-0">
            <a:extLst>
              <a:ext uri="{FF2B5EF4-FFF2-40B4-BE49-F238E27FC236}">
                <a16:creationId xmlns:a16="http://schemas.microsoft.com/office/drawing/2014/main" id="{25C97565-807D-44BA-9307-7CE5D2ED944A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Recover more good payments</a:t>
            </a:r>
          </a:p>
        </p:txBody>
      </p:sp>
      <p:sp>
        <p:nvSpPr>
          <p:cNvPr id="10" name="pool-items-0">
            <a:extLst>
              <a:ext uri="{FF2B5EF4-FFF2-40B4-BE49-F238E27FC236}">
                <a16:creationId xmlns:a16="http://schemas.microsoft.com/office/drawing/2014/main" id="{471B27EB-39AB-4FA1-B48C-2F63F7C60002}"/>
              </a:ext>
            </a:extLst>
          </p:cNvPr>
          <p:cNvSpPr>
            <a:spLocks noGrp="1"/>
          </p:cNvSpPr>
          <p:nvPr/>
        </p:nvSpPr>
        <p:spPr>
          <a:xfrm>
            <a:off x="876300" y="3524250"/>
            <a:ext cx="200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Smart retries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Authentication optimization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Message augmentation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Intelligent routing</a:t>
            </a:r>
          </a:p>
        </p:txBody>
      </p:sp>
      <p:sp>
        <p:nvSpPr>
          <p:cNvPr id="11" name="pool-1">
            <a:extLst>
              <a:ext uri="{FF2B5EF4-FFF2-40B4-BE49-F238E27FC236}">
                <a16:creationId xmlns:a16="http://schemas.microsoft.com/office/drawing/2014/main" id="{6A7BFC29-6E46-4A24-A637-1AFEEFA705D1}"/>
              </a:ext>
            </a:extLst>
          </p:cNvPr>
          <p:cNvSpPr>
            <a:spLocks noGrp="1"/>
          </p:cNvSpPr>
          <p:nvPr/>
        </p:nvSpPr>
        <p:spPr>
          <a:xfrm>
            <a:off x="3409950" y="2038350"/>
            <a:ext cx="2381250" cy="2876550"/>
          </a:xfrm>
          <a:prstGeom prst="roundRect">
            <a:avLst>
              <a:gd name="adj" fmla="val 3200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pool-top-1">
            <a:extLst>
              <a:ext uri="{FF2B5EF4-FFF2-40B4-BE49-F238E27FC236}">
                <a16:creationId xmlns:a16="http://schemas.microsoft.com/office/drawing/2014/main" id="{E35CC000-7E97-4F62-9392-D1CE417F9979}"/>
              </a:ext>
            </a:extLst>
          </p:cNvPr>
          <p:cNvSpPr>
            <a:spLocks noGrp="1"/>
          </p:cNvSpPr>
          <p:nvPr/>
        </p:nvSpPr>
        <p:spPr>
          <a:xfrm>
            <a:off x="3409950" y="2038350"/>
            <a:ext cx="2381250" cy="95250"/>
          </a:xfrm>
          <a:prstGeom prst="rect">
            <a:avLst/>
          </a:prstGeom>
          <a:solidFill>
            <a:srgbClr val="00A6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ool-label-1">
            <a:extLst>
              <a:ext uri="{FF2B5EF4-FFF2-40B4-BE49-F238E27FC236}">
                <a16:creationId xmlns:a16="http://schemas.microsoft.com/office/drawing/2014/main" id="{A7E064F9-A5E2-43B9-9D6E-67EDAF7466B4}"/>
              </a:ext>
            </a:extLst>
          </p:cNvPr>
          <p:cNvSpPr>
            <a:spLocks noGrp="1"/>
          </p:cNvSpPr>
          <p:nvPr/>
        </p:nvSpPr>
        <p:spPr>
          <a:xfrm>
            <a:off x="3600450" y="22860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A6C8"/>
                </a:solidFill>
                <a:latin typeface="AmplitudeTF"/>
                <a:ea typeface="AmplitudeTF"/>
                <a:cs typeface="AmplitudeTF"/>
              </a:defRPr>
            </a:pPr>
            <a:r>
              <a:rPr sz="975" b="1">
                <a:solidFill>
                  <a:srgbClr val="00A6C8"/>
                </a:solidFill>
                <a:latin typeface="AmplitudeTF"/>
                <a:ea typeface="AmplitudeTF"/>
                <a:cs typeface="AmplitudeTF"/>
              </a:rPr>
              <a:t>REDUCE PAYMENT COST</a:t>
            </a:r>
          </a:p>
        </p:txBody>
      </p:sp>
      <p:sp>
        <p:nvSpPr>
          <p:cNvPr id="14" name="pool-head-1">
            <a:extLst>
              <a:ext uri="{FF2B5EF4-FFF2-40B4-BE49-F238E27FC236}">
                <a16:creationId xmlns:a16="http://schemas.microsoft.com/office/drawing/2014/main" id="{A7D9AA57-7F4D-416B-9EBC-0F93D9A694F5}"/>
              </a:ext>
            </a:extLst>
          </p:cNvPr>
          <p:cNvSpPr>
            <a:spLocks noGrp="1"/>
          </p:cNvSpPr>
          <p:nvPr/>
        </p:nvSpPr>
        <p:spPr>
          <a:xfrm>
            <a:off x="3600450" y="262890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Select the best economic path</a:t>
            </a:r>
          </a:p>
        </p:txBody>
      </p:sp>
      <p:sp>
        <p:nvSpPr>
          <p:cNvPr id="15" name="pool-items-1">
            <a:extLst>
              <a:ext uri="{FF2B5EF4-FFF2-40B4-BE49-F238E27FC236}">
                <a16:creationId xmlns:a16="http://schemas.microsoft.com/office/drawing/2014/main" id="{ED6C20EE-02CF-41FF-8CCB-23DFB203B3CE}"/>
              </a:ext>
            </a:extLst>
          </p:cNvPr>
          <p:cNvSpPr>
            <a:spLocks noGrp="1"/>
          </p:cNvSpPr>
          <p:nvPr/>
        </p:nvSpPr>
        <p:spPr>
          <a:xfrm>
            <a:off x="3600450" y="3524250"/>
            <a:ext cx="200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Least-cost debit routing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Rail and network selection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Acquirer optimization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Cost–performance balancing</a:t>
            </a:r>
          </a:p>
        </p:txBody>
      </p:sp>
      <p:sp>
        <p:nvSpPr>
          <p:cNvPr id="16" name="pool-2">
            <a:extLst>
              <a:ext uri="{FF2B5EF4-FFF2-40B4-BE49-F238E27FC236}">
                <a16:creationId xmlns:a16="http://schemas.microsoft.com/office/drawing/2014/main" id="{E232ED85-BBB8-4F7A-9469-7BEEC1C6FFFD}"/>
              </a:ext>
            </a:extLst>
          </p:cNvPr>
          <p:cNvSpPr>
            <a:spLocks noGrp="1"/>
          </p:cNvSpPr>
          <p:nvPr/>
        </p:nvSpPr>
        <p:spPr>
          <a:xfrm>
            <a:off x="6134100" y="2038350"/>
            <a:ext cx="2381250" cy="2876550"/>
          </a:xfrm>
          <a:prstGeom prst="roundRect">
            <a:avLst>
              <a:gd name="adj" fmla="val 3200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pool-top-2">
            <a:extLst>
              <a:ext uri="{FF2B5EF4-FFF2-40B4-BE49-F238E27FC236}">
                <a16:creationId xmlns:a16="http://schemas.microsoft.com/office/drawing/2014/main" id="{F2A8236E-5ED6-4FFB-95A0-FDA8010770B1}"/>
              </a:ext>
            </a:extLst>
          </p:cNvPr>
          <p:cNvSpPr>
            <a:spLocks noGrp="1"/>
          </p:cNvSpPr>
          <p:nvPr/>
        </p:nvSpPr>
        <p:spPr>
          <a:xfrm>
            <a:off x="6134100" y="2038350"/>
            <a:ext cx="2381250" cy="95250"/>
          </a:xfrm>
          <a:prstGeom prst="rect">
            <a:avLst/>
          </a:prstGeom>
          <a:solidFill>
            <a:srgbClr val="4E7C8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pool-label-2">
            <a:extLst>
              <a:ext uri="{FF2B5EF4-FFF2-40B4-BE49-F238E27FC236}">
                <a16:creationId xmlns:a16="http://schemas.microsoft.com/office/drawing/2014/main" id="{52299132-A0D8-42BA-99DE-0A35E86D9CBC}"/>
              </a:ext>
            </a:extLst>
          </p:cNvPr>
          <p:cNvSpPr>
            <a:spLocks noGrp="1"/>
          </p:cNvSpPr>
          <p:nvPr/>
        </p:nvSpPr>
        <p:spPr>
          <a:xfrm>
            <a:off x="6324600" y="22860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E7C8C"/>
                </a:solidFill>
                <a:latin typeface="AmplitudeTF"/>
                <a:ea typeface="AmplitudeTF"/>
                <a:cs typeface="AmplitudeTF"/>
              </a:defRPr>
            </a:pPr>
            <a:r>
              <a:rPr sz="975" b="1">
                <a:solidFill>
                  <a:srgbClr val="4E7C8C"/>
                </a:solidFill>
                <a:latin typeface="AmplitudeTF"/>
                <a:ea typeface="AmplitudeTF"/>
                <a:cs typeface="AmplitudeTF"/>
              </a:rPr>
              <a:t>STRENGTHEN RESILIENCE</a:t>
            </a:r>
          </a:p>
        </p:txBody>
      </p:sp>
      <p:sp>
        <p:nvSpPr>
          <p:cNvPr id="19" name="pool-head-2">
            <a:extLst>
              <a:ext uri="{FF2B5EF4-FFF2-40B4-BE49-F238E27FC236}">
                <a16:creationId xmlns:a16="http://schemas.microsoft.com/office/drawing/2014/main" id="{5DBE3DA3-678E-4721-ADF8-6958D132ADD0}"/>
              </a:ext>
            </a:extLst>
          </p:cNvPr>
          <p:cNvSpPr>
            <a:spLocks noGrp="1"/>
          </p:cNvSpPr>
          <p:nvPr/>
        </p:nvSpPr>
        <p:spPr>
          <a:xfrm>
            <a:off x="6324600" y="262890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Change safely under live traffic</a:t>
            </a:r>
          </a:p>
        </p:txBody>
      </p:sp>
      <p:sp>
        <p:nvSpPr>
          <p:cNvPr id="20" name="pool-items-2">
            <a:extLst>
              <a:ext uri="{FF2B5EF4-FFF2-40B4-BE49-F238E27FC236}">
                <a16:creationId xmlns:a16="http://schemas.microsoft.com/office/drawing/2014/main" id="{EFA34AF8-E752-4D9B-A9A1-C0ADA026B28A}"/>
              </a:ext>
            </a:extLst>
          </p:cNvPr>
          <p:cNvSpPr>
            <a:spLocks noGrp="1"/>
          </p:cNvSpPr>
          <p:nvPr/>
        </p:nvSpPr>
        <p:spPr>
          <a:xfrm>
            <a:off x="6324600" y="3524250"/>
            <a:ext cx="200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Failover and guardrails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Progressive rollout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Automated rollback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Decision traceability</a:t>
            </a:r>
          </a:p>
        </p:txBody>
      </p:sp>
      <p:sp>
        <p:nvSpPr>
          <p:cNvPr id="21" name="pool-3">
            <a:extLst>
              <a:ext uri="{FF2B5EF4-FFF2-40B4-BE49-F238E27FC236}">
                <a16:creationId xmlns:a16="http://schemas.microsoft.com/office/drawing/2014/main" id="{5775BB9D-4D2D-4FA8-8768-15A66D807693}"/>
              </a:ext>
            </a:extLst>
          </p:cNvPr>
          <p:cNvSpPr>
            <a:spLocks noGrp="1"/>
          </p:cNvSpPr>
          <p:nvPr/>
        </p:nvSpPr>
        <p:spPr>
          <a:xfrm>
            <a:off x="8858250" y="2038350"/>
            <a:ext cx="2381250" cy="2876550"/>
          </a:xfrm>
          <a:prstGeom prst="roundRect">
            <a:avLst>
              <a:gd name="adj" fmla="val 3200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ool-top-3">
            <a:extLst>
              <a:ext uri="{FF2B5EF4-FFF2-40B4-BE49-F238E27FC236}">
                <a16:creationId xmlns:a16="http://schemas.microsoft.com/office/drawing/2014/main" id="{F58BCCA1-CC1E-402B-A2A4-4B346524B6A9}"/>
              </a:ext>
            </a:extLst>
          </p:cNvPr>
          <p:cNvSpPr>
            <a:spLocks noGrp="1"/>
          </p:cNvSpPr>
          <p:nvPr/>
        </p:nvSpPr>
        <p:spPr>
          <a:xfrm>
            <a:off x="8858250" y="2038350"/>
            <a:ext cx="2381250" cy="95250"/>
          </a:xfrm>
          <a:prstGeom prst="rect">
            <a:avLst/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pool-label-3">
            <a:extLst>
              <a:ext uri="{FF2B5EF4-FFF2-40B4-BE49-F238E27FC236}">
                <a16:creationId xmlns:a16="http://schemas.microsoft.com/office/drawing/2014/main" id="{E600AAB5-9298-4157-90C0-3C12D29B691C}"/>
              </a:ext>
            </a:extLst>
          </p:cNvPr>
          <p:cNvSpPr>
            <a:spLocks noGrp="1"/>
          </p:cNvSpPr>
          <p:nvPr/>
        </p:nvSpPr>
        <p:spPr>
          <a:xfrm>
            <a:off x="9048750" y="22860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975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ENABLE VERTICAL EXPANSION</a:t>
            </a:r>
          </a:p>
        </p:txBody>
      </p:sp>
      <p:sp>
        <p:nvSpPr>
          <p:cNvPr id="24" name="pool-head-3">
            <a:extLst>
              <a:ext uri="{FF2B5EF4-FFF2-40B4-BE49-F238E27FC236}">
                <a16:creationId xmlns:a16="http://schemas.microsoft.com/office/drawing/2014/main" id="{5D1955A9-960F-41DD-A7F8-913C2D5C2565}"/>
              </a:ext>
            </a:extLst>
          </p:cNvPr>
          <p:cNvSpPr>
            <a:spLocks noGrp="1"/>
          </p:cNvSpPr>
          <p:nvPr/>
        </p:nvSpPr>
        <p:spPr>
          <a:xfrm>
            <a:off x="9048750" y="262890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Launch differentiated payment journeys</a:t>
            </a:r>
          </a:p>
        </p:txBody>
      </p:sp>
      <p:sp>
        <p:nvSpPr>
          <p:cNvPr id="25" name="pool-items-3">
            <a:extLst>
              <a:ext uri="{FF2B5EF4-FFF2-40B4-BE49-F238E27FC236}">
                <a16:creationId xmlns:a16="http://schemas.microsoft.com/office/drawing/2014/main" id="{31B9FA17-6352-43BB-B8FD-839033569381}"/>
              </a:ext>
            </a:extLst>
          </p:cNvPr>
          <p:cNvSpPr>
            <a:spLocks noGrp="1"/>
          </p:cNvSpPr>
          <p:nvPr/>
        </p:nvSpPr>
        <p:spPr>
          <a:xfrm>
            <a:off x="9048750" y="3524250"/>
            <a:ext cx="200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Vertical-specific blueprints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Reusable strategy components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Faster segment entry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No platform rebuild</a:t>
            </a:r>
          </a:p>
        </p:txBody>
      </p:sp>
      <p:sp>
        <p:nvSpPr>
          <p:cNvPr id="26" name="business-metrics-band">
            <a:extLst>
              <a:ext uri="{FF2B5EF4-FFF2-40B4-BE49-F238E27FC236}">
                <a16:creationId xmlns:a16="http://schemas.microsoft.com/office/drawing/2014/main" id="{822E51E6-6D2A-46AA-9FD8-044B7B9597C5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895350"/>
          </a:xfrm>
          <a:prstGeom prst="roundRect">
            <a:avLst>
              <a:gd name="adj" fmla="val 8511"/>
            </a:avLst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business-metrics-label">
            <a:extLst>
              <a:ext uri="{FF2B5EF4-FFF2-40B4-BE49-F238E27FC236}">
                <a16:creationId xmlns:a16="http://schemas.microsoft.com/office/drawing/2014/main" id="{139F3503-83D5-49E2-BFBF-DFFD1CB08B1A}"/>
              </a:ext>
            </a:extLst>
          </p:cNvPr>
          <p:cNvSpPr>
            <a:spLocks noGrp="1"/>
          </p:cNvSpPr>
          <p:nvPr/>
        </p:nvSpPr>
        <p:spPr>
          <a:xfrm>
            <a:off x="895350" y="53911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975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BUSINESS SUCCESS METRICS</a:t>
            </a:r>
          </a:p>
        </p:txBody>
      </p:sp>
      <p:sp>
        <p:nvSpPr>
          <p:cNvPr id="28" name="business-metric-0">
            <a:extLst>
              <a:ext uri="{FF2B5EF4-FFF2-40B4-BE49-F238E27FC236}">
                <a16:creationId xmlns:a16="http://schemas.microsoft.com/office/drawing/2014/main" id="{B755CBC7-B90F-448A-A1B9-BB92DF9D2268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20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Approval-rate lift</a:t>
            </a:r>
          </a:p>
        </p:txBody>
      </p:sp>
      <p:sp>
        <p:nvSpPr>
          <p:cNvPr id="29" name="business-metric-1">
            <a:extLst>
              <a:ext uri="{FF2B5EF4-FFF2-40B4-BE49-F238E27FC236}">
                <a16:creationId xmlns:a16="http://schemas.microsoft.com/office/drawing/2014/main" id="{FA4830A5-60AA-431C-97B1-CE194ABB5625}"/>
              </a:ext>
            </a:extLst>
          </p:cNvPr>
          <p:cNvSpPr>
            <a:spLocks noGrp="1"/>
          </p:cNvSpPr>
          <p:nvPr/>
        </p:nvSpPr>
        <p:spPr>
          <a:xfrm>
            <a:off x="2971800" y="57150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20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Cost per payment</a:t>
            </a:r>
          </a:p>
        </p:txBody>
      </p:sp>
      <p:sp>
        <p:nvSpPr>
          <p:cNvPr id="30" name="business-metric-2">
            <a:extLst>
              <a:ext uri="{FF2B5EF4-FFF2-40B4-BE49-F238E27FC236}">
                <a16:creationId xmlns:a16="http://schemas.microsoft.com/office/drawing/2014/main" id="{5E897E39-71A7-4472-8AC8-649F0C9E4364}"/>
              </a:ext>
            </a:extLst>
          </p:cNvPr>
          <p:cNvSpPr>
            <a:spLocks noGrp="1"/>
          </p:cNvSpPr>
          <p:nvPr/>
        </p:nvSpPr>
        <p:spPr>
          <a:xfrm>
            <a:off x="5048250" y="57150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20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Fraud loss / chargebacks</a:t>
            </a:r>
          </a:p>
        </p:txBody>
      </p:sp>
      <p:sp>
        <p:nvSpPr>
          <p:cNvPr id="31" name="business-metric-3">
            <a:extLst>
              <a:ext uri="{FF2B5EF4-FFF2-40B4-BE49-F238E27FC236}">
                <a16:creationId xmlns:a16="http://schemas.microsoft.com/office/drawing/2014/main" id="{16935FAD-F90F-4DD7-8974-E22B424EF28A}"/>
              </a:ext>
            </a:extLst>
          </p:cNvPr>
          <p:cNvSpPr>
            <a:spLocks noGrp="1"/>
          </p:cNvSpPr>
          <p:nvPr/>
        </p:nvSpPr>
        <p:spPr>
          <a:xfrm>
            <a:off x="7124700" y="57150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20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Merchant revenue recovered</a:t>
            </a:r>
          </a:p>
        </p:txBody>
      </p:sp>
      <p:sp>
        <p:nvSpPr>
          <p:cNvPr id="32" name="business-metric-4">
            <a:extLst>
              <a:ext uri="{FF2B5EF4-FFF2-40B4-BE49-F238E27FC236}">
                <a16:creationId xmlns:a16="http://schemas.microsoft.com/office/drawing/2014/main" id="{B9863561-B714-4C6D-A3C1-72EF5B7F3C0C}"/>
              </a:ext>
            </a:extLst>
          </p:cNvPr>
          <p:cNvSpPr>
            <a:spLocks noGrp="1"/>
          </p:cNvSpPr>
          <p:nvPr/>
        </p:nvSpPr>
        <p:spPr>
          <a:xfrm>
            <a:off x="9201150" y="57150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20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New vertical revenue</a:t>
            </a:r>
          </a:p>
        </p:txBody>
      </p:sp>
    </p:spTree>
    <p:extLst>
      <p:ext uri="{BB962C8B-B14F-4D97-AF65-F5344CB8AC3E}">
        <p14:creationId xmlns:p14="http://schemas.microsoft.com/office/powerpoint/2010/main" val="2017375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kicker-4">
            <a:extLst>
              <a:ext uri="{FF2B5EF4-FFF2-40B4-BE49-F238E27FC236}">
                <a16:creationId xmlns:a16="http://schemas.microsoft.com/office/drawing/2014/main" id="{5F9F7056-E263-4A7F-9627-844FFD44668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TARGET STATE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BE68060E-69B8-455C-9C28-85C267D1809B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Every payment becomes a measurable decision—not a fixed code path</a:t>
            </a:r>
          </a:p>
        </p:txBody>
      </p:sp>
      <p:sp>
        <p:nvSpPr>
          <p:cNvPr id="3" name="rule-4">
            <a:extLst>
              <a:ext uri="{FF2B5EF4-FFF2-40B4-BE49-F238E27FC236}">
                <a16:creationId xmlns:a16="http://schemas.microsoft.com/office/drawing/2014/main" id="{DEB805FD-8054-4ABB-9E40-C1335E3C4DB3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4">
            <a:extLst>
              <a:ext uri="{FF2B5EF4-FFF2-40B4-BE49-F238E27FC236}">
                <a16:creationId xmlns:a16="http://schemas.microsoft.com/office/drawing/2014/main" id="{87B2D171-EB9E-46DB-836F-4A38D38EFE28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04</a:t>
            </a:r>
          </a:p>
        </p:txBody>
      </p:sp>
      <p:sp>
        <p:nvSpPr>
          <p:cNvPr id="5" name="flow-line-0">
            <a:extLst>
              <a:ext uri="{FF2B5EF4-FFF2-40B4-BE49-F238E27FC236}">
                <a16:creationId xmlns:a16="http://schemas.microsoft.com/office/drawing/2014/main" id="{1DB91E5F-93EB-4CEF-B8F2-A2F185367888}"/>
              </a:ext>
            </a:extLst>
          </p:cNvPr>
          <p:cNvSpPr>
            <a:spLocks noGrp="1"/>
          </p:cNvSpPr>
          <p:nvPr/>
        </p:nvSpPr>
        <p:spPr>
          <a:xfrm>
            <a:off x="2333625" y="2895600"/>
            <a:ext cx="590550" cy="381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low-arrow-0">
            <a:extLst>
              <a:ext uri="{FF2B5EF4-FFF2-40B4-BE49-F238E27FC236}">
                <a16:creationId xmlns:a16="http://schemas.microsoft.com/office/drawing/2014/main" id="{583F0A11-512F-4F01-AFF3-6F5408C4BC91}"/>
              </a:ext>
            </a:extLst>
          </p:cNvPr>
          <p:cNvSpPr>
            <a:spLocks noGrp="1"/>
          </p:cNvSpPr>
          <p:nvPr/>
        </p:nvSpPr>
        <p:spPr>
          <a:xfrm>
            <a:off x="2571750" y="26860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›</a:t>
            </a:r>
          </a:p>
        </p:txBody>
      </p:sp>
      <p:sp>
        <p:nvSpPr>
          <p:cNvPr id="7" name="flow-line-1">
            <a:extLst>
              <a:ext uri="{FF2B5EF4-FFF2-40B4-BE49-F238E27FC236}">
                <a16:creationId xmlns:a16="http://schemas.microsoft.com/office/drawing/2014/main" id="{DA596D40-B8CA-4FFE-811D-B7B31B026FBE}"/>
              </a:ext>
            </a:extLst>
          </p:cNvPr>
          <p:cNvSpPr>
            <a:spLocks noGrp="1"/>
          </p:cNvSpPr>
          <p:nvPr/>
        </p:nvSpPr>
        <p:spPr>
          <a:xfrm>
            <a:off x="4572000" y="2895600"/>
            <a:ext cx="590550" cy="381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low-arrow-1">
            <a:extLst>
              <a:ext uri="{FF2B5EF4-FFF2-40B4-BE49-F238E27FC236}">
                <a16:creationId xmlns:a16="http://schemas.microsoft.com/office/drawing/2014/main" id="{490E1BA7-0381-402C-B468-EFFB3F0743F1}"/>
              </a:ext>
            </a:extLst>
          </p:cNvPr>
          <p:cNvSpPr>
            <a:spLocks noGrp="1"/>
          </p:cNvSpPr>
          <p:nvPr/>
        </p:nvSpPr>
        <p:spPr>
          <a:xfrm>
            <a:off x="4810125" y="26860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›</a:t>
            </a:r>
          </a:p>
        </p:txBody>
      </p:sp>
      <p:sp>
        <p:nvSpPr>
          <p:cNvPr id="9" name="flow-line-2">
            <a:extLst>
              <a:ext uri="{FF2B5EF4-FFF2-40B4-BE49-F238E27FC236}">
                <a16:creationId xmlns:a16="http://schemas.microsoft.com/office/drawing/2014/main" id="{D1797590-E7F5-4ED0-8FD6-F21A8F6B90E5}"/>
              </a:ext>
            </a:extLst>
          </p:cNvPr>
          <p:cNvSpPr>
            <a:spLocks noGrp="1"/>
          </p:cNvSpPr>
          <p:nvPr/>
        </p:nvSpPr>
        <p:spPr>
          <a:xfrm>
            <a:off x="6810375" y="2895600"/>
            <a:ext cx="590550" cy="381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flow-arrow-2">
            <a:extLst>
              <a:ext uri="{FF2B5EF4-FFF2-40B4-BE49-F238E27FC236}">
                <a16:creationId xmlns:a16="http://schemas.microsoft.com/office/drawing/2014/main" id="{0CBA796F-E295-497F-995E-C1B062DAF0CC}"/>
              </a:ext>
            </a:extLst>
          </p:cNvPr>
          <p:cNvSpPr>
            <a:spLocks noGrp="1"/>
          </p:cNvSpPr>
          <p:nvPr/>
        </p:nvSpPr>
        <p:spPr>
          <a:xfrm>
            <a:off x="7048500" y="26860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›</a:t>
            </a:r>
          </a:p>
        </p:txBody>
      </p:sp>
      <p:sp>
        <p:nvSpPr>
          <p:cNvPr id="11" name="flow-line-3">
            <a:extLst>
              <a:ext uri="{FF2B5EF4-FFF2-40B4-BE49-F238E27FC236}">
                <a16:creationId xmlns:a16="http://schemas.microsoft.com/office/drawing/2014/main" id="{70BD08A4-A816-4794-B300-F67E77CDCE5D}"/>
              </a:ext>
            </a:extLst>
          </p:cNvPr>
          <p:cNvSpPr>
            <a:spLocks noGrp="1"/>
          </p:cNvSpPr>
          <p:nvPr/>
        </p:nvSpPr>
        <p:spPr>
          <a:xfrm>
            <a:off x="9048750" y="2895600"/>
            <a:ext cx="590550" cy="381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flow-arrow-3">
            <a:extLst>
              <a:ext uri="{FF2B5EF4-FFF2-40B4-BE49-F238E27FC236}">
                <a16:creationId xmlns:a16="http://schemas.microsoft.com/office/drawing/2014/main" id="{43687B14-A98D-4C09-9366-E05607181BB1}"/>
              </a:ext>
            </a:extLst>
          </p:cNvPr>
          <p:cNvSpPr>
            <a:spLocks noGrp="1"/>
          </p:cNvSpPr>
          <p:nvPr/>
        </p:nvSpPr>
        <p:spPr>
          <a:xfrm>
            <a:off x="9286875" y="26860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›</a:t>
            </a:r>
          </a:p>
        </p:txBody>
      </p:sp>
      <p:sp>
        <p:nvSpPr>
          <p:cNvPr id="13" name="step-0">
            <a:extLst>
              <a:ext uri="{FF2B5EF4-FFF2-40B4-BE49-F238E27FC236}">
                <a16:creationId xmlns:a16="http://schemas.microsoft.com/office/drawing/2014/main" id="{B5C9E5DF-0D7D-4DD3-B03B-D0929C5B5833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1866900" cy="1866900"/>
          </a:xfrm>
          <a:prstGeom prst="roundRect">
            <a:avLst>
              <a:gd name="adj" fmla="val 4082"/>
            </a:avLst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ep-num-0">
            <a:extLst>
              <a:ext uri="{FF2B5EF4-FFF2-40B4-BE49-F238E27FC236}">
                <a16:creationId xmlns:a16="http://schemas.microsoft.com/office/drawing/2014/main" id="{9654DD52-8B05-4D30-8A63-9968C5BBC996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01</a:t>
            </a:r>
          </a:p>
        </p:txBody>
      </p:sp>
      <p:sp>
        <p:nvSpPr>
          <p:cNvPr id="15" name="step-h-0">
            <a:extLst>
              <a:ext uri="{FF2B5EF4-FFF2-40B4-BE49-F238E27FC236}">
                <a16:creationId xmlns:a16="http://schemas.microsoft.com/office/drawing/2014/main" id="{ED1EE7C0-CA4F-458B-9BDC-B3A1B23BB076}"/>
              </a:ext>
            </a:extLst>
          </p:cNvPr>
          <p:cNvSpPr>
            <a:spLocks noGrp="1"/>
          </p:cNvSpPr>
          <p:nvPr/>
        </p:nvSpPr>
        <p:spPr>
          <a:xfrm>
            <a:off x="876300" y="271462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50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DECIDE</a:t>
            </a:r>
          </a:p>
        </p:txBody>
      </p:sp>
      <p:sp>
        <p:nvSpPr>
          <p:cNvPr id="16" name="step-b-0">
            <a:extLst>
              <a:ext uri="{FF2B5EF4-FFF2-40B4-BE49-F238E27FC236}">
                <a16:creationId xmlns:a16="http://schemas.microsoft.com/office/drawing/2014/main" id="{1ACB9861-CFF0-4056-ABFC-5F0387B9081F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485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Choose the best available treatment</a:t>
            </a:r>
          </a:p>
        </p:txBody>
      </p:sp>
      <p:sp>
        <p:nvSpPr>
          <p:cNvPr id="17" name="step-1">
            <a:extLst>
              <a:ext uri="{FF2B5EF4-FFF2-40B4-BE49-F238E27FC236}">
                <a16:creationId xmlns:a16="http://schemas.microsoft.com/office/drawing/2014/main" id="{E3FF91AA-12F9-40E4-889B-93E72F748B32}"/>
              </a:ext>
            </a:extLst>
          </p:cNvPr>
          <p:cNvSpPr>
            <a:spLocks noGrp="1"/>
          </p:cNvSpPr>
          <p:nvPr/>
        </p:nvSpPr>
        <p:spPr>
          <a:xfrm>
            <a:off x="2924175" y="2152650"/>
            <a:ext cx="186690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tep-num-1">
            <a:extLst>
              <a:ext uri="{FF2B5EF4-FFF2-40B4-BE49-F238E27FC236}">
                <a16:creationId xmlns:a16="http://schemas.microsoft.com/office/drawing/2014/main" id="{62DA824A-9793-4505-B913-C6A126CE91DE}"/>
              </a:ext>
            </a:extLst>
          </p:cNvPr>
          <p:cNvSpPr>
            <a:spLocks noGrp="1"/>
          </p:cNvSpPr>
          <p:nvPr/>
        </p:nvSpPr>
        <p:spPr>
          <a:xfrm>
            <a:off x="3114675" y="23431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02</a:t>
            </a:r>
          </a:p>
        </p:txBody>
      </p:sp>
      <p:sp>
        <p:nvSpPr>
          <p:cNvPr id="19" name="step-h-1">
            <a:extLst>
              <a:ext uri="{FF2B5EF4-FFF2-40B4-BE49-F238E27FC236}">
                <a16:creationId xmlns:a16="http://schemas.microsoft.com/office/drawing/2014/main" id="{C631F8B3-B45B-4DAC-8765-36C1AE0298B5}"/>
              </a:ext>
            </a:extLst>
          </p:cNvPr>
          <p:cNvSpPr>
            <a:spLocks noGrp="1"/>
          </p:cNvSpPr>
          <p:nvPr/>
        </p:nvSpPr>
        <p:spPr>
          <a:xfrm>
            <a:off x="3114675" y="271462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EXPERIMENT</a:t>
            </a:r>
          </a:p>
        </p:txBody>
      </p:sp>
      <p:sp>
        <p:nvSpPr>
          <p:cNvPr id="20" name="step-b-1">
            <a:extLst>
              <a:ext uri="{FF2B5EF4-FFF2-40B4-BE49-F238E27FC236}">
                <a16:creationId xmlns:a16="http://schemas.microsoft.com/office/drawing/2014/main" id="{BC9F1159-77BD-4ACD-B3C0-BE65514EE18F}"/>
              </a:ext>
            </a:extLst>
          </p:cNvPr>
          <p:cNvSpPr>
            <a:spLocks noGrp="1"/>
          </p:cNvSpPr>
          <p:nvPr/>
        </p:nvSpPr>
        <p:spPr>
          <a:xfrm>
            <a:off x="3114675" y="3181350"/>
            <a:ext cx="1485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Allocate traffic with controls and guardrails</a:t>
            </a:r>
          </a:p>
        </p:txBody>
      </p:sp>
      <p:sp>
        <p:nvSpPr>
          <p:cNvPr id="21" name="step-2">
            <a:extLst>
              <a:ext uri="{FF2B5EF4-FFF2-40B4-BE49-F238E27FC236}">
                <a16:creationId xmlns:a16="http://schemas.microsoft.com/office/drawing/2014/main" id="{CC30E74D-E47C-4102-9423-167F8B50AD3C}"/>
              </a:ext>
            </a:extLst>
          </p:cNvPr>
          <p:cNvSpPr>
            <a:spLocks noGrp="1"/>
          </p:cNvSpPr>
          <p:nvPr/>
        </p:nvSpPr>
        <p:spPr>
          <a:xfrm>
            <a:off x="5162550" y="2152650"/>
            <a:ext cx="186690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tep-num-2">
            <a:extLst>
              <a:ext uri="{FF2B5EF4-FFF2-40B4-BE49-F238E27FC236}">
                <a16:creationId xmlns:a16="http://schemas.microsoft.com/office/drawing/2014/main" id="{9DC9593A-2110-4FBB-A1D2-266831C5F194}"/>
              </a:ext>
            </a:extLst>
          </p:cNvPr>
          <p:cNvSpPr>
            <a:spLocks noGrp="1"/>
          </p:cNvSpPr>
          <p:nvPr/>
        </p:nvSpPr>
        <p:spPr>
          <a:xfrm>
            <a:off x="5353050" y="23431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03</a:t>
            </a:r>
          </a:p>
        </p:txBody>
      </p:sp>
      <p:sp>
        <p:nvSpPr>
          <p:cNvPr id="23" name="step-h-2">
            <a:extLst>
              <a:ext uri="{FF2B5EF4-FFF2-40B4-BE49-F238E27FC236}">
                <a16:creationId xmlns:a16="http://schemas.microsoft.com/office/drawing/2014/main" id="{42ED8736-52A4-4060-9D76-ED0160647B8C}"/>
              </a:ext>
            </a:extLst>
          </p:cNvPr>
          <p:cNvSpPr>
            <a:spLocks noGrp="1"/>
          </p:cNvSpPr>
          <p:nvPr/>
        </p:nvSpPr>
        <p:spPr>
          <a:xfrm>
            <a:off x="5353050" y="271462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EXECUTE</a:t>
            </a:r>
          </a:p>
        </p:txBody>
      </p:sp>
      <p:sp>
        <p:nvSpPr>
          <p:cNvPr id="24" name="step-b-2">
            <a:extLst>
              <a:ext uri="{FF2B5EF4-FFF2-40B4-BE49-F238E27FC236}">
                <a16:creationId xmlns:a16="http://schemas.microsoft.com/office/drawing/2014/main" id="{C2E65703-F543-4AD0-9E62-284ED32D5B60}"/>
              </a:ext>
            </a:extLst>
          </p:cNvPr>
          <p:cNvSpPr>
            <a:spLocks noGrp="1"/>
          </p:cNvSpPr>
          <p:nvPr/>
        </p:nvSpPr>
        <p:spPr>
          <a:xfrm>
            <a:off x="5353050" y="3181350"/>
            <a:ext cx="1485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Apply the selected route or payment strategy</a:t>
            </a:r>
          </a:p>
        </p:txBody>
      </p:sp>
      <p:sp>
        <p:nvSpPr>
          <p:cNvPr id="25" name="step-3">
            <a:extLst>
              <a:ext uri="{FF2B5EF4-FFF2-40B4-BE49-F238E27FC236}">
                <a16:creationId xmlns:a16="http://schemas.microsoft.com/office/drawing/2014/main" id="{1878B670-16E9-4261-8B6C-89620F2FC8C6}"/>
              </a:ext>
            </a:extLst>
          </p:cNvPr>
          <p:cNvSpPr>
            <a:spLocks noGrp="1"/>
          </p:cNvSpPr>
          <p:nvPr/>
        </p:nvSpPr>
        <p:spPr>
          <a:xfrm>
            <a:off x="7400925" y="2152650"/>
            <a:ext cx="186690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tep-num-3">
            <a:extLst>
              <a:ext uri="{FF2B5EF4-FFF2-40B4-BE49-F238E27FC236}">
                <a16:creationId xmlns:a16="http://schemas.microsoft.com/office/drawing/2014/main" id="{7162AEE0-4EE1-43C1-B6E1-C27A2AEA9439}"/>
              </a:ext>
            </a:extLst>
          </p:cNvPr>
          <p:cNvSpPr>
            <a:spLocks noGrp="1"/>
          </p:cNvSpPr>
          <p:nvPr/>
        </p:nvSpPr>
        <p:spPr>
          <a:xfrm>
            <a:off x="7591425" y="23431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04</a:t>
            </a:r>
          </a:p>
        </p:txBody>
      </p:sp>
      <p:sp>
        <p:nvSpPr>
          <p:cNvPr id="27" name="step-h-3">
            <a:extLst>
              <a:ext uri="{FF2B5EF4-FFF2-40B4-BE49-F238E27FC236}">
                <a16:creationId xmlns:a16="http://schemas.microsoft.com/office/drawing/2014/main" id="{0F9C617E-CD6A-450C-B679-1402C25295D0}"/>
              </a:ext>
            </a:extLst>
          </p:cNvPr>
          <p:cNvSpPr>
            <a:spLocks noGrp="1"/>
          </p:cNvSpPr>
          <p:nvPr/>
        </p:nvSpPr>
        <p:spPr>
          <a:xfrm>
            <a:off x="7591425" y="271462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MEASURE</a:t>
            </a:r>
          </a:p>
        </p:txBody>
      </p:sp>
      <p:sp>
        <p:nvSpPr>
          <p:cNvPr id="28" name="step-b-3">
            <a:extLst>
              <a:ext uri="{FF2B5EF4-FFF2-40B4-BE49-F238E27FC236}">
                <a16:creationId xmlns:a16="http://schemas.microsoft.com/office/drawing/2014/main" id="{A0905DF1-AD57-49D5-AD8E-B5C64BF21351}"/>
              </a:ext>
            </a:extLst>
          </p:cNvPr>
          <p:cNvSpPr>
            <a:spLocks noGrp="1"/>
          </p:cNvSpPr>
          <p:nvPr/>
        </p:nvSpPr>
        <p:spPr>
          <a:xfrm>
            <a:off x="7591425" y="3181350"/>
            <a:ext cx="1485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Link the decision to cost and authorization outcomes</a:t>
            </a:r>
          </a:p>
        </p:txBody>
      </p:sp>
      <p:sp>
        <p:nvSpPr>
          <p:cNvPr id="29" name="step-4">
            <a:extLst>
              <a:ext uri="{FF2B5EF4-FFF2-40B4-BE49-F238E27FC236}">
                <a16:creationId xmlns:a16="http://schemas.microsoft.com/office/drawing/2014/main" id="{818679EE-CF85-4161-ABED-99DC090AFF8B}"/>
              </a:ext>
            </a:extLst>
          </p:cNvPr>
          <p:cNvSpPr>
            <a:spLocks noGrp="1"/>
          </p:cNvSpPr>
          <p:nvPr/>
        </p:nvSpPr>
        <p:spPr>
          <a:xfrm>
            <a:off x="9639300" y="2152650"/>
            <a:ext cx="1866900" cy="1866900"/>
          </a:xfrm>
          <a:prstGeom prst="roundRect">
            <a:avLst>
              <a:gd name="adj" fmla="val 4082"/>
            </a:avLst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tep-num-4">
            <a:extLst>
              <a:ext uri="{FF2B5EF4-FFF2-40B4-BE49-F238E27FC236}">
                <a16:creationId xmlns:a16="http://schemas.microsoft.com/office/drawing/2014/main" id="{B2B321D5-DD22-4534-A2A1-E19117F72454}"/>
              </a:ext>
            </a:extLst>
          </p:cNvPr>
          <p:cNvSpPr>
            <a:spLocks noGrp="1"/>
          </p:cNvSpPr>
          <p:nvPr/>
        </p:nvSpPr>
        <p:spPr>
          <a:xfrm>
            <a:off x="9829800" y="23431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05</a:t>
            </a:r>
          </a:p>
        </p:txBody>
      </p:sp>
      <p:sp>
        <p:nvSpPr>
          <p:cNvPr id="31" name="step-h-4">
            <a:extLst>
              <a:ext uri="{FF2B5EF4-FFF2-40B4-BE49-F238E27FC236}">
                <a16:creationId xmlns:a16="http://schemas.microsoft.com/office/drawing/2014/main" id="{7CE4C13E-E130-4BCD-89AC-D9CC85879B74}"/>
              </a:ext>
            </a:extLst>
          </p:cNvPr>
          <p:cNvSpPr>
            <a:spLocks noGrp="1"/>
          </p:cNvSpPr>
          <p:nvPr/>
        </p:nvSpPr>
        <p:spPr>
          <a:xfrm>
            <a:off x="9829800" y="271462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50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LEARN + GOVERN</a:t>
            </a:r>
          </a:p>
        </p:txBody>
      </p:sp>
      <p:sp>
        <p:nvSpPr>
          <p:cNvPr id="32" name="step-b-4">
            <a:extLst>
              <a:ext uri="{FF2B5EF4-FFF2-40B4-BE49-F238E27FC236}">
                <a16:creationId xmlns:a16="http://schemas.microsoft.com/office/drawing/2014/main" id="{047CB761-8B0D-4521-8AB8-7C7DDBD89F35}"/>
              </a:ext>
            </a:extLst>
          </p:cNvPr>
          <p:cNvSpPr>
            <a:spLocks noGrp="1"/>
          </p:cNvSpPr>
          <p:nvPr/>
        </p:nvSpPr>
        <p:spPr>
          <a:xfrm>
            <a:off x="9829800" y="3181350"/>
            <a:ext cx="1485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Improve, version and safely release strategies</a:t>
            </a:r>
          </a:p>
        </p:txBody>
      </p:sp>
      <p:sp>
        <p:nvSpPr>
          <p:cNvPr id="33" name="loop-band">
            <a:extLst>
              <a:ext uri="{FF2B5EF4-FFF2-40B4-BE49-F238E27FC236}">
                <a16:creationId xmlns:a16="http://schemas.microsoft.com/office/drawing/2014/main" id="{9D582242-43C5-4073-B3D7-C039B77FE13D}"/>
              </a:ext>
            </a:extLst>
          </p:cNvPr>
          <p:cNvSpPr>
            <a:spLocks noGrp="1"/>
          </p:cNvSpPr>
          <p:nvPr/>
        </p:nvSpPr>
        <p:spPr>
          <a:xfrm>
            <a:off x="1143000" y="4400550"/>
            <a:ext cx="99060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loop">
            <a:extLst>
              <a:ext uri="{FF2B5EF4-FFF2-40B4-BE49-F238E27FC236}">
                <a16:creationId xmlns:a16="http://schemas.microsoft.com/office/drawing/2014/main" id="{5EF1A8B8-37D2-4972-B49F-D72C0D2A7275}"/>
              </a:ext>
            </a:extLst>
          </p:cNvPr>
          <p:cNvSpPr>
            <a:spLocks noGrp="1"/>
          </p:cNvSpPr>
          <p:nvPr/>
        </p:nvSpPr>
        <p:spPr>
          <a:xfrm>
            <a:off x="1409700" y="4629150"/>
            <a:ext cx="937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425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Payment intent  →  decision  →  strategy  →  execution  →  outcome  →  optimization</a:t>
            </a:r>
          </a:p>
        </p:txBody>
      </p:sp>
      <p:sp>
        <p:nvSpPr>
          <p:cNvPr id="35" name="loop-divider">
            <a:extLst>
              <a:ext uri="{FF2B5EF4-FFF2-40B4-BE49-F238E27FC236}">
                <a16:creationId xmlns:a16="http://schemas.microsoft.com/office/drawing/2014/main" id="{9876332B-B12A-4574-BE58-7718FCB38A6F}"/>
              </a:ext>
            </a:extLst>
          </p:cNvPr>
          <p:cNvSpPr>
            <a:spLocks noGrp="1"/>
          </p:cNvSpPr>
          <p:nvPr/>
        </p:nvSpPr>
        <p:spPr>
          <a:xfrm>
            <a:off x="1409700" y="5057775"/>
            <a:ext cx="9372600" cy="9525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platform-metrics-label">
            <a:extLst>
              <a:ext uri="{FF2B5EF4-FFF2-40B4-BE49-F238E27FC236}">
                <a16:creationId xmlns:a16="http://schemas.microsoft.com/office/drawing/2014/main" id="{28D5B1F5-BD42-446D-A511-9AFB101BF6E8}"/>
              </a:ext>
            </a:extLst>
          </p:cNvPr>
          <p:cNvSpPr>
            <a:spLocks noGrp="1"/>
          </p:cNvSpPr>
          <p:nvPr/>
        </p:nvSpPr>
        <p:spPr>
          <a:xfrm>
            <a:off x="1409700" y="520065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975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PLATFORM SUCCESS METRICS</a:t>
            </a:r>
          </a:p>
        </p:txBody>
      </p:sp>
      <p:sp>
        <p:nvSpPr>
          <p:cNvPr id="37" name="platform-metric-0">
            <a:extLst>
              <a:ext uri="{FF2B5EF4-FFF2-40B4-BE49-F238E27FC236}">
                <a16:creationId xmlns:a16="http://schemas.microsoft.com/office/drawing/2014/main" id="{7A79155B-E267-4550-9295-F5B8474BBF20}"/>
              </a:ext>
            </a:extLst>
          </p:cNvPr>
          <p:cNvSpPr>
            <a:spLocks noGrp="1"/>
          </p:cNvSpPr>
          <p:nvPr/>
        </p:nvSpPr>
        <p:spPr>
          <a:xfrm>
            <a:off x="1409700" y="5562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2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Time to launch</a:t>
            </a:r>
          </a:p>
        </p:txBody>
      </p:sp>
      <p:sp>
        <p:nvSpPr>
          <p:cNvPr id="38" name="platform-metric-1">
            <a:extLst>
              <a:ext uri="{FF2B5EF4-FFF2-40B4-BE49-F238E27FC236}">
                <a16:creationId xmlns:a16="http://schemas.microsoft.com/office/drawing/2014/main" id="{3DED5DCF-3DDA-4AF6-9624-83FC71336534}"/>
              </a:ext>
            </a:extLst>
          </p:cNvPr>
          <p:cNvSpPr>
            <a:spLocks noGrp="1"/>
          </p:cNvSpPr>
          <p:nvPr/>
        </p:nvSpPr>
        <p:spPr>
          <a:xfrm>
            <a:off x="3286125" y="5562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2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Experiment velocity</a:t>
            </a:r>
          </a:p>
        </p:txBody>
      </p:sp>
      <p:sp>
        <p:nvSpPr>
          <p:cNvPr id="39" name="platform-metric-2">
            <a:extLst>
              <a:ext uri="{FF2B5EF4-FFF2-40B4-BE49-F238E27FC236}">
                <a16:creationId xmlns:a16="http://schemas.microsoft.com/office/drawing/2014/main" id="{FAAE5118-84D6-49E7-832B-613752D44EDF}"/>
              </a:ext>
            </a:extLst>
          </p:cNvPr>
          <p:cNvSpPr>
            <a:spLocks noGrp="1"/>
          </p:cNvSpPr>
          <p:nvPr/>
        </p:nvSpPr>
        <p:spPr>
          <a:xfrm>
            <a:off x="5162550" y="5562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2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Strategy adoption</a:t>
            </a:r>
          </a:p>
        </p:txBody>
      </p:sp>
      <p:sp>
        <p:nvSpPr>
          <p:cNvPr id="40" name="platform-metric-3">
            <a:extLst>
              <a:ext uri="{FF2B5EF4-FFF2-40B4-BE49-F238E27FC236}">
                <a16:creationId xmlns:a16="http://schemas.microsoft.com/office/drawing/2014/main" id="{0D3722BB-832A-4200-A05D-5035B7C48E82}"/>
              </a:ext>
            </a:extLst>
          </p:cNvPr>
          <p:cNvSpPr>
            <a:spLocks noGrp="1"/>
          </p:cNvSpPr>
          <p:nvPr/>
        </p:nvSpPr>
        <p:spPr>
          <a:xfrm>
            <a:off x="7038975" y="5562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2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Decision traceability</a:t>
            </a:r>
          </a:p>
        </p:txBody>
      </p:sp>
      <p:sp>
        <p:nvSpPr>
          <p:cNvPr id="41" name="platform-metric-4">
            <a:extLst>
              <a:ext uri="{FF2B5EF4-FFF2-40B4-BE49-F238E27FC236}">
                <a16:creationId xmlns:a16="http://schemas.microsoft.com/office/drawing/2014/main" id="{790C8E5C-EE5D-4EFB-9E26-CEDCDC260E64}"/>
              </a:ext>
            </a:extLst>
          </p:cNvPr>
          <p:cNvSpPr>
            <a:spLocks noGrp="1"/>
          </p:cNvSpPr>
          <p:nvPr/>
        </p:nvSpPr>
        <p:spPr>
          <a:xfrm>
            <a:off x="8915400" y="5562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2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Latency + availability</a:t>
            </a:r>
          </a:p>
        </p:txBody>
      </p:sp>
    </p:spTree>
    <p:extLst>
      <p:ext uri="{BB962C8B-B14F-4D97-AF65-F5344CB8AC3E}">
        <p14:creationId xmlns:p14="http://schemas.microsoft.com/office/powerpoint/2010/main" val="60012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kicker-5">
            <a:extLst>
              <a:ext uri="{FF2B5EF4-FFF2-40B4-BE49-F238E27FC236}">
                <a16:creationId xmlns:a16="http://schemas.microsoft.com/office/drawing/2014/main" id="{AEA3CD46-46A4-4159-8D99-9819C4F00FE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SHARED FOUNDATION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7F9EDB7B-B5E1-40C1-9ADE-DA25FD9AFF5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A foundational experimentation platform serves the enterprise</a:t>
            </a:r>
          </a:p>
        </p:txBody>
      </p:sp>
      <p:sp>
        <p:nvSpPr>
          <p:cNvPr id="3" name="rule-5">
            <a:extLst>
              <a:ext uri="{FF2B5EF4-FFF2-40B4-BE49-F238E27FC236}">
                <a16:creationId xmlns:a16="http://schemas.microsoft.com/office/drawing/2014/main" id="{B5E5F68E-1B88-443D-B2DF-F53E9D5F3F29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5">
            <a:extLst>
              <a:ext uri="{FF2B5EF4-FFF2-40B4-BE49-F238E27FC236}">
                <a16:creationId xmlns:a16="http://schemas.microsoft.com/office/drawing/2014/main" id="{CE3BA11B-9E29-4217-A621-C43E69557F8E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05</a:t>
            </a:r>
          </a:p>
        </p:txBody>
      </p:sp>
      <p:sp>
        <p:nvSpPr>
          <p:cNvPr id="5" name="domain-connector-0">
            <a:extLst>
              <a:ext uri="{FF2B5EF4-FFF2-40B4-BE49-F238E27FC236}">
                <a16:creationId xmlns:a16="http://schemas.microsoft.com/office/drawing/2014/main" id="{F1D6A63A-F94D-4A49-A0C1-2B3034657624}"/>
              </a:ext>
            </a:extLst>
          </p:cNvPr>
          <p:cNvSpPr>
            <a:spLocks noGrp="1"/>
          </p:cNvSpPr>
          <p:nvPr/>
        </p:nvSpPr>
        <p:spPr>
          <a:xfrm>
            <a:off x="1676400" y="3276600"/>
            <a:ext cx="38100" cy="4572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omain-connector-1">
            <a:extLst>
              <a:ext uri="{FF2B5EF4-FFF2-40B4-BE49-F238E27FC236}">
                <a16:creationId xmlns:a16="http://schemas.microsoft.com/office/drawing/2014/main" id="{1A067928-92AD-405F-A4DD-A9C02E3A239C}"/>
              </a:ext>
            </a:extLst>
          </p:cNvPr>
          <p:cNvSpPr>
            <a:spLocks noGrp="1"/>
          </p:cNvSpPr>
          <p:nvPr/>
        </p:nvSpPr>
        <p:spPr>
          <a:xfrm>
            <a:off x="3876675" y="3276600"/>
            <a:ext cx="38100" cy="4572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domain-connector-2">
            <a:extLst>
              <a:ext uri="{FF2B5EF4-FFF2-40B4-BE49-F238E27FC236}">
                <a16:creationId xmlns:a16="http://schemas.microsoft.com/office/drawing/2014/main" id="{FB1B53B8-5416-4C32-9D31-C82495BBD72A}"/>
              </a:ext>
            </a:extLst>
          </p:cNvPr>
          <p:cNvSpPr>
            <a:spLocks noGrp="1"/>
          </p:cNvSpPr>
          <p:nvPr/>
        </p:nvSpPr>
        <p:spPr>
          <a:xfrm>
            <a:off x="6076950" y="3276600"/>
            <a:ext cx="38100" cy="4572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domain-connector-3">
            <a:extLst>
              <a:ext uri="{FF2B5EF4-FFF2-40B4-BE49-F238E27FC236}">
                <a16:creationId xmlns:a16="http://schemas.microsoft.com/office/drawing/2014/main" id="{50C05955-B603-4387-8C52-A1D43556E0D7}"/>
              </a:ext>
            </a:extLst>
          </p:cNvPr>
          <p:cNvSpPr>
            <a:spLocks noGrp="1"/>
          </p:cNvSpPr>
          <p:nvPr/>
        </p:nvSpPr>
        <p:spPr>
          <a:xfrm>
            <a:off x="8277225" y="3276600"/>
            <a:ext cx="38100" cy="4572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domain-connector-4">
            <a:extLst>
              <a:ext uri="{FF2B5EF4-FFF2-40B4-BE49-F238E27FC236}">
                <a16:creationId xmlns:a16="http://schemas.microsoft.com/office/drawing/2014/main" id="{B2164185-F158-4342-9E6B-A5E3A572F09C}"/>
              </a:ext>
            </a:extLst>
          </p:cNvPr>
          <p:cNvSpPr>
            <a:spLocks noGrp="1"/>
          </p:cNvSpPr>
          <p:nvPr/>
        </p:nvSpPr>
        <p:spPr>
          <a:xfrm>
            <a:off x="10477500" y="3276600"/>
            <a:ext cx="38100" cy="4572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domain-0">
            <a:extLst>
              <a:ext uri="{FF2B5EF4-FFF2-40B4-BE49-F238E27FC236}">
                <a16:creationId xmlns:a16="http://schemas.microsoft.com/office/drawing/2014/main" id="{0FA1A00D-FD43-4ECD-BEC0-245118DF268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019300" cy="1504950"/>
          </a:xfrm>
          <a:prstGeom prst="roundRect">
            <a:avLst>
              <a:gd name="adj" fmla="val 5063"/>
            </a:avLst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domain-label-0">
            <a:extLst>
              <a:ext uri="{FF2B5EF4-FFF2-40B4-BE49-F238E27FC236}">
                <a16:creationId xmlns:a16="http://schemas.microsoft.com/office/drawing/2014/main" id="{E3080E68-8789-4294-9408-E789933BE314}"/>
              </a:ext>
            </a:extLst>
          </p:cNvPr>
          <p:cNvSpPr>
            <a:spLocks noGrp="1"/>
          </p:cNvSpPr>
          <p:nvPr/>
        </p:nvSpPr>
        <p:spPr>
          <a:xfrm>
            <a:off x="838200" y="20193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PAYMENTS</a:t>
            </a:r>
          </a:p>
        </p:txBody>
      </p:sp>
      <p:sp>
        <p:nvSpPr>
          <p:cNvPr id="12" name="domain-head-0">
            <a:extLst>
              <a:ext uri="{FF2B5EF4-FFF2-40B4-BE49-F238E27FC236}">
                <a16:creationId xmlns:a16="http://schemas.microsoft.com/office/drawing/2014/main" id="{98985423-CCCD-4354-81A2-C1F736C398B5}"/>
              </a:ext>
            </a:extLst>
          </p:cNvPr>
          <p:cNvSpPr>
            <a:spLocks noGrp="1"/>
          </p:cNvSpPr>
          <p:nvPr/>
        </p:nvSpPr>
        <p:spPr>
          <a:xfrm>
            <a:off x="838200" y="236220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35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Optimize payment outcomes</a:t>
            </a:r>
          </a:p>
        </p:txBody>
      </p:sp>
      <p:sp>
        <p:nvSpPr>
          <p:cNvPr id="13" name="domain-body-0">
            <a:extLst>
              <a:ext uri="{FF2B5EF4-FFF2-40B4-BE49-F238E27FC236}">
                <a16:creationId xmlns:a16="http://schemas.microsoft.com/office/drawing/2014/main" id="{341E144C-04C4-4A38-A3EA-FCEEE6D05719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Routing • retries</a:t>
            </a:r>
          </a:p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Auth • rails</a:t>
            </a:r>
          </a:p>
        </p:txBody>
      </p:sp>
      <p:sp>
        <p:nvSpPr>
          <p:cNvPr id="14" name="domain-1">
            <a:extLst>
              <a:ext uri="{FF2B5EF4-FFF2-40B4-BE49-F238E27FC236}">
                <a16:creationId xmlns:a16="http://schemas.microsoft.com/office/drawing/2014/main" id="{2048EE3D-EEFC-4F27-8102-1FEE455B7F48}"/>
              </a:ext>
            </a:extLst>
          </p:cNvPr>
          <p:cNvSpPr>
            <a:spLocks noGrp="1"/>
          </p:cNvSpPr>
          <p:nvPr/>
        </p:nvSpPr>
        <p:spPr>
          <a:xfrm>
            <a:off x="2886075" y="1809750"/>
            <a:ext cx="2019300" cy="1504950"/>
          </a:xfrm>
          <a:prstGeom prst="roundRect">
            <a:avLst>
              <a:gd name="adj" fmla="val 5063"/>
            </a:avLst>
          </a:prstGeom>
          <a:solidFill>
            <a:srgbClr val="F3F7F9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domain-label-1">
            <a:extLst>
              <a:ext uri="{FF2B5EF4-FFF2-40B4-BE49-F238E27FC236}">
                <a16:creationId xmlns:a16="http://schemas.microsoft.com/office/drawing/2014/main" id="{D5EDDC2A-422D-4553-B272-F06271AAFEAB}"/>
              </a:ext>
            </a:extLst>
          </p:cNvPr>
          <p:cNvSpPr>
            <a:spLocks noGrp="1"/>
          </p:cNvSpPr>
          <p:nvPr/>
        </p:nvSpPr>
        <p:spPr>
          <a:xfrm>
            <a:off x="3038475" y="20193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A6C8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00A6C8"/>
                </a:solidFill>
                <a:latin typeface="AmplitudeTF"/>
                <a:ea typeface="AmplitudeTF"/>
                <a:cs typeface="AmplitudeTF"/>
              </a:rPr>
              <a:t>PRICING</a:t>
            </a:r>
          </a:p>
        </p:txBody>
      </p:sp>
      <p:sp>
        <p:nvSpPr>
          <p:cNvPr id="16" name="domain-head-1">
            <a:extLst>
              <a:ext uri="{FF2B5EF4-FFF2-40B4-BE49-F238E27FC236}">
                <a16:creationId xmlns:a16="http://schemas.microsoft.com/office/drawing/2014/main" id="{D995C644-5BC1-44ED-9584-12ACDC3BA1EB}"/>
              </a:ext>
            </a:extLst>
          </p:cNvPr>
          <p:cNvSpPr>
            <a:spLocks noGrp="1"/>
          </p:cNvSpPr>
          <p:nvPr/>
        </p:nvSpPr>
        <p:spPr>
          <a:xfrm>
            <a:off x="3038475" y="236220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Test offers and economics</a:t>
            </a:r>
          </a:p>
        </p:txBody>
      </p:sp>
      <p:sp>
        <p:nvSpPr>
          <p:cNvPr id="17" name="domain-body-1">
            <a:extLst>
              <a:ext uri="{FF2B5EF4-FFF2-40B4-BE49-F238E27FC236}">
                <a16:creationId xmlns:a16="http://schemas.microsoft.com/office/drawing/2014/main" id="{F5E736E8-5036-4CD1-A196-25B8268BE2E4}"/>
              </a:ext>
            </a:extLst>
          </p:cNvPr>
          <p:cNvSpPr>
            <a:spLocks noGrp="1"/>
          </p:cNvSpPr>
          <p:nvPr/>
        </p:nvSpPr>
        <p:spPr>
          <a:xfrm>
            <a:off x="3038475" y="28765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Price points • bundles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Fees • incentives</a:t>
            </a:r>
          </a:p>
        </p:txBody>
      </p:sp>
      <p:sp>
        <p:nvSpPr>
          <p:cNvPr id="18" name="domain-2">
            <a:extLst>
              <a:ext uri="{FF2B5EF4-FFF2-40B4-BE49-F238E27FC236}">
                <a16:creationId xmlns:a16="http://schemas.microsoft.com/office/drawing/2014/main" id="{D199DADA-54CB-4A7B-A380-FBD597A2B88E}"/>
              </a:ext>
            </a:extLst>
          </p:cNvPr>
          <p:cNvSpPr>
            <a:spLocks noGrp="1"/>
          </p:cNvSpPr>
          <p:nvPr/>
        </p:nvSpPr>
        <p:spPr>
          <a:xfrm>
            <a:off x="5086350" y="1809750"/>
            <a:ext cx="2019300" cy="1504950"/>
          </a:xfrm>
          <a:prstGeom prst="roundRect">
            <a:avLst>
              <a:gd name="adj" fmla="val 5063"/>
            </a:avLst>
          </a:prstGeom>
          <a:solidFill>
            <a:srgbClr val="F3F7F9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domain-label-2">
            <a:extLst>
              <a:ext uri="{FF2B5EF4-FFF2-40B4-BE49-F238E27FC236}">
                <a16:creationId xmlns:a16="http://schemas.microsoft.com/office/drawing/2014/main" id="{A468C35C-DB37-4680-AAE1-6D5771CC3CD2}"/>
              </a:ext>
            </a:extLst>
          </p:cNvPr>
          <p:cNvSpPr>
            <a:spLocks noGrp="1"/>
          </p:cNvSpPr>
          <p:nvPr/>
        </p:nvSpPr>
        <p:spPr>
          <a:xfrm>
            <a:off x="5238750" y="20193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E7C8C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4E7C8C"/>
                </a:solidFill>
                <a:latin typeface="AmplitudeTF"/>
                <a:ea typeface="AmplitudeTF"/>
                <a:cs typeface="AmplitudeTF"/>
              </a:rPr>
              <a:t>ONBOARDING</a:t>
            </a:r>
          </a:p>
        </p:txBody>
      </p:sp>
      <p:sp>
        <p:nvSpPr>
          <p:cNvPr id="20" name="domain-head-2">
            <a:extLst>
              <a:ext uri="{FF2B5EF4-FFF2-40B4-BE49-F238E27FC236}">
                <a16:creationId xmlns:a16="http://schemas.microsoft.com/office/drawing/2014/main" id="{826B3D36-3262-407F-915D-AD4B9BB64AEB}"/>
              </a:ext>
            </a:extLst>
          </p:cNvPr>
          <p:cNvSpPr>
            <a:spLocks noGrp="1"/>
          </p:cNvSpPr>
          <p:nvPr/>
        </p:nvSpPr>
        <p:spPr>
          <a:xfrm>
            <a:off x="5238750" y="236220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Improve activation and conversion</a:t>
            </a:r>
          </a:p>
        </p:txBody>
      </p:sp>
      <p:sp>
        <p:nvSpPr>
          <p:cNvPr id="21" name="domain-body-2">
            <a:extLst>
              <a:ext uri="{FF2B5EF4-FFF2-40B4-BE49-F238E27FC236}">
                <a16:creationId xmlns:a16="http://schemas.microsoft.com/office/drawing/2014/main" id="{29EE2E32-EE1E-4BEC-919A-17D02B0FA70D}"/>
              </a:ext>
            </a:extLst>
          </p:cNvPr>
          <p:cNvSpPr>
            <a:spLocks noGrp="1"/>
          </p:cNvSpPr>
          <p:nvPr/>
        </p:nvSpPr>
        <p:spPr>
          <a:xfrm>
            <a:off x="5238750" y="28765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Steps • eligibility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Identity • messaging</a:t>
            </a:r>
          </a:p>
        </p:txBody>
      </p:sp>
      <p:sp>
        <p:nvSpPr>
          <p:cNvPr id="22" name="domain-3">
            <a:extLst>
              <a:ext uri="{FF2B5EF4-FFF2-40B4-BE49-F238E27FC236}">
                <a16:creationId xmlns:a16="http://schemas.microsoft.com/office/drawing/2014/main" id="{B8AABB20-5475-4BE1-9669-7272DECA1D54}"/>
              </a:ext>
            </a:extLst>
          </p:cNvPr>
          <p:cNvSpPr>
            <a:spLocks noGrp="1"/>
          </p:cNvSpPr>
          <p:nvPr/>
        </p:nvSpPr>
        <p:spPr>
          <a:xfrm>
            <a:off x="7286625" y="1809750"/>
            <a:ext cx="2019300" cy="1504950"/>
          </a:xfrm>
          <a:prstGeom prst="roundRect">
            <a:avLst>
              <a:gd name="adj" fmla="val 5063"/>
            </a:avLst>
          </a:prstGeom>
          <a:solidFill>
            <a:srgbClr val="F3F7F9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domain-label-3">
            <a:extLst>
              <a:ext uri="{FF2B5EF4-FFF2-40B4-BE49-F238E27FC236}">
                <a16:creationId xmlns:a16="http://schemas.microsoft.com/office/drawing/2014/main" id="{D04F759A-3D71-4BB4-B75A-C94658EFCB1F}"/>
              </a:ext>
            </a:extLst>
          </p:cNvPr>
          <p:cNvSpPr>
            <a:spLocks noGrp="1"/>
          </p:cNvSpPr>
          <p:nvPr/>
        </p:nvSpPr>
        <p:spPr>
          <a:xfrm>
            <a:off x="7439025" y="20193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356C88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356C88"/>
                </a:solidFill>
                <a:latin typeface="AmplitudeTF"/>
                <a:ea typeface="AmplitudeTF"/>
                <a:cs typeface="AmplitudeTF"/>
              </a:rPr>
              <a:t>CHECKOUT</a:t>
            </a:r>
          </a:p>
        </p:txBody>
      </p:sp>
      <p:sp>
        <p:nvSpPr>
          <p:cNvPr id="24" name="domain-head-3">
            <a:extLst>
              <a:ext uri="{FF2B5EF4-FFF2-40B4-BE49-F238E27FC236}">
                <a16:creationId xmlns:a16="http://schemas.microsoft.com/office/drawing/2014/main" id="{69C71C4E-30D7-4FE2-B279-3DED74CA1659}"/>
              </a:ext>
            </a:extLst>
          </p:cNvPr>
          <p:cNvSpPr>
            <a:spLocks noGrp="1"/>
          </p:cNvSpPr>
          <p:nvPr/>
        </p:nvSpPr>
        <p:spPr>
          <a:xfrm>
            <a:off x="7439025" y="236220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Increase checkout conversion</a:t>
            </a:r>
          </a:p>
        </p:txBody>
      </p:sp>
      <p:sp>
        <p:nvSpPr>
          <p:cNvPr id="25" name="domain-body-3">
            <a:extLst>
              <a:ext uri="{FF2B5EF4-FFF2-40B4-BE49-F238E27FC236}">
                <a16:creationId xmlns:a16="http://schemas.microsoft.com/office/drawing/2014/main" id="{2CD9F57B-9F6C-413D-94C1-F83645930D22}"/>
              </a:ext>
            </a:extLst>
          </p:cNvPr>
          <p:cNvSpPr>
            <a:spLocks noGrp="1"/>
          </p:cNvSpPr>
          <p:nvPr/>
        </p:nvSpPr>
        <p:spPr>
          <a:xfrm>
            <a:off x="7439025" y="28765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Flow • payment methods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Fields • messaging</a:t>
            </a:r>
          </a:p>
        </p:txBody>
      </p:sp>
      <p:sp>
        <p:nvSpPr>
          <p:cNvPr id="26" name="domain-4">
            <a:extLst>
              <a:ext uri="{FF2B5EF4-FFF2-40B4-BE49-F238E27FC236}">
                <a16:creationId xmlns:a16="http://schemas.microsoft.com/office/drawing/2014/main" id="{A5C57ED2-F893-4100-98B9-AED0639AF8C1}"/>
              </a:ext>
            </a:extLst>
          </p:cNvPr>
          <p:cNvSpPr>
            <a:spLocks noGrp="1"/>
          </p:cNvSpPr>
          <p:nvPr/>
        </p:nvSpPr>
        <p:spPr>
          <a:xfrm>
            <a:off x="9486900" y="1809750"/>
            <a:ext cx="2019300" cy="1504950"/>
          </a:xfrm>
          <a:prstGeom prst="roundRect">
            <a:avLst>
              <a:gd name="adj" fmla="val 5063"/>
            </a:avLst>
          </a:prstGeom>
          <a:solidFill>
            <a:srgbClr val="F3F7F9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domain-label-4">
            <a:extLst>
              <a:ext uri="{FF2B5EF4-FFF2-40B4-BE49-F238E27FC236}">
                <a16:creationId xmlns:a16="http://schemas.microsoft.com/office/drawing/2014/main" id="{8AF581D4-2EDF-4B61-9EC1-AF3F33E26C23}"/>
              </a:ext>
            </a:extLst>
          </p:cNvPr>
          <p:cNvSpPr>
            <a:spLocks noGrp="1"/>
          </p:cNvSpPr>
          <p:nvPr/>
        </p:nvSpPr>
        <p:spPr>
          <a:xfrm>
            <a:off x="9639300" y="20193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COMMERCE CENTER</a:t>
            </a:r>
          </a:p>
        </p:txBody>
      </p:sp>
      <p:sp>
        <p:nvSpPr>
          <p:cNvPr id="28" name="domain-head-4">
            <a:extLst>
              <a:ext uri="{FF2B5EF4-FFF2-40B4-BE49-F238E27FC236}">
                <a16:creationId xmlns:a16="http://schemas.microsoft.com/office/drawing/2014/main" id="{D3081E8C-FB80-42D6-BB23-7E51A3FBA008}"/>
              </a:ext>
            </a:extLst>
          </p:cNvPr>
          <p:cNvSpPr>
            <a:spLocks noGrp="1"/>
          </p:cNvSpPr>
          <p:nvPr/>
        </p:nvSpPr>
        <p:spPr>
          <a:xfrm>
            <a:off x="9639300" y="236220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Improve portal engagement</a:t>
            </a:r>
          </a:p>
        </p:txBody>
      </p:sp>
      <p:sp>
        <p:nvSpPr>
          <p:cNvPr id="29" name="domain-body-4">
            <a:extLst>
              <a:ext uri="{FF2B5EF4-FFF2-40B4-BE49-F238E27FC236}">
                <a16:creationId xmlns:a16="http://schemas.microsoft.com/office/drawing/2014/main" id="{37FEBD5E-6720-401A-94DE-03F64E05A6A3}"/>
              </a:ext>
            </a:extLst>
          </p:cNvPr>
          <p:cNvSpPr>
            <a:spLocks noGrp="1"/>
          </p:cNvSpPr>
          <p:nvPr/>
        </p:nvSpPr>
        <p:spPr>
          <a:xfrm>
            <a:off x="9639300" y="28765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Content • self-service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Features • journeys</a:t>
            </a:r>
          </a:p>
        </p:txBody>
      </p:sp>
      <p:sp>
        <p:nvSpPr>
          <p:cNvPr id="30" name="shared-platform">
            <a:extLst>
              <a:ext uri="{FF2B5EF4-FFF2-40B4-BE49-F238E27FC236}">
                <a16:creationId xmlns:a16="http://schemas.microsoft.com/office/drawing/2014/main" id="{993C403E-C999-4CEB-AD82-92E1E8D80069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10820400" cy="1219200"/>
          </a:xfrm>
          <a:prstGeom prst="roundRect">
            <a:avLst>
              <a:gd name="adj" fmla="val 6250"/>
            </a:avLst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red-platform-title">
            <a:extLst>
              <a:ext uri="{FF2B5EF4-FFF2-40B4-BE49-F238E27FC236}">
                <a16:creationId xmlns:a16="http://schemas.microsoft.com/office/drawing/2014/main" id="{499F79CC-B218-4163-B949-6573DC6C6BA6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1125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FOUNDATIONAL EXPERIMENTATION PLATFORM</a:t>
            </a:r>
          </a:p>
        </p:txBody>
      </p:sp>
      <p:sp>
        <p:nvSpPr>
          <p:cNvPr id="32" name="shared-platform-thesis">
            <a:extLst>
              <a:ext uri="{FF2B5EF4-FFF2-40B4-BE49-F238E27FC236}">
                <a16:creationId xmlns:a16="http://schemas.microsoft.com/office/drawing/2014/main" id="{E8119A4D-3BE9-454B-8810-873A5BFEDBCB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50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Shared enterprise infrastructure supplies reusable capabilities for trusted experiments across every domain.</a:t>
            </a:r>
          </a:p>
        </p:txBody>
      </p:sp>
      <p:sp>
        <p:nvSpPr>
          <p:cNvPr id="33" name="shared-cap-0">
            <a:extLst>
              <a:ext uri="{FF2B5EF4-FFF2-40B4-BE49-F238E27FC236}">
                <a16:creationId xmlns:a16="http://schemas.microsoft.com/office/drawing/2014/main" id="{FF33DDC3-0490-4F34-BD47-8C5AACC2BAB4}"/>
              </a:ext>
            </a:extLst>
          </p:cNvPr>
          <p:cNvSpPr>
            <a:spLocks noGrp="1"/>
          </p:cNvSpPr>
          <p:nvPr/>
        </p:nvSpPr>
        <p:spPr>
          <a:xfrm>
            <a:off x="914400" y="4695825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125" b="1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Identity + assignment</a:t>
            </a:r>
          </a:p>
        </p:txBody>
      </p:sp>
      <p:sp>
        <p:nvSpPr>
          <p:cNvPr id="34" name="shared-cap-1">
            <a:extLst>
              <a:ext uri="{FF2B5EF4-FFF2-40B4-BE49-F238E27FC236}">
                <a16:creationId xmlns:a16="http://schemas.microsoft.com/office/drawing/2014/main" id="{7BB4C639-E275-4577-8023-87A3B6F9A9CA}"/>
              </a:ext>
            </a:extLst>
          </p:cNvPr>
          <p:cNvSpPr>
            <a:spLocks noGrp="1"/>
          </p:cNvSpPr>
          <p:nvPr/>
        </p:nvSpPr>
        <p:spPr>
          <a:xfrm>
            <a:off x="2971800" y="4695825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125" b="1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Audience + targeting</a:t>
            </a:r>
          </a:p>
        </p:txBody>
      </p:sp>
      <p:sp>
        <p:nvSpPr>
          <p:cNvPr id="35" name="shared-cap-2">
            <a:extLst>
              <a:ext uri="{FF2B5EF4-FFF2-40B4-BE49-F238E27FC236}">
                <a16:creationId xmlns:a16="http://schemas.microsoft.com/office/drawing/2014/main" id="{80EFA612-9553-401B-A84A-3281746351EB}"/>
              </a:ext>
            </a:extLst>
          </p:cNvPr>
          <p:cNvSpPr>
            <a:spLocks noGrp="1"/>
          </p:cNvSpPr>
          <p:nvPr/>
        </p:nvSpPr>
        <p:spPr>
          <a:xfrm>
            <a:off x="5029200" y="4695825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125" b="1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Traffic allocation</a:t>
            </a:r>
          </a:p>
        </p:txBody>
      </p:sp>
      <p:sp>
        <p:nvSpPr>
          <p:cNvPr id="36" name="shared-cap-3">
            <a:extLst>
              <a:ext uri="{FF2B5EF4-FFF2-40B4-BE49-F238E27FC236}">
                <a16:creationId xmlns:a16="http://schemas.microsoft.com/office/drawing/2014/main" id="{8870B35B-1986-45E1-B776-3FBA6BB0732F}"/>
              </a:ext>
            </a:extLst>
          </p:cNvPr>
          <p:cNvSpPr>
            <a:spLocks noGrp="1"/>
          </p:cNvSpPr>
          <p:nvPr/>
        </p:nvSpPr>
        <p:spPr>
          <a:xfrm>
            <a:off x="7086600" y="4695825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125" b="1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Outcome measurement</a:t>
            </a:r>
          </a:p>
        </p:txBody>
      </p:sp>
      <p:sp>
        <p:nvSpPr>
          <p:cNvPr id="37" name="shared-cap-4">
            <a:extLst>
              <a:ext uri="{FF2B5EF4-FFF2-40B4-BE49-F238E27FC236}">
                <a16:creationId xmlns:a16="http://schemas.microsoft.com/office/drawing/2014/main" id="{3B799E56-BE48-44F4-A56F-E1254372F2B8}"/>
              </a:ext>
            </a:extLst>
          </p:cNvPr>
          <p:cNvSpPr>
            <a:spLocks noGrp="1"/>
          </p:cNvSpPr>
          <p:nvPr/>
        </p:nvSpPr>
        <p:spPr>
          <a:xfrm>
            <a:off x="9144000" y="4695825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125" b="1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Guardrails + governance</a:t>
            </a:r>
          </a:p>
        </p:txBody>
      </p:sp>
      <p:sp>
        <p:nvSpPr>
          <p:cNvPr id="38" name="scale-benefit">
            <a:extLst>
              <a:ext uri="{FF2B5EF4-FFF2-40B4-BE49-F238E27FC236}">
                <a16:creationId xmlns:a16="http://schemas.microsoft.com/office/drawing/2014/main" id="{7DC947BC-E071-459A-AA73-B11DFB157D2A}"/>
              </a:ext>
            </a:extLst>
          </p:cNvPr>
          <p:cNvSpPr>
            <a:spLocks noGrp="1"/>
          </p:cNvSpPr>
          <p:nvPr/>
        </p:nvSpPr>
        <p:spPr>
          <a:xfrm>
            <a:off x="1524000" y="5314950"/>
            <a:ext cx="9144000" cy="723900"/>
          </a:xfrm>
          <a:prstGeom prst="roundRect">
            <a:avLst>
              <a:gd name="adj" fmla="val 10526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cale-benefit-copy">
            <a:extLst>
              <a:ext uri="{FF2B5EF4-FFF2-40B4-BE49-F238E27FC236}">
                <a16:creationId xmlns:a16="http://schemas.microsoft.com/office/drawing/2014/main" id="{BC14AAB9-DA9C-4255-BFDF-0FBE5522A83A}"/>
              </a:ext>
            </a:extLst>
          </p:cNvPr>
          <p:cNvSpPr>
            <a:spLocks noGrp="1"/>
          </p:cNvSpPr>
          <p:nvPr/>
        </p:nvSpPr>
        <p:spPr>
          <a:xfrm>
            <a:off x="1847850" y="5524500"/>
            <a:ext cx="849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Fund the foundation once—then reuse identity, measurement and governance across products, journeys and business models.</a:t>
            </a:r>
          </a:p>
        </p:txBody>
      </p:sp>
    </p:spTree>
    <p:extLst>
      <p:ext uri="{BB962C8B-B14F-4D97-AF65-F5344CB8AC3E}">
        <p14:creationId xmlns:p14="http://schemas.microsoft.com/office/powerpoint/2010/main" val="780402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kicker-6">
            <a:extLst>
              <a:ext uri="{FF2B5EF4-FFF2-40B4-BE49-F238E27FC236}">
                <a16:creationId xmlns:a16="http://schemas.microsoft.com/office/drawing/2014/main" id="{6D36E049-D078-4879-A29A-6DD2838EA5B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INVESTMENT REQUEST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8F3463B7-685B-4645-BE89-9C10D71A9F6B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Fund in phases, prove measurable value early, then scale and monetize</a:t>
            </a:r>
          </a:p>
        </p:txBody>
      </p:sp>
      <p:sp>
        <p:nvSpPr>
          <p:cNvPr id="3" name="rule-6">
            <a:extLst>
              <a:ext uri="{FF2B5EF4-FFF2-40B4-BE49-F238E27FC236}">
                <a16:creationId xmlns:a16="http://schemas.microsoft.com/office/drawing/2014/main" id="{4CFDA178-B6C7-400E-9892-66C74A57A264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6">
            <a:extLst>
              <a:ext uri="{FF2B5EF4-FFF2-40B4-BE49-F238E27FC236}">
                <a16:creationId xmlns:a16="http://schemas.microsoft.com/office/drawing/2014/main" id="{86509599-7648-4BC6-B0F4-4AA429E98521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06</a:t>
            </a:r>
          </a:p>
        </p:txBody>
      </p:sp>
      <p:sp>
        <p:nvSpPr>
          <p:cNvPr id="5" name="phase-0">
            <a:extLst>
              <a:ext uri="{FF2B5EF4-FFF2-40B4-BE49-F238E27FC236}">
                <a16:creationId xmlns:a16="http://schemas.microsoft.com/office/drawing/2014/main" id="{9D8BCDE4-EF05-47E8-BC79-40A92DA6D0EE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2362200" cy="2514600"/>
          </a:xfrm>
          <a:prstGeom prst="roundRect">
            <a:avLst>
              <a:gd name="adj" fmla="val 3226"/>
            </a:avLst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phase-label-0">
            <a:extLst>
              <a:ext uri="{FF2B5EF4-FFF2-40B4-BE49-F238E27FC236}">
                <a16:creationId xmlns:a16="http://schemas.microsoft.com/office/drawing/2014/main" id="{15145932-91F1-4811-862B-A045C002E845}"/>
              </a:ext>
            </a:extLst>
          </p:cNvPr>
          <p:cNvSpPr>
            <a:spLocks noGrp="1"/>
          </p:cNvSpPr>
          <p:nvPr/>
        </p:nvSpPr>
        <p:spPr>
          <a:xfrm>
            <a:off x="876300" y="2019300"/>
            <a:ext cx="1981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1  FOUNDATION</a:t>
            </a:r>
          </a:p>
        </p:txBody>
      </p:sp>
      <p:sp>
        <p:nvSpPr>
          <p:cNvPr id="7" name="phase-head-0">
            <a:extLst>
              <a:ext uri="{FF2B5EF4-FFF2-40B4-BE49-F238E27FC236}">
                <a16:creationId xmlns:a16="http://schemas.microsoft.com/office/drawing/2014/main" id="{E68F6936-14EF-425F-A06C-B94C635241B8}"/>
              </a:ext>
            </a:extLst>
          </p:cNvPr>
          <p:cNvSpPr>
            <a:spLocks noGrp="1"/>
          </p:cNvSpPr>
          <p:nvPr/>
        </p:nvSpPr>
        <p:spPr>
          <a:xfrm>
            <a:off x="876300" y="2400300"/>
            <a:ext cx="198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65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Build the shared platform</a:t>
            </a:r>
          </a:p>
        </p:txBody>
      </p:sp>
      <p:sp>
        <p:nvSpPr>
          <p:cNvPr id="8" name="phase-body-0">
            <a:extLst>
              <a:ext uri="{FF2B5EF4-FFF2-40B4-BE49-F238E27FC236}">
                <a16:creationId xmlns:a16="http://schemas.microsoft.com/office/drawing/2014/main" id="{A2CA305F-C1F0-444F-AFB9-866F6ACCC945}"/>
              </a:ext>
            </a:extLst>
          </p:cNvPr>
          <p:cNvSpPr>
            <a:spLocks noGrp="1"/>
          </p:cNvSpPr>
          <p:nvPr/>
        </p:nvSpPr>
        <p:spPr>
          <a:xfrm>
            <a:off x="876300" y="3114675"/>
            <a:ext cx="19812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Decision identity</a:t>
            </a:r>
          </a:p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Strategy versioning</a:t>
            </a:r>
          </a:p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Traffic allocation</a:t>
            </a:r>
          </a:p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Event + outcome capture</a:t>
            </a:r>
          </a:p>
        </p:txBody>
      </p:sp>
      <p:sp>
        <p:nvSpPr>
          <p:cNvPr id="9" name="phase-1">
            <a:extLst>
              <a:ext uri="{FF2B5EF4-FFF2-40B4-BE49-F238E27FC236}">
                <a16:creationId xmlns:a16="http://schemas.microsoft.com/office/drawing/2014/main" id="{508028B4-9740-4E47-AB10-6AA90F708BA9}"/>
              </a:ext>
            </a:extLst>
          </p:cNvPr>
          <p:cNvSpPr>
            <a:spLocks noGrp="1"/>
          </p:cNvSpPr>
          <p:nvPr/>
        </p:nvSpPr>
        <p:spPr>
          <a:xfrm>
            <a:off x="3276600" y="1790700"/>
            <a:ext cx="2362200" cy="2514600"/>
          </a:xfrm>
          <a:prstGeom prst="roundRect">
            <a:avLst>
              <a:gd name="adj" fmla="val 3226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hase-label-1">
            <a:extLst>
              <a:ext uri="{FF2B5EF4-FFF2-40B4-BE49-F238E27FC236}">
                <a16:creationId xmlns:a16="http://schemas.microsoft.com/office/drawing/2014/main" id="{91C38C53-8D3C-423C-8359-0330F8C58B9D}"/>
              </a:ext>
            </a:extLst>
          </p:cNvPr>
          <p:cNvSpPr>
            <a:spLocks noGrp="1"/>
          </p:cNvSpPr>
          <p:nvPr/>
        </p:nvSpPr>
        <p:spPr>
          <a:xfrm>
            <a:off x="3467100" y="2019300"/>
            <a:ext cx="1981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2  PROVE VALUE</a:t>
            </a:r>
          </a:p>
        </p:txBody>
      </p:sp>
      <p:sp>
        <p:nvSpPr>
          <p:cNvPr id="11" name="phase-head-1">
            <a:extLst>
              <a:ext uri="{FF2B5EF4-FFF2-40B4-BE49-F238E27FC236}">
                <a16:creationId xmlns:a16="http://schemas.microsoft.com/office/drawing/2014/main" id="{C6D0D641-8547-4AE1-BFE6-E5D054AB0711}"/>
              </a:ext>
            </a:extLst>
          </p:cNvPr>
          <p:cNvSpPr>
            <a:spLocks noGrp="1"/>
          </p:cNvSpPr>
          <p:nvPr/>
        </p:nvSpPr>
        <p:spPr>
          <a:xfrm>
            <a:off x="3467100" y="2400300"/>
            <a:ext cx="198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65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Launch controlled use cases</a:t>
            </a:r>
          </a:p>
        </p:txBody>
      </p:sp>
      <p:sp>
        <p:nvSpPr>
          <p:cNvPr id="12" name="phase-body-1">
            <a:extLst>
              <a:ext uri="{FF2B5EF4-FFF2-40B4-BE49-F238E27FC236}">
                <a16:creationId xmlns:a16="http://schemas.microsoft.com/office/drawing/2014/main" id="{4A3C45CB-3883-44AA-966C-A27BDCB15551}"/>
              </a:ext>
            </a:extLst>
          </p:cNvPr>
          <p:cNvSpPr>
            <a:spLocks noGrp="1"/>
          </p:cNvSpPr>
          <p:nvPr/>
        </p:nvSpPr>
        <p:spPr>
          <a:xfrm>
            <a:off x="3467100" y="3114675"/>
            <a:ext cx="19812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Payments + checkout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Controlled comparisons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Validated lift on live traffic</a:t>
            </a:r>
          </a:p>
        </p:txBody>
      </p:sp>
      <p:sp>
        <p:nvSpPr>
          <p:cNvPr id="13" name="phase-2">
            <a:extLst>
              <a:ext uri="{FF2B5EF4-FFF2-40B4-BE49-F238E27FC236}">
                <a16:creationId xmlns:a16="http://schemas.microsoft.com/office/drawing/2014/main" id="{85DE79C2-827E-4891-BD70-ABBD46960664}"/>
              </a:ext>
            </a:extLst>
          </p:cNvPr>
          <p:cNvSpPr>
            <a:spLocks noGrp="1"/>
          </p:cNvSpPr>
          <p:nvPr/>
        </p:nvSpPr>
        <p:spPr>
          <a:xfrm>
            <a:off x="5867400" y="1790700"/>
            <a:ext cx="2362200" cy="2514600"/>
          </a:xfrm>
          <a:prstGeom prst="roundRect">
            <a:avLst>
              <a:gd name="adj" fmla="val 3226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phase-label-2">
            <a:extLst>
              <a:ext uri="{FF2B5EF4-FFF2-40B4-BE49-F238E27FC236}">
                <a16:creationId xmlns:a16="http://schemas.microsoft.com/office/drawing/2014/main" id="{B7792716-2968-4331-8663-C7DF39092086}"/>
              </a:ext>
            </a:extLst>
          </p:cNvPr>
          <p:cNvSpPr>
            <a:spLocks noGrp="1"/>
          </p:cNvSpPr>
          <p:nvPr/>
        </p:nvSpPr>
        <p:spPr>
          <a:xfrm>
            <a:off x="6057900" y="2019300"/>
            <a:ext cx="1981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3  SCALE</a:t>
            </a:r>
          </a:p>
        </p:txBody>
      </p:sp>
      <p:sp>
        <p:nvSpPr>
          <p:cNvPr id="15" name="phase-head-2">
            <a:extLst>
              <a:ext uri="{FF2B5EF4-FFF2-40B4-BE49-F238E27FC236}">
                <a16:creationId xmlns:a16="http://schemas.microsoft.com/office/drawing/2014/main" id="{08300E57-E6B4-4804-8A5A-81017ACDA723}"/>
              </a:ext>
            </a:extLst>
          </p:cNvPr>
          <p:cNvSpPr>
            <a:spLocks noGrp="1"/>
          </p:cNvSpPr>
          <p:nvPr/>
        </p:nvSpPr>
        <p:spPr>
          <a:xfrm>
            <a:off x="6057900" y="2400300"/>
            <a:ext cx="198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65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Expand across domains</a:t>
            </a:r>
          </a:p>
        </p:txBody>
      </p:sp>
      <p:sp>
        <p:nvSpPr>
          <p:cNvPr id="16" name="phase-body-2">
            <a:extLst>
              <a:ext uri="{FF2B5EF4-FFF2-40B4-BE49-F238E27FC236}">
                <a16:creationId xmlns:a16="http://schemas.microsoft.com/office/drawing/2014/main" id="{CE4C4558-D803-4A67-8B8F-6010CC347E85}"/>
              </a:ext>
            </a:extLst>
          </p:cNvPr>
          <p:cNvSpPr>
            <a:spLocks noGrp="1"/>
          </p:cNvSpPr>
          <p:nvPr/>
        </p:nvSpPr>
        <p:spPr>
          <a:xfrm>
            <a:off x="6057900" y="3114675"/>
            <a:ext cx="19812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Pricing + onboarding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Commerce Center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Reusable domain onboarding</a:t>
            </a:r>
          </a:p>
        </p:txBody>
      </p:sp>
      <p:sp>
        <p:nvSpPr>
          <p:cNvPr id="17" name="phase-3">
            <a:extLst>
              <a:ext uri="{FF2B5EF4-FFF2-40B4-BE49-F238E27FC236}">
                <a16:creationId xmlns:a16="http://schemas.microsoft.com/office/drawing/2014/main" id="{398CB26E-166F-4372-A248-4AC6F364351D}"/>
              </a:ext>
            </a:extLst>
          </p:cNvPr>
          <p:cNvSpPr>
            <a:spLocks noGrp="1"/>
          </p:cNvSpPr>
          <p:nvPr/>
        </p:nvSpPr>
        <p:spPr>
          <a:xfrm>
            <a:off x="8458200" y="1790700"/>
            <a:ext cx="2362200" cy="2514600"/>
          </a:xfrm>
          <a:prstGeom prst="roundRect">
            <a:avLst>
              <a:gd name="adj" fmla="val 3226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phase-label-3">
            <a:extLst>
              <a:ext uri="{FF2B5EF4-FFF2-40B4-BE49-F238E27FC236}">
                <a16:creationId xmlns:a16="http://schemas.microsoft.com/office/drawing/2014/main" id="{536B6449-09D8-422B-A2AB-18170257908C}"/>
              </a:ext>
            </a:extLst>
          </p:cNvPr>
          <p:cNvSpPr>
            <a:spLocks noGrp="1"/>
          </p:cNvSpPr>
          <p:nvPr/>
        </p:nvSpPr>
        <p:spPr>
          <a:xfrm>
            <a:off x="8648700" y="2019300"/>
            <a:ext cx="1981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4  MONETIZE</a:t>
            </a:r>
          </a:p>
        </p:txBody>
      </p:sp>
      <p:sp>
        <p:nvSpPr>
          <p:cNvPr id="19" name="phase-head-3">
            <a:extLst>
              <a:ext uri="{FF2B5EF4-FFF2-40B4-BE49-F238E27FC236}">
                <a16:creationId xmlns:a16="http://schemas.microsoft.com/office/drawing/2014/main" id="{BB0188A4-BF4E-46A0-8780-D9B0DC81DBC6}"/>
              </a:ext>
            </a:extLst>
          </p:cNvPr>
          <p:cNvSpPr>
            <a:spLocks noGrp="1"/>
          </p:cNvSpPr>
          <p:nvPr/>
        </p:nvSpPr>
        <p:spPr>
          <a:xfrm>
            <a:off x="8648700" y="2400300"/>
            <a:ext cx="198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65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Create commercial packages</a:t>
            </a:r>
          </a:p>
        </p:txBody>
      </p:sp>
      <p:sp>
        <p:nvSpPr>
          <p:cNvPr id="20" name="phase-body-3">
            <a:extLst>
              <a:ext uri="{FF2B5EF4-FFF2-40B4-BE49-F238E27FC236}">
                <a16:creationId xmlns:a16="http://schemas.microsoft.com/office/drawing/2014/main" id="{EC519429-88D7-40AD-BB62-CB4311EE3082}"/>
              </a:ext>
            </a:extLst>
          </p:cNvPr>
          <p:cNvSpPr>
            <a:spLocks noGrp="1"/>
          </p:cNvSpPr>
          <p:nvPr/>
        </p:nvSpPr>
        <p:spPr>
          <a:xfrm>
            <a:off x="8648700" y="3114675"/>
            <a:ext cx="19812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Merchant reporting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Premium tiers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Usage- or outcome-based pricing</a:t>
            </a:r>
          </a:p>
        </p:txBody>
      </p:sp>
      <p:sp>
        <p:nvSpPr>
          <p:cNvPr id="21" name="ask">
            <a:extLst>
              <a:ext uri="{FF2B5EF4-FFF2-40B4-BE49-F238E27FC236}">
                <a16:creationId xmlns:a16="http://schemas.microsoft.com/office/drawing/2014/main" id="{1EC55087-0E3A-4DA1-A534-D02ED5A9C7EA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0820400" cy="1352550"/>
          </a:xfrm>
          <a:prstGeom prst="roundRect">
            <a:avLst>
              <a:gd name="adj" fmla="val 5634"/>
            </a:avLst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sk-title">
            <a:extLst>
              <a:ext uri="{FF2B5EF4-FFF2-40B4-BE49-F238E27FC236}">
                <a16:creationId xmlns:a16="http://schemas.microsoft.com/office/drawing/2014/main" id="{3B2C4145-7CD4-4951-AFD4-5F9D857EB690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DECISION REQUIRED</a:t>
            </a:r>
          </a:p>
        </p:txBody>
      </p:sp>
      <p:sp>
        <p:nvSpPr>
          <p:cNvPr id="23" name="ask-copy">
            <a:extLst>
              <a:ext uri="{FF2B5EF4-FFF2-40B4-BE49-F238E27FC236}">
                <a16:creationId xmlns:a16="http://schemas.microsoft.com/office/drawing/2014/main" id="{92E2DC85-F226-4534-863A-0743BF981D01}"/>
              </a:ext>
            </a:extLst>
          </p:cNvPr>
          <p:cNvSpPr>
            <a:spLocks noGrp="1"/>
          </p:cNvSpPr>
          <p:nvPr/>
        </p:nvSpPr>
        <p:spPr>
          <a:xfrm>
            <a:off x="933450" y="5238750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725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Approve shared foundational capacity and governance, with initial use cases proving value and domain expansion gated by measurable milestones.</a:t>
            </a:r>
          </a:p>
        </p:txBody>
      </p:sp>
      <p:sp>
        <p:nvSpPr>
          <p:cNvPr id="24" name="ask-fields">
            <a:extLst>
              <a:ext uri="{FF2B5EF4-FFF2-40B4-BE49-F238E27FC236}">
                <a16:creationId xmlns:a16="http://schemas.microsoft.com/office/drawing/2014/main" id="{CBE593CB-BC72-4D6F-B6E7-5E76D7609C99}"/>
              </a:ext>
            </a:extLst>
          </p:cNvPr>
          <p:cNvSpPr>
            <a:spLocks noGrp="1"/>
          </p:cNvSpPr>
          <p:nvPr/>
        </p:nvSpPr>
        <p:spPr>
          <a:xfrm>
            <a:off x="8134350" y="4905375"/>
            <a:ext cx="3048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Confirm before approval</a:t>
            </a:r>
          </a:p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• Investment envelope + delivery horizon</a:t>
            </a:r>
          </a:p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• Executive sponsor + operating governance</a:t>
            </a:r>
          </a:p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• Baseline metrics + value thresholds</a:t>
            </a:r>
          </a:p>
        </p:txBody>
      </p:sp>
    </p:spTree>
    <p:extLst>
      <p:ext uri="{BB962C8B-B14F-4D97-AF65-F5344CB8AC3E}">
        <p14:creationId xmlns:p14="http://schemas.microsoft.com/office/powerpoint/2010/main" val="17392373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</Words>
  <Application>Microsoft Office PowerPoint</Application>
  <DocSecurity>0</DocSecurity>
  <PresentationFormat>Widescreen</PresentationFormat>
  <Paragraphs>147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AmplitudeTF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James Nampalam</cp:lastModifiedBy>
  <cp:revision>1</cp:revision>
  <dcterms:created xsi:type="dcterms:W3CDTF">2026-08-03T19:50:29Z</dcterms:created>
  <dcterms:modified xsi:type="dcterms:W3CDTF">2026-08-03T20:05:09Z</dcterms:modified>
</cp:coreProperties>
</file>