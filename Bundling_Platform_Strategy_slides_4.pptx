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JPMC INTERNAL USE ONLY–CONFIDENTIAL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bundle model — one primitive, composed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bundle is a first-class service code that wraps constituent services and prices them as one. Every merchant starts with a processing bundle and stacks optional add-on bundles as needs grow. Same mechanism throughout — the platform already creates and prices bundles this way today.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201400" cy="566928"/>
          </a:xfrm>
          <a:prstGeom prst="roundRect">
            <a:avLst>
              <a:gd name="adj" fmla="val 8065"/>
            </a:avLst>
          </a:prstGeom>
          <a:solidFill>
            <a:srgbClr val="EEF5FB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25296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165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PRIMITIVE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bundle = a service code that contains other service codes and prices as one. When a bundled child service triggers, it isn’t charged separately. Everything below is this same primitive, composed differently.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BUNDLE  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mandatory · one per merchant · three sizes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[naming TBD w/ Marketing]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2154936" cy="1371600"/>
          </a:xfrm>
          <a:prstGeom prst="roundRect">
            <a:avLst>
              <a:gd name="adj" fmla="val 3333"/>
            </a:avLst>
          </a:prstGeom>
          <a:solidFill>
            <a:srgbClr val="EEF5FB"/>
          </a:solidFill>
          <a:ln w="12700">
            <a:solidFill>
              <a:srgbClr val="1F6F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" y="2414016"/>
            <a:ext cx="1862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65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 </a:t>
            </a:r>
            <a:pPr indent="0" marL="0">
              <a:buNone/>
            </a:pPr>
            <a:r>
              <a:rPr lang="en-US" sz="1000" b="1" spc="50" kern="0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SILVER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" y="2761488"/>
            <a:ext cx="1862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processing + baseline VAS — the entry bundle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1592" y="2286000"/>
            <a:ext cx="2154936" cy="1371600"/>
          </a:xfrm>
          <a:prstGeom prst="roundRect">
            <a:avLst>
              <a:gd name="adj" fmla="val 3333"/>
            </a:avLst>
          </a:prstGeom>
          <a:solidFill>
            <a:srgbClr val="DCEAF5"/>
          </a:solidFill>
          <a:ln w="12700">
            <a:solidFill>
              <a:srgbClr val="1F6F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7896" y="2414016"/>
            <a:ext cx="1862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65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 </a:t>
            </a:r>
            <a:pPr indent="0" marL="0">
              <a:buNone/>
            </a:pPr>
            <a:r>
              <a:rPr lang="en-US" sz="1000" b="1" spc="50" kern="0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GOLD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77896" y="2761488"/>
            <a:ext cx="1862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payment methods, faster funding, broader VAS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60264" y="2286000"/>
            <a:ext cx="2154936" cy="1371600"/>
          </a:xfrm>
          <a:prstGeom prst="roundRect">
            <a:avLst>
              <a:gd name="adj" fmla="val 3333"/>
            </a:avLst>
          </a:prstGeom>
          <a:solidFill>
            <a:srgbClr val="C9DEEF"/>
          </a:solidFill>
          <a:ln w="12700">
            <a:solidFill>
              <a:srgbClr val="1F6F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6568" y="2414016"/>
            <a:ext cx="1862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65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 </a:t>
            </a:r>
            <a:pPr indent="0" marL="0">
              <a:buNone/>
            </a:pPr>
            <a:r>
              <a:rPr lang="en-US" sz="1000" b="1" spc="50" kern="0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PLATINUM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6568" y="2761488"/>
            <a:ext cx="1862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breadth — all methods, real-time settlement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712464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bundle, three sizes — each includes progressively more baseline services.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269480" y="26517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726680" y="19933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 BUNDLES  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optional · stack any number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2286000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228600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  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uplift · tokens · updater · retries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26680" y="2862072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72984" y="2862072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  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· 3DS · disputes · risk controls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3438144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72984" y="343814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  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· data products · recon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4014216"/>
            <a:ext cx="3977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9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872984" y="4014216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slot   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product team plugs in — loyalty, FX …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224528"/>
            <a:ext cx="6812280" cy="566928"/>
          </a:xfrm>
          <a:prstGeom prst="roundRect">
            <a:avLst>
              <a:gd name="adj" fmla="val 6452"/>
            </a:avLst>
          </a:prstGeom>
          <a:solidFill>
            <a:srgbClr val="F6F0EA"/>
          </a:solidFill>
          <a:ln w="9525">
            <a:solidFill>
              <a:srgbClr val="8B5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24528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adjustments apply over the combined bill  </a:t>
            </a:r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rewards, tenure, multi-bundle discount (TBD), ECR. A discounting lever, not a bundle.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5074920"/>
            <a:ext cx="11201400" cy="841248"/>
          </a:xfrm>
          <a:prstGeom prst="roundRect">
            <a:avLst>
              <a:gd name="adj" fmla="val 5435"/>
            </a:avLst>
          </a:prstGeom>
          <a:solidFill>
            <a:srgbClr val="16588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074920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C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merchant’s package =  </a:t>
            </a:r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processing bundle (Essential / Advanced / Premier)  </a:t>
            </a:r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add-on bundles.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JPMC INTERNAL USE ONLY–CONFIDENTIAL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merchant motion — grow from a processing bundle, without friction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shouldn’t have to pick everything on day one. They start with a processing bundle, add services as needs emerge — and the platform moves them to the best packaging as they grow. Every step deepens attach, and multi-product merchants are the hardest to displace.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43484" y="14173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EF5FB"/>
          </a:solidFill>
          <a:ln w="12700">
            <a:solidFill>
              <a:srgbClr val="1F6F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" y="1600200"/>
            <a:ext cx="384048" cy="384048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0140" y="1581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bundle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" y="2167128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boards on a processing bundle — Essential, Advanced, or Premier (Silver / Gold / Platinum) — with baseline services included.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31236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2132" y="14173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EF5FB"/>
          </a:solidFill>
          <a:ln w="12700">
            <a:solidFill>
              <a:srgbClr val="1F6F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5012" y="1600200"/>
            <a:ext cx="384048" cy="384048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3" name="Text 11"/>
          <p:cNvSpPr/>
          <p:nvPr/>
        </p:nvSpPr>
        <p:spPr>
          <a:xfrm>
            <a:off x="352501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18788" y="1581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3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43300" y="2167128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need emerges — say auth optimization. Merchant adds it standalone, before committing to a full add-on bundle.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29884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0780" y="14173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23660" y="1600200"/>
            <a:ext cx="384048" cy="384048"/>
          </a:xfrm>
          <a:prstGeom prst="ellipse">
            <a:avLst/>
          </a:prstGeom>
          <a:solidFill>
            <a:srgbClr val="2E7D9E"/>
          </a:solidFill>
          <a:ln/>
        </p:spPr>
      </p:sp>
      <p:sp>
        <p:nvSpPr>
          <p:cNvPr id="19" name="Text 17"/>
          <p:cNvSpPr/>
          <p:nvPr/>
        </p:nvSpPr>
        <p:spPr>
          <a:xfrm>
            <a:off x="64236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17436" y="1581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3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into a bundle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1948" y="2167128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services roll into the right add-on bundle — charges pro-rated, credits applied, one line on the Commerce bill. Works in reverse: drop a service, the platform re-rates cleanly.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8532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39428" y="14173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6F0EA"/>
          </a:solidFill>
          <a:ln w="12700">
            <a:solidFill>
              <a:srgbClr val="8B5E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2308" y="1600200"/>
            <a:ext cx="384048" cy="384048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25" name="Text 23"/>
          <p:cNvSpPr/>
          <p:nvPr/>
        </p:nvSpPr>
        <p:spPr>
          <a:xfrm>
            <a:off x="932230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16084" y="1581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3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&amp; retain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40596" y="2167128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drives the next step — another add-on bundle, a larger processing bundle, enterprise adjustments. Attach compounds; churn drops.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" y="4434840"/>
            <a:ext cx="11301984" cy="960120"/>
          </a:xfrm>
          <a:prstGeom prst="roundRect">
            <a:avLst>
              <a:gd name="adj" fmla="val 4762"/>
            </a:avLst>
          </a:prstGeom>
          <a:solidFill>
            <a:srgbClr val="16588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7804" y="4434840"/>
            <a:ext cx="10753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motion exists today.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are fixed at boarding — no pro-ration, no switch credits, no path from standalone services into a bundle. And it only works on native Commerce billing: this cannot be assembled over ETL-to-Core. Once built, every added service makes the relationship harder to displace on price alone.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JPMC INTERNAL USE ONLY–CONFIDENTIAL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— from static bundles to dynamic, serviceable bundling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creation exists. What’s missing is everything that happens after boarding — switching, servicing, and composing bundles without a release. Four capabilities turn bundling from a per-bundle engineering project into a platform any product team can use.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201400" cy="365760"/>
          </a:xfrm>
          <a:prstGeom prst="rect">
            <a:avLst/>
          </a:prstGeom>
          <a:solidFill>
            <a:srgbClr val="16588F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85032" y="137160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ENABLES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2412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1201400" cy="658368"/>
          </a:xfrm>
          <a:prstGeom prst="rect">
            <a:avLst/>
          </a:prstGeom>
          <a:solidFill>
            <a:srgbClr val="EDF5F8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37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as a first-class service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85032" y="17373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service code composes child services; children suppressed when the bundle is billed; bundle carries its own qualification; every service GL-mapped and certified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497312" y="19385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2E7D9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97312" y="19385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23957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Pro-ration &amp; switch credits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85032" y="239572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move into a bundle — or between bundles — mid-cycle, with unused standalone charges credited automatically rather than by Ops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497312" y="2596896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/>
        </p:spPr>
      </p:sp>
      <p:sp>
        <p:nvSpPr>
          <p:cNvPr id="17" name="Text 15"/>
          <p:cNvSpPr/>
          <p:nvPr/>
        </p:nvSpPr>
        <p:spPr>
          <a:xfrm>
            <a:off x="10497312" y="2596896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054096"/>
            <a:ext cx="11201400" cy="658368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05409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Standalone-to-bundle conversion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85032" y="305409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recognizes accumulated standalone services and rolls them into the right add-on bundle — the retention and revenue motion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497312" y="3255264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/>
        </p:spPr>
      </p:sp>
      <p:sp>
        <p:nvSpPr>
          <p:cNvPr id="22" name="Text 20"/>
          <p:cNvSpPr/>
          <p:nvPr/>
        </p:nvSpPr>
        <p:spPr>
          <a:xfrm>
            <a:off x="10497312" y="325526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7512" y="371246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servicing &amp; lifecycle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85032" y="371246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the processing bundle, add or drop an add-on, cancel — full lifecycle with automatic re-rating, no re-boarding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497312" y="3913632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/>
        </p:spPr>
      </p:sp>
      <p:sp>
        <p:nvSpPr>
          <p:cNvPr id="26" name="Text 24"/>
          <p:cNvSpPr/>
          <p:nvPr/>
        </p:nvSpPr>
        <p:spPr>
          <a:xfrm>
            <a:off x="10497312" y="391363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370832"/>
            <a:ext cx="11201400" cy="658368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43708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bundle composition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85032" y="43708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bundles composed from pre-certified services — GL mapping inherited from constituents, no per-bundle test cycle. A bundle becomes configuration, not a release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497312" y="4572000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/>
        </p:spPr>
      </p:sp>
      <p:sp>
        <p:nvSpPr>
          <p:cNvPr id="31" name="Text 29"/>
          <p:cNvSpPr/>
          <p:nvPr/>
        </p:nvSpPr>
        <p:spPr>
          <a:xfrm>
            <a:off x="10497312" y="45720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5230368"/>
            <a:ext cx="11201400" cy="914400"/>
          </a:xfrm>
          <a:prstGeom prst="roundRect">
            <a:avLst>
              <a:gd name="adj" fmla="val 5000"/>
            </a:avLst>
          </a:prstGeom>
          <a:solidFill>
            <a:srgbClr val="EEF5FB"/>
          </a:solidFill>
          <a:ln w="12700">
            <a:solidFill>
              <a:srgbClr val="1F6FB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5230368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5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now.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new bundle carries GL setup and a full test cycle, and once a merchant is in a bundle we can’t move them. The servicing layer is what makes the commercialization strategy real — first proof point: the Optimization add-on bundle, end-to-end natively on Commerce, then generalize.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Bundling Platform Strategy</dc:title>
  <dc:subject>PptxGenJS Presentation</dc:subject>
  <dc:creator>Transaction Processing</dc:creator>
  <cp:lastModifiedBy>Transaction Processing</cp:lastModifiedBy>
  <cp:revision>1</cp:revision>
  <dcterms:created xsi:type="dcterms:W3CDTF">2026-07-06T19:51:17Z</dcterms:created>
  <dcterms:modified xsi:type="dcterms:W3CDTF">2026-07-06T19:51:17Z</dcterms:modified>
</cp:coreProperties>
</file>