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landed cross-border cost</c:v>
                </c:pt>
              </c:strCache>
            </c:strRef>
          </c:tx>
          <c:spPr>
            <a:solidFill>
              <a:srgbClr val="006A4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Ops cost of multiple settlements</c:v>
                  </c:pt>
                  <c:pt idx="1">
                    <c:v>Repatriation cost &amp; float</c:v>
                  </c:pt>
                  <c:pt idx="2">
                    <c:v>Scheme cross-border assessments</c:v>
                  </c:pt>
                  <c:pt idx="3">
                    <c:v>Cross-border interchange premium</c:v>
                  </c:pt>
                  <c:pt idx="4">
                    <c:v>Acquirer FX spread</c:v>
                  </c:pt>
                  <c:pt idx="5">
                    <c:v>Declined transactions (acceptance gap)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7</c:v>
                </c:pt>
                <c:pt idx="2">
                  <c:v>8</c:v>
                </c:pt>
                <c:pt idx="3">
                  <c:v>15</c:v>
                </c:pt>
                <c:pt idx="4">
                  <c:v>20</c:v>
                </c:pt>
                <c:pt idx="5">
                  <c:v>46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DOMAIN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acquirer to programmable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control plane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Owning the layer above the payment service provider: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data, the parties, the credentials, the traffic, the decisions and the money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Services  |  Strategy discussion document  |  For decision  |  Internal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J.P. Morgan can be paid above the PSP layer — for data, custody, API calls and the cash cycle — without competing for the volume it carries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Multi-processing is the end-state, not a phase.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merchants keep 2–5 PSPs live by design (redundancy, licensing, M&amp;A estates, leverage); no pricing move reverses it. Competing only for the authorization therefore caps us at a rate conversation on partial visibility.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2532888"/>
            <a:ext cx="105613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642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624328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strategy: own the control plane, not the transaction.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products across five rungs — data &amp; identity, credentials, traffic, decisions, funds — each independently sellable, each lowering the cost of selling the next; rung 5 sells to treasurers on a parallel track.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465576"/>
            <a:ext cx="105613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75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3557016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Neutrality is financeable, not just principled.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of six revenue lines price independently of interchange and are earned whether or not we authorize. Only decisioning (05) competes for the transaction itself.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4398264"/>
            <a:ext cx="105613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07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4489704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and Adyen cannot follow without self-harm.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competes with every venue it forwards to and rents its banking; Adyen optimizes only its own platform. Neither can say: 'keep your other processors — and still have your currency and payouts optimized.'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5330952"/>
            <a:ext cx="105613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5422392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binding risks are internal, and both are decidable.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proxy P&amp;L conflict and a developer experience of 3.1 vs Stripe's 4.8 dominate every external threat. Six decisions and five separately fundable gates convert the strategy into a controllable program.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Payment Domain Platform strategy document (internal)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merchants run two to five processors by design — a strategy premised on consolidation is built on a premise the market does not support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221284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Multi-processing is deliberate and permanent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Redundancy mandates, in-market licensing, acquired-entity estates, and negotiating leverage all reward keeping 2–5 processors live. None responds to price.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3484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34840" y="221284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ends at our own traffic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34840" y="31546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cannot demonstrate — to the merchant or to ourselves — that we outperform an incumbent on comparable volume. No incumbent will produce the comparison. Renewals default to rate.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1874520"/>
            <a:ext cx="0" cy="2926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66760" y="221284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stop at the authorization; the merchant does not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366760" y="31546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merchant's problem continues into settlement currency, corridor cost, funds availability and seller payouts — where the finance function concentrates and we are largely absent.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3880" y="1874520"/>
            <a:ext cx="0" cy="2926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5120640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EEF5F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85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what: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multi-processing as the operating environment and compete for a position within it that does not depend on winning every transaction — the layer that decides where a payment goes, what it costs to get there, and where the money lands.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Payment Domain Platform strategy document, §1 Market position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industry competes for the 200-millisecond authorization — while the merchant's largest costs sit in the days the money takes to land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ms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6868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authorization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36576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every PSP competes: approval rates, gateway features, per-transaction pricing. Crowded, commoditizing, and visible on every invoice.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89320" y="2103120"/>
            <a:ext cx="0" cy="35661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03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658368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36576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currency, double conversion, corridor cost, split payouts, reconciliation. Largely unmanaged, invisible on invoices — and where the treasurer lives.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486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strategy shifts our revenue from the left column to both — paid for the authorization where we win it, and for the cash cycle everywhere.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Payment Domain Platform strategy document, Executive summary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 above the PSP layer as the only party with no structural incentive to misrepresent where a payment should go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103120" y="1783080"/>
            <a:ext cx="79552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0" y="178308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/ PLATFORM ESTATE   —   one integration, three API surfaces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80760" y="2441448"/>
            <a:ext cx="0" cy="34747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88720" y="2788920"/>
            <a:ext cx="9784080" cy="1691640"/>
          </a:xfrm>
          <a:prstGeom prst="roundRect">
            <a:avLst>
              <a:gd name="adj" fmla="val 3243"/>
            </a:avLst>
          </a:prstGeom>
          <a:solidFill>
            <a:srgbClr val="006A4D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90779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PROGRAMMABLE PAYMENT CONTROL PLANE  (J.P. MORGAN)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81328" y="3310128"/>
            <a:ext cx="1444752" cy="960120"/>
          </a:xfrm>
          <a:prstGeom prst="roundRect">
            <a:avLst>
              <a:gd name="adj" fmla="val 4762"/>
            </a:avLst>
          </a:prstGeom>
          <a:solidFill>
            <a:srgbClr val="0F3D2E"/>
          </a:solidFill>
          <a:ln/>
        </p:spPr>
      </p:sp>
      <p:sp>
        <p:nvSpPr>
          <p:cNvPr id="10" name="Text 8"/>
          <p:cNvSpPr/>
          <p:nvPr/>
        </p:nvSpPr>
        <p:spPr>
          <a:xfrm>
            <a:off x="1481328" y="3310128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Instrument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54096" y="3310128"/>
            <a:ext cx="1444752" cy="960120"/>
          </a:xfrm>
          <a:prstGeom prst="roundRect">
            <a:avLst>
              <a:gd name="adj" fmla="val 4762"/>
            </a:avLst>
          </a:prstGeom>
          <a:solidFill>
            <a:srgbClr val="0F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3054096" y="3310128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Identity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Graph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26864" y="3310128"/>
            <a:ext cx="1444752" cy="960120"/>
          </a:xfrm>
          <a:prstGeom prst="roundRect">
            <a:avLst>
              <a:gd name="adj" fmla="val 4762"/>
            </a:avLst>
          </a:prstGeom>
          <a:solidFill>
            <a:srgbClr val="0F3D2E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864" y="3310128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Vault 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Service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9632" y="3310128"/>
            <a:ext cx="1444752" cy="960120"/>
          </a:xfrm>
          <a:prstGeom prst="roundRect">
            <a:avLst>
              <a:gd name="adj" fmla="val 4762"/>
            </a:avLst>
          </a:prstGeom>
          <a:solidFill>
            <a:srgbClr val="0F3D2E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3310128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Proxy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API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0" y="3310128"/>
            <a:ext cx="1444752" cy="960120"/>
          </a:xfrm>
          <a:prstGeom prst="roundRect">
            <a:avLst>
              <a:gd name="adj" fmla="val 4762"/>
            </a:avLst>
          </a:prstGeom>
          <a:solidFill>
            <a:srgbClr val="0F3D2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3310128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Payment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45168" y="3310128"/>
            <a:ext cx="1444752" cy="960120"/>
          </a:xfrm>
          <a:prstGeom prst="roundRect">
            <a:avLst>
              <a:gd name="adj" fmla="val 4762"/>
            </a:avLst>
          </a:prstGeom>
          <a:solidFill>
            <a:srgbClr val="0F3D2E"/>
          </a:solidFill>
          <a:ln/>
        </p:spPr>
      </p:sp>
      <p:sp>
        <p:nvSpPr>
          <p:cNvPr id="20" name="Text 18"/>
          <p:cNvSpPr/>
          <p:nvPr/>
        </p:nvSpPr>
        <p:spPr>
          <a:xfrm>
            <a:off x="9345168" y="3310128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Funds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77440" y="4480560"/>
            <a:ext cx="0" cy="34747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46320" y="4480560"/>
            <a:ext cx="0" cy="34747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15200" y="4480560"/>
            <a:ext cx="0" cy="34747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84080" y="4480560"/>
            <a:ext cx="0" cy="34747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188720" y="4828032"/>
            <a:ext cx="2304288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0160" y="49377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JPM rails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80160" y="52120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75888" y="4828032"/>
            <a:ext cx="2304288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67328" y="49377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PSP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767328" y="52120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63056" y="4828032"/>
            <a:ext cx="2304288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49377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PSP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54496" y="52120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&amp; forward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50224" y="4828032"/>
            <a:ext cx="2304288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41664" y="49377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/ A2A / RTP rails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741664" y="52120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substitution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venue — including venues we do not authorize, and the far side of every payout — reports into the identity &amp; risk plane and the decision &amp; measurement plane.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Payment Domain Platform strategy document, §6 Architecture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STRATEGY — FIVE RUNGS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products ladder up five rungs: visibility is acquired before volume, and volume before the cash cycle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8105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063240" y="1810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43400" y="1810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MERCHANT GRANTS 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219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2219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identity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63240" y="2240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43400" y="22219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known about the instrument and the parties on both sides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58200" y="222199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Read-only; no processing relationship or PCI burden required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852928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71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063240" y="29900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43400" y="297180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 of the credential across the merchant's entire estate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58200" y="297180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want portability; we obtain the switching cost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602736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216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37216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063240" y="37398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43400" y="372160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a transaction takes to whichever venue executes it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58200" y="372160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integration replaces several; failover becomes configuration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352544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4714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3000" y="44714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063240" y="448970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43400" y="447141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and where each payment is executed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458200" y="447141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pays for itself in approval rate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5102352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522122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43000" y="5221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063240" y="52395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43400" y="522122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currency, corridor cost, where money ultimately lands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458200" y="522122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cost they cannot see and do not manage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5943600"/>
            <a:ext cx="11155680" cy="566928"/>
          </a:xfrm>
          <a:prstGeom prst="roundRect">
            <a:avLst>
              <a:gd name="adj" fmla="val 9677"/>
            </a:avLst>
          </a:prstGeom>
          <a:solidFill>
            <a:srgbClr val="EEF5F1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6035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 note: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5 also stands entirely alone — it is sold to a treasurer with no reference to acquiring and proceeds on a parallel track, not at the end of a queue.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Payment Domain Platform strategy document, §2 The strategy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of six revenue lines price independently of interchange — neutrality is financeable, not merely principled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9476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35240" y="1828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ON ACQUIRING P&amp;L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1828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BPS-FREE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112264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0370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Insights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94760" y="22037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lookup, tiered to subscription floor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35240" y="22037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— read-only; sellable where we process nothing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082528" y="2240280"/>
            <a:ext cx="274320" cy="274320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734056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2549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Risk Graph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28254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score + per entity under monitoring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35240" y="282549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— defensible at premium pricing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082528" y="2862072"/>
            <a:ext cx="274320" cy="274320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355848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4728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as a Service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4760" y="34472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credential + per synchronisation event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35240" y="34472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— revenue scales with the estate, not our share of 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082528" y="3483864"/>
            <a:ext cx="274320" cy="274320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97764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690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&amp; Forward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94760" y="4069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API call + failover service tier (never bps)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635240" y="4069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— forwarded volume earns no interchange either way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082528" y="4105656"/>
            <a:ext cx="274320" cy="274320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599432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69087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Decisioning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94760" y="46908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fee + value share on measured uplift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635240" y="46908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— uplift accrues to whichever venue wins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1082528" y="472744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6A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5221224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531266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Optimization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94760" y="53126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retained; control tier + per payout above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635240" y="53126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on acquiring; presently booked to another LOB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082528" y="5349240"/>
            <a:ext cx="274320" cy="274320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5989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product 05 competes for the transaction itself.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remaining five are paid irrespective of whether we authorize — the commercial construction that lets a bank publish results in which it loses.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Payment Domain Platform strategy document, §8 Commercial model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Declines — not fees — dominate the cross-border cost stack; the largest cost is the one that never appears on an invoice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1 — LANDED CROSS-BORDER COST BY COMPONENT (ILLUSTRATIVE SHARES)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103120"/>
          <a:ext cx="6858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760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Ordering robust across benchmarks; magnitudes are corridor-specific, measured against realised volume in gate G1.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1812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818120" y="2103120"/>
            <a:ext cx="38404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22037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Shaving negotiated fees addresses the smaller problem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818120" y="271576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acceptance gap is worth more than every invoiced line combined.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18120" y="3337560"/>
            <a:ext cx="38404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0" y="34381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In-country acquiring wins twice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818120" y="39502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removes the cross-border premium and raises approval simultaneously.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18120" y="4572000"/>
            <a:ext cx="38404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467258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ledger creates the market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818120" y="518464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Per-transaction decomposition makes the invisible manageable — no procurement team negotiates a line item that does not exist.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Payment Domain Platform strategy document, §4 Cross-border; shares illustrative pending G1 corridor baselining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NEXT SHIFTS ENTER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and agentic commerce enter as dimensions of all six products — not as new products, not as a new strategy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48840" y="1828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EVERY PRODUCT MUST ANSWER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0372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281160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ADDS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130552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04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48840" y="22860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this payment crossing?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22860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281160" y="2286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 the strategy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455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48840" y="31272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which surface did it arrive — store, web, app, wallet, marketplace?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31272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/ unified commerce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81160" y="31272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credential and one data model across every channel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813048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867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48840" y="396849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initiated — a human, or an AI agent acting on a mandate?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396849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commerce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281160" y="39684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identity, mandate custody, protocol adapters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84632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EEF5F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98348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what: 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multi-processing was the founding premise; the operating reality is multi-processing × multi-channel × multi-protocol × multi-initiator. Every multiplication raises the value of the one neutral layer that spans them — and none of it requires a seventh product or a sixth gate.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scope, stated: no agent-platform play, no consumer-facing shopping assistant, no merchant-of-record for agent transactions, and no protocol bet — adapters for every agent-commerce protocol, allegiance to none.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Strategy integration memo §1–3; companion research on omnichannel and agentic commerce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INITIATOR DIMENSION IS WORTH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claims only a neutral bank can make — and both are extensions of arguments the strategy already makes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4068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NEUTRALITY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proxy argument, replayed one layer up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dominant agent-commerce protocol's reference rails are Stripe's — every agent checkout on it is a Stripe checkout.
</a:t>
            </a:r>
            <a:pPr indent="0" marL="0">
              <a:buNone/>
            </a:pPr>
            <a:r>
              <a:rPr lang="en-US" sz="1150" b="1" i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merchant cannot ask the agent-rail provider whether agent traffic should route somewhere cheaper.”
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the only participant who can be paid on agent traffic without owning the agent platform, the protocol, or the processor that executes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440680" cy="3840480"/>
          </a:xfrm>
          <a:prstGeom prst="roundRect">
            <a:avLst>
              <a:gd name="adj" fmla="val 1429"/>
            </a:avLst>
          </a:prstGeom>
          <a:solidFill>
            <a:srgbClr val="006A4D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F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AGENT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unclaimed, bank-shaped market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0" y="288036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binding constraint on agentic commerce is trust and liability, not checkout mechanics — a new party now sits inside a liability model built for two.
</a:t>
            </a:r>
            <a:pPr indent="0" marL="0">
              <a:buNone/>
            </a:pPr>
            <a:r>
              <a:rPr lang="en-US" sz="1150" dirty="0">
                <a:solidFill>
                  <a:srgbClr val="D6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identity, mandate verification and scope monitoring are an identity-graph problem, and nobody owns the cross-merchant, cross-protocol agent reputation layer.
</a:t>
            </a:r>
            <a:pPr indent="0" marL="0">
              <a:buNone/>
            </a:pPr>
            <a:r>
              <a:rPr lang="en-US" sz="1150" dirty="0">
                <a:solidFill>
                  <a:srgbClr val="D6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enter our graph as the next participant class — so this proceeds without reopening the consumer-scope decision.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execution record the control plane already builds — every mandate, decision and policy binding, reconstructable afterwards — is the liability evidence infrastructure the industry is waiting for.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Strategy integration memo §2; competitive pressure test Scenario 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 &amp; CHANNEL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roadmap has two customers, not four: enterprises buy directly, and platforms buy on behalf of everyone else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— DIRECT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products reach four functions — product, risk, engineering, treasury — inside a single account.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independent budget lines mean no single procurement gate can terminate the whole programme: six ways into an account, not six strategies.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0760" y="1874520"/>
            <a:ext cx="0" cy="38404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— EMBEDDED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55080" y="2240280"/>
            <a:ext cx="5303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platform collects in many currencies and pays out in many — and its sub-merchant payout book is its natural netting counterparty.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makes platforms the strongest netting counterparty in the market, currently unserved. We do not need thousands of mid-market merchants; we need a few hundred platforms.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521208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EEF5F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37667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Liability model determines the treasury customer: 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hold funds we optimize for the sub-merchant; where the platform holds funds, the platform is the client and its sub-merchant book is its payables problem.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Payment Domain Platform strategy document, §5 Segments and channel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Stripe nor Adyen can follow without breaking its own business model — the distinction is structural, not functional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847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949440" y="1847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1847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ADYEN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38360" y="1847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J.P. MORGAN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1226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experience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35000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4.8 (Stripe) vs 3.1 (JPM) — our gating dependency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51776" y="2194560"/>
            <a:ext cx="292608" cy="292608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14816" y="2194560"/>
            <a:ext cx="292608" cy="292608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2183587"/>
            <a:ext cx="164592" cy="3145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814816" y="2194560"/>
            <a:ext cx="292608" cy="29260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0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77856" y="2194560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60604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6090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Cross-PSP population visibility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28986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carrying traffic you do not monetize in bps — via the proxy (04)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51776" y="2743200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14816" y="2743200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77856" y="2743200"/>
            <a:ext cx="292608" cy="292608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15468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095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cross-PSP measurement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344728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PSP publishing matched comparisons indicts itself; requires the neutral seat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51776" y="3291840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14816" y="3291840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77856" y="3291840"/>
            <a:ext cx="292608" cy="292608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70332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75818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sync toward competitors' vaults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39959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a PSP's switching-cost logic; ours pending network clearance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51776" y="3840480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6A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14816" y="3840480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6A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77856" y="3840480"/>
            <a:ext cx="292608" cy="292608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24160" y="3829507"/>
            <a:ext cx="164592" cy="3145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77856" y="3840480"/>
            <a:ext cx="292608" cy="29260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06A4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25196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30682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banking, licences &amp; balance sheet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" y="454456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rents via partner banks; Adyen holds an EU licence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51776" y="4389120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6A4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14816" y="4389120"/>
            <a:ext cx="292608" cy="292608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61120" y="4378147"/>
            <a:ext cx="164592" cy="3145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8814816" y="4389120"/>
            <a:ext cx="292608" cy="29260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06A4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277856" y="4389120"/>
            <a:ext cx="292608" cy="292608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" y="480060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85546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Estate-wide funds optimization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02920" y="509320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Adyen credible — but only for volume residing on Adyen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351776" y="4937760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6A4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14816" y="4937760"/>
            <a:ext cx="292608" cy="292608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61120" y="4926787"/>
            <a:ext cx="164592" cy="3145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8814816" y="4937760"/>
            <a:ext cx="292608" cy="29260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06A4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277856" y="4937760"/>
            <a:ext cx="292608" cy="292608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" y="534924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540410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agent-traffic routing &amp; KYA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02920" y="56418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agent-rail provider is itself a processor; network agent directories are per-programme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351776" y="5486400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6A4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14816" y="5486400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6A4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277856" y="5486400"/>
            <a:ext cx="292608" cy="292608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60533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sentence unavailable to both competitors:  </a:t>
            </a:r>
            <a:pPr indent="0" marL="0">
              <a:buNone/>
            </a:pPr>
            <a:r>
              <a:rPr lang="en-US" sz="1150" b="1" i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“Keep your other processors — and still have your currency and payouts optimized.”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0292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Payment Domain Platform strategy document, §7 Competitive position. Harvey balls: full = structural strength; half = partial / conditional; empty = structurally unavailable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2745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TEST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holds where it matters — data, measurement, funds; plumbing is conceded, and the binding risks are internal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ERODIBLE WITHIN 24 MONTHS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212140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 signal joined to acquiring scale (01)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368296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both books — nobody else holds them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67004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 graph incl. payout side (02)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916936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with time; not closed by shipping a feature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21868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cross-PSP measurement (05)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465576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PSP publishing it indicts itself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76732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Balance-sheet funds optimization (06)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4014216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Licences, FX desk, clearing membership are decade assets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1596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Cross-protocol agent identity &amp; KYA (02)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562856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agent directories are per-programme; ours is cross-merchant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874520"/>
            <a:ext cx="0" cy="32918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874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ERODIBLE — AND ALREADY CONCEDED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22402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plumbing (04).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is replicable and will be bundled free to defend volume — by Stripe, Adyen, neutral orchestrators and in-house builds alike. The plumbing was never the prize: it is the delivery mechanism for the evidence (05) and the money (06).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5074920"/>
            <a:ext cx="11155680" cy="1143000"/>
          </a:xfrm>
          <a:prstGeom prst="roundRect">
            <a:avLst>
              <a:gd name="adj" fmla="val 4800"/>
            </a:avLst>
          </a:prstGeom>
          <a:solidFill>
            <a:srgbClr val="FDF6EC"/>
          </a:solidFill>
          <a:ln w="12700">
            <a:solidFill>
              <a:srgbClr val="D9A6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23036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failure modes that dominate every external scenario are internal: 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the P&amp;L conflict — the proxy carries volume our own processing P&amp;L would prefer to authorize; (2) developer experience at 3.1 vs Stripe's 4.8, the delivery surface for all six products. Both are answered by the decisions overleaf, or the strategy should not be funded.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Competitive pressure test (companion document): 7 attack scenarios, 24-month defensibility verdict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ASKS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decisions convert the strategy into a controllable program — the first three do not reverse easily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20640" y="17830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87000" y="1783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8483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the neutral-layer position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20640" y="209397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and enrich traffic we do not authorize; publish results including our own losses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287000" y="210312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forum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578608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517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67004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identity-graph scope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20640" y="266090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 first; consumer-side resolution gated behind written FCRA / ECOA / privacy opinion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287000" y="267004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forum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145536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1868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3236976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cross-LOB revenue attribution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0" y="322783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client, owned above Merchant Services — without it, product 06 fails its first pricing review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287000" y="323697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712464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856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3803904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the first gate + parallel funds track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20640" y="379476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Insights, vault read API, participant graph; plus funds optimization (no proxy dependency)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287000" y="380390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forum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4279392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35254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43000" y="4370832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legal &amp; network opinions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20640" y="436168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portability; money transmission &amp; safeguarding by corridor; attribute redistribution; balance-sheet treatment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287000" y="437083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484632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9194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43000" y="493776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developer experience as gating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20640" y="492861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remediation on the same clock as the first gate, not behind 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287000" y="493776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forum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5413248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54864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43000" y="550468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the initiator dimension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20640" y="549554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enter the participant graph; mandate custody enters the vault, under the existing purpose limitation. Protocol neutrality affirmed: adapters for all, bets on none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287000" y="550468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forum  (new)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 items are decided above this forum — but this forum holds the gate: the second horizon does not begin until they resolve.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292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Payment Domain Platform strategy document, §10 Next steps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separately fundable, separately terminable gates — G1 and G5 start in parallel, and a failure at any gate strands nothing behind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ACQUIRING TRACK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2487168" cy="1600200"/>
          </a:xfrm>
          <a:prstGeom prst="roundRect">
            <a:avLst>
              <a:gd name="adj" fmla="val 3429"/>
            </a:avLst>
          </a:prstGeom>
          <a:solidFill>
            <a:srgbClr val="006A4D"/>
          </a:solidFill>
          <a:ln w="15875">
            <a:solidFill>
              <a:srgbClr val="00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 ·  Prove the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2" y="2788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insights contract where we are not the primary processor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90088" y="3035808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55848" y="2240280"/>
            <a:ext cx="248716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 ·  Prove custody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2788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vaults in one estate holding consistent credential state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43016" y="3035808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08776" y="2240280"/>
            <a:ext cx="248716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 ·  Prove the path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73368" y="2788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Forwarded volume at production scale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95944" y="3035808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61704" y="2240280"/>
            <a:ext cx="248716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26296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  ·  Prove the lift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26296" y="2788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segment shifted on evidence rather than price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TRACK — PARALLEL, NO PROXY DEPENDENCY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48056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006A4D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G5  ·  Prove the money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" y="501091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currency selection &amp; netting; rate lock &amp; forward pricing; split allocation &amp; payout rail selection; one reconciled ledger. Exit: measured reduction in a merchant's landed cross-border cost.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448056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EEF5F1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commitment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501091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one element is funded: corridor acceptance and the cost ledger. No licence, no balance sheet, no pricing change, no internal conflict — and it produces the corridor data every subsequent rung depends on.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126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investment figure is carried in this document by design: the funding paper follows the first gate's measured corridor and portfolio economics, not assertion.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Payment Domain Platform strategy document, §10.2 Delivery sequence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POSITION WE ARE ASKING LEADERSHIP TO ENDORSE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layer that decides where a payment goes, what it costs to get there, and where the money lands — and be the only party in the merchant's stack with no structural incentive to misrepresent the answer.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4663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Neutrality is credible for us and unavailable to our competitors, because we can be paid without carrying the volume.
</a:t>
            </a:r>
            <a:pPr indent="0" marL="0">
              <a:buNone/>
            </a:pPr>
            <a:r>
              <a:rPr lang="en-US" sz="1500" b="1" dirty="0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action: fund corridor acceptance and the cost ledger, and take decisions 1–7.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Services · Payment Domain Platform · Internal · For 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2026-08-13T14:18:21Z</dcterms:created>
  <dcterms:modified xsi:type="dcterms:W3CDTF">2026-08-13T14:18:21Z</dcterms:modified>
</cp:coreProperties>
</file>