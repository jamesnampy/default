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BF3F1F88-1B7F-4205-BE52-D56C324CFBA6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INVESTMENT CASE</a:t>
            </a: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AE0F799E-7601-4899-8715-3DD14928A097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7429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40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Build the Payments Decision Platform</a:t>
            </a:r>
          </a:p>
        </p:txBody>
      </p:sp>
      <p:sp>
        <p:nvSpPr>
          <p:cNvPr id="3" name="deck-subtitle">
            <a:extLst>
              <a:ext uri="{FF2B5EF4-FFF2-40B4-BE49-F238E27FC236}">
                <a16:creationId xmlns:a16="http://schemas.microsoft.com/office/drawing/2014/main" id="{9FAA0135-0275-445E-958E-E333C340742F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7429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8E5EC"/>
                </a:solidFill>
                <a:latin typeface="AmplitudeTF"/>
                <a:ea typeface="AmplitudeTF"/>
                <a:cs typeface="AmplitudeTF"/>
              </a:defRPr>
            </a:pPr>
            <a:r>
              <a:rPr sz="1800" b="0">
                <a:solidFill>
                  <a:srgbClr val="D8E5EC"/>
                </a:solidFill>
                <a:latin typeface="AmplitudeTF"/>
                <a:ea typeface="AmplitudeTF"/>
                <a:cs typeface="AmplitudeTF"/>
              </a:rPr>
              <a:t>Turn static payment processing into a continuously optimized, measurable and monetizable capability.</a:t>
            </a:r>
          </a:p>
        </p:txBody>
      </p:sp>
      <p:sp>
        <p:nvSpPr>
          <p:cNvPr id="4" name="thesis-band">
            <a:extLst>
              <a:ext uri="{FF2B5EF4-FFF2-40B4-BE49-F238E27FC236}">
                <a16:creationId xmlns:a16="http://schemas.microsoft.com/office/drawing/2014/main" id="{AA2B50D1-7C19-4D98-B1C8-AD02F191A60E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hesis-label">
            <a:extLst>
              <a:ext uri="{FF2B5EF4-FFF2-40B4-BE49-F238E27FC236}">
                <a16:creationId xmlns:a16="http://schemas.microsoft.com/office/drawing/2014/main" id="{7828665A-E4BA-444B-983A-2832427E6D56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THE DECISION</a:t>
            </a:r>
          </a:p>
        </p:txBody>
      </p:sp>
      <p:sp>
        <p:nvSpPr>
          <p:cNvPr id="6" name="thesis-copy">
            <a:extLst>
              <a:ext uri="{FF2B5EF4-FFF2-40B4-BE49-F238E27FC236}">
                <a16:creationId xmlns:a16="http://schemas.microsoft.com/office/drawing/2014/main" id="{26CEFE19-A2E3-4A60-8499-7D10F36137C2}"/>
              </a:ext>
            </a:extLst>
          </p:cNvPr>
          <p:cNvSpPr>
            <a:spLocks noGrp="1"/>
          </p:cNvSpPr>
          <p:nvPr/>
        </p:nvSpPr>
        <p:spPr>
          <a:xfrm>
            <a:off x="933450" y="44767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Approve a phased investment in the common orchestration and experimentation platform that powers payment optimization.</a:t>
            </a:r>
          </a:p>
        </p:txBody>
      </p:sp>
      <p:sp>
        <p:nvSpPr>
          <p:cNvPr id="7" name="outcome-0">
            <a:extLst>
              <a:ext uri="{FF2B5EF4-FFF2-40B4-BE49-F238E27FC236}">
                <a16:creationId xmlns:a16="http://schemas.microsoft.com/office/drawing/2014/main" id="{6DB1DDB1-51A6-4A53-B54E-CDA6DEAA1C0D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3200400" cy="781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utcome-h-0">
            <a:extLst>
              <a:ext uri="{FF2B5EF4-FFF2-40B4-BE49-F238E27FC236}">
                <a16:creationId xmlns:a16="http://schemas.microsoft.com/office/drawing/2014/main" id="{78BCBD84-46BF-4802-8821-33837AE121BC}"/>
              </a:ext>
            </a:extLst>
          </p:cNvPr>
          <p:cNvSpPr>
            <a:spLocks noGrp="1"/>
          </p:cNvSpPr>
          <p:nvPr/>
        </p:nvSpPr>
        <p:spPr>
          <a:xfrm>
            <a:off x="8572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Merchant value</a:t>
            </a:r>
          </a:p>
        </p:txBody>
      </p:sp>
      <p:sp>
        <p:nvSpPr>
          <p:cNvPr id="9" name="outcome-b-0">
            <a:extLst>
              <a:ext uri="{FF2B5EF4-FFF2-40B4-BE49-F238E27FC236}">
                <a16:creationId xmlns:a16="http://schemas.microsoft.com/office/drawing/2014/main" id="{14D6F4DB-40CE-4C39-ACEA-35F57C1E311C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Higher approvals, lower payment cost and stronger resilience</a:t>
            </a:r>
          </a:p>
        </p:txBody>
      </p:sp>
      <p:sp>
        <p:nvSpPr>
          <p:cNvPr id="10" name="outcome-1">
            <a:extLst>
              <a:ext uri="{FF2B5EF4-FFF2-40B4-BE49-F238E27FC236}">
                <a16:creationId xmlns:a16="http://schemas.microsoft.com/office/drawing/2014/main" id="{9015EFD4-F4AF-43D5-92E6-599F98324FAA}"/>
              </a:ext>
            </a:extLst>
          </p:cNvPr>
          <p:cNvSpPr>
            <a:spLocks noGrp="1"/>
          </p:cNvSpPr>
          <p:nvPr/>
        </p:nvSpPr>
        <p:spPr>
          <a:xfrm>
            <a:off x="4305300" y="5391150"/>
            <a:ext cx="3200400" cy="7810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utcome-h-1">
            <a:extLst>
              <a:ext uri="{FF2B5EF4-FFF2-40B4-BE49-F238E27FC236}">
                <a16:creationId xmlns:a16="http://schemas.microsoft.com/office/drawing/2014/main" id="{ACDB93E9-35E5-421C-B84F-37D50CF0009C}"/>
              </a:ext>
            </a:extLst>
          </p:cNvPr>
          <p:cNvSpPr>
            <a:spLocks noGrp="1"/>
          </p:cNvSpPr>
          <p:nvPr/>
        </p:nvSpPr>
        <p:spPr>
          <a:xfrm>
            <a:off x="44767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Enterprise leverage</a:t>
            </a:r>
          </a:p>
        </p:txBody>
      </p:sp>
      <p:sp>
        <p:nvSpPr>
          <p:cNvPr id="12" name="outcome-b-1">
            <a:extLst>
              <a:ext uri="{FF2B5EF4-FFF2-40B4-BE49-F238E27FC236}">
                <a16:creationId xmlns:a16="http://schemas.microsoft.com/office/drawing/2014/main" id="{E9C63F4F-03CC-4DE2-8FF3-7662C344D944}"/>
              </a:ext>
            </a:extLst>
          </p:cNvPr>
          <p:cNvSpPr>
            <a:spLocks noGrp="1"/>
          </p:cNvSpPr>
          <p:nvPr/>
        </p:nvSpPr>
        <p:spPr>
          <a:xfrm>
            <a:off x="44767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Faster strategy launches with reuse across optimization products</a:t>
            </a:r>
          </a:p>
        </p:txBody>
      </p:sp>
      <p:sp>
        <p:nvSpPr>
          <p:cNvPr id="13" name="outcome-2">
            <a:extLst>
              <a:ext uri="{FF2B5EF4-FFF2-40B4-BE49-F238E27FC236}">
                <a16:creationId xmlns:a16="http://schemas.microsoft.com/office/drawing/2014/main" id="{3E956CD3-4A08-4811-B58B-9131353E63D8}"/>
              </a:ext>
            </a:extLst>
          </p:cNvPr>
          <p:cNvSpPr>
            <a:spLocks noGrp="1"/>
          </p:cNvSpPr>
          <p:nvPr/>
        </p:nvSpPr>
        <p:spPr>
          <a:xfrm>
            <a:off x="7924800" y="5391150"/>
            <a:ext cx="3200400" cy="781050"/>
          </a:xfrm>
          <a:prstGeom prst="rect">
            <a:avLst/>
          </a:prstGeom>
          <a:solidFill>
            <a:srgbClr val="BFE7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utcome-h-2">
            <a:extLst>
              <a:ext uri="{FF2B5EF4-FFF2-40B4-BE49-F238E27FC236}">
                <a16:creationId xmlns:a16="http://schemas.microsoft.com/office/drawing/2014/main" id="{4E098E85-154F-4B38-9526-1A3102B32D99}"/>
              </a:ext>
            </a:extLst>
          </p:cNvPr>
          <p:cNvSpPr>
            <a:spLocks noGrp="1"/>
          </p:cNvSpPr>
          <p:nvPr/>
        </p:nvSpPr>
        <p:spPr>
          <a:xfrm>
            <a:off x="80962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Commercial growth</a:t>
            </a:r>
          </a:p>
        </p:txBody>
      </p:sp>
      <p:sp>
        <p:nvSpPr>
          <p:cNvPr id="15" name="outcome-b-2">
            <a:extLst>
              <a:ext uri="{FF2B5EF4-FFF2-40B4-BE49-F238E27FC236}">
                <a16:creationId xmlns:a16="http://schemas.microsoft.com/office/drawing/2014/main" id="{A7F2B884-C197-425D-9B9F-8817633CB6C7}"/>
              </a:ext>
            </a:extLst>
          </p:cNvPr>
          <p:cNvSpPr>
            <a:spLocks noGrp="1"/>
          </p:cNvSpPr>
          <p:nvPr/>
        </p:nvSpPr>
        <p:spPr>
          <a:xfrm>
            <a:off x="80962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Measurable premium services with usage- or outcome-based pricing</a:t>
            </a:r>
          </a:p>
        </p:txBody>
      </p:sp>
      <p:sp>
        <p:nvSpPr>
          <p:cNvPr id="16" name="page-1">
            <a:extLst>
              <a:ext uri="{FF2B5EF4-FFF2-40B4-BE49-F238E27FC236}">
                <a16:creationId xmlns:a16="http://schemas.microsoft.com/office/drawing/2014/main" id="{1695DB7C-5F93-4F14-AB8A-E367EEA79AEE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A9BCC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A9BCC8"/>
                </a:solidFill>
                <a:latin typeface="AmplitudeTF"/>
                <a:ea typeface="AmplitudeTF"/>
                <a:cs typeface="AmplitudeTF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009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2">
            <a:extLst>
              <a:ext uri="{FF2B5EF4-FFF2-40B4-BE49-F238E27FC236}">
                <a16:creationId xmlns:a16="http://schemas.microsoft.com/office/drawing/2014/main" id="{F676C0CF-466E-41F9-82CC-112187BCF6C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WHY CHANGE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807F1746-A8FD-4CAF-AB49-A1D9ECADA94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The gateway executes transactions—but cannot optimize at market speed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664E454A-C594-45A0-86E8-B0FCABA501C0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62CB7050-A653-4E86-BB37-8BD9CCBE4B36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02</a:t>
            </a:r>
          </a:p>
        </p:txBody>
      </p:sp>
      <p:sp>
        <p:nvSpPr>
          <p:cNvPr id="5" name="constraint-1">
            <a:extLst>
              <a:ext uri="{FF2B5EF4-FFF2-40B4-BE49-F238E27FC236}">
                <a16:creationId xmlns:a16="http://schemas.microsoft.com/office/drawing/2014/main" id="{4AD6116E-7E4D-4496-A59D-9D631DABB60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nstraint-1-accent">
            <a:extLst>
              <a:ext uri="{FF2B5EF4-FFF2-40B4-BE49-F238E27FC236}">
                <a16:creationId xmlns:a16="http://schemas.microsoft.com/office/drawing/2014/main" id="{63AA79D1-3D6A-464E-93DF-CC8A4BABF3D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6200" cy="25717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straint-1-heading">
            <a:extLst>
              <a:ext uri="{FF2B5EF4-FFF2-40B4-BE49-F238E27FC236}">
                <a16:creationId xmlns:a16="http://schemas.microsoft.com/office/drawing/2014/main" id="{66148A60-04B1-465B-941F-EAB1EA5ED8F1}"/>
              </a:ext>
            </a:extLst>
          </p:cNvPr>
          <p:cNvSpPr>
            <a:spLocks noGrp="1"/>
          </p:cNvSpPr>
          <p:nvPr/>
        </p:nvSpPr>
        <p:spPr>
          <a:xfrm>
            <a:off x="95250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Decisions are embedded in code</a:t>
            </a:r>
          </a:p>
        </p:txBody>
      </p:sp>
      <p:sp>
        <p:nvSpPr>
          <p:cNvPr id="8" name="constraint-1-body">
            <a:extLst>
              <a:ext uri="{FF2B5EF4-FFF2-40B4-BE49-F238E27FC236}">
                <a16:creationId xmlns:a16="http://schemas.microsoft.com/office/drawing/2014/main" id="{68120D31-562A-45A3-BF84-735965C70FE1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Optimization logic is tied to shared payment flows. Strategy changes require engineering releases and cannot be deployed independently.</a:t>
            </a:r>
          </a:p>
        </p:txBody>
      </p:sp>
      <p:sp>
        <p:nvSpPr>
          <p:cNvPr id="9" name="constraint-2">
            <a:extLst>
              <a:ext uri="{FF2B5EF4-FFF2-40B4-BE49-F238E27FC236}">
                <a16:creationId xmlns:a16="http://schemas.microsoft.com/office/drawing/2014/main" id="{AB95EB1D-A28A-4A89-99B4-9183E7B37431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straint-2-accent">
            <a:extLst>
              <a:ext uri="{FF2B5EF4-FFF2-40B4-BE49-F238E27FC236}">
                <a16:creationId xmlns:a16="http://schemas.microsoft.com/office/drawing/2014/main" id="{3D15C42E-1067-44F3-878A-AEB297998FBC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76200" cy="25717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straint-2-heading">
            <a:extLst>
              <a:ext uri="{FF2B5EF4-FFF2-40B4-BE49-F238E27FC236}">
                <a16:creationId xmlns:a16="http://schemas.microsoft.com/office/drawing/2014/main" id="{0188E4FC-A732-458D-9AC0-9F4C5378520E}"/>
              </a:ext>
            </a:extLst>
          </p:cNvPr>
          <p:cNvSpPr>
            <a:spLocks noGrp="1"/>
          </p:cNvSpPr>
          <p:nvPr/>
        </p:nvSpPr>
        <p:spPr>
          <a:xfrm>
            <a:off x="470535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Experimentation is fragmented</a:t>
            </a:r>
          </a:p>
        </p:txBody>
      </p:sp>
      <p:sp>
        <p:nvSpPr>
          <p:cNvPr id="12" name="constraint-2-body">
            <a:extLst>
              <a:ext uri="{FF2B5EF4-FFF2-40B4-BE49-F238E27FC236}">
                <a16:creationId xmlns:a16="http://schemas.microsoft.com/office/drawing/2014/main" id="{66D8BF87-7EDA-4ADE-8813-702149393985}"/>
              </a:ext>
            </a:extLst>
          </p:cNvPr>
          <p:cNvSpPr>
            <a:spLocks noGrp="1"/>
          </p:cNvSpPr>
          <p:nvPr/>
        </p:nvSpPr>
        <p:spPr>
          <a:xfrm>
            <a:off x="470535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Traffic allocation, control groups and performance measurement are inconsistent—limiting safe rollout and causal learning.</a:t>
            </a:r>
          </a:p>
        </p:txBody>
      </p:sp>
      <p:sp>
        <p:nvSpPr>
          <p:cNvPr id="13" name="constraint-3">
            <a:extLst>
              <a:ext uri="{FF2B5EF4-FFF2-40B4-BE49-F238E27FC236}">
                <a16:creationId xmlns:a16="http://schemas.microsoft.com/office/drawing/2014/main" id="{2281553A-E5D9-4AF1-974C-77E72CB943CE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onstraint-3-accent">
            <a:extLst>
              <a:ext uri="{FF2B5EF4-FFF2-40B4-BE49-F238E27FC236}">
                <a16:creationId xmlns:a16="http://schemas.microsoft.com/office/drawing/2014/main" id="{D3A5DC71-B30B-46A7-A656-347C630F2C75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76200" cy="2571750"/>
          </a:xfrm>
          <a:prstGeom prst="rect">
            <a:avLst/>
          </a:prstGeom>
          <a:solidFill>
            <a:srgbClr val="4E7C8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nstraint-3-heading">
            <a:extLst>
              <a:ext uri="{FF2B5EF4-FFF2-40B4-BE49-F238E27FC236}">
                <a16:creationId xmlns:a16="http://schemas.microsoft.com/office/drawing/2014/main" id="{BD46C561-1B06-457C-8EC6-66D27D562901}"/>
              </a:ext>
            </a:extLst>
          </p:cNvPr>
          <p:cNvSpPr>
            <a:spLocks noGrp="1"/>
          </p:cNvSpPr>
          <p:nvPr/>
        </p:nvSpPr>
        <p:spPr>
          <a:xfrm>
            <a:off x="845820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Every use case becomes bespoke</a:t>
            </a:r>
          </a:p>
        </p:txBody>
      </p:sp>
      <p:sp>
        <p:nvSpPr>
          <p:cNvPr id="16" name="constraint-3-body">
            <a:extLst>
              <a:ext uri="{FF2B5EF4-FFF2-40B4-BE49-F238E27FC236}">
                <a16:creationId xmlns:a16="http://schemas.microsoft.com/office/drawing/2014/main" id="{CCBE5B12-4D5B-40A3-AE27-2FA980E0EA1B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Each optimization adds lead time, change risk and duplicate build effort. Value is harder to prove, price and scale.</a:t>
            </a:r>
          </a:p>
        </p:txBody>
      </p:sp>
      <p:sp>
        <p:nvSpPr>
          <p:cNvPr id="17" name="consequence">
            <a:extLst>
              <a:ext uri="{FF2B5EF4-FFF2-40B4-BE49-F238E27FC236}">
                <a16:creationId xmlns:a16="http://schemas.microsoft.com/office/drawing/2014/main" id="{088EA445-E498-4A4F-B750-CA1C447ACE2B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1104900"/>
          </a:xfrm>
          <a:prstGeom prst="roundRect">
            <a:avLst>
              <a:gd name="adj" fmla="val 6897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onsequence-label">
            <a:extLst>
              <a:ext uri="{FF2B5EF4-FFF2-40B4-BE49-F238E27FC236}">
                <a16:creationId xmlns:a16="http://schemas.microsoft.com/office/drawing/2014/main" id="{1F911FE0-311B-4B22-8D60-6D8B93458FD6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BUSINESS CONSEQUENCE</a:t>
            </a:r>
          </a:p>
        </p:txBody>
      </p:sp>
      <p:sp>
        <p:nvSpPr>
          <p:cNvPr id="19" name="consequence-copy">
            <a:extLst>
              <a:ext uri="{FF2B5EF4-FFF2-40B4-BE49-F238E27FC236}">
                <a16:creationId xmlns:a16="http://schemas.microsoft.com/office/drawing/2014/main" id="{95412D28-E438-4CD4-B920-3D95468F5316}"/>
              </a:ext>
            </a:extLst>
          </p:cNvPr>
          <p:cNvSpPr>
            <a:spLocks noGrp="1"/>
          </p:cNvSpPr>
          <p:nvPr/>
        </p:nvSpPr>
        <p:spPr>
          <a:xfrm>
            <a:off x="933450" y="5267325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The constraint is not a shortage of optimization ideas—it is the absence of a common layer to deploy, measure and scale them safely.</a:t>
            </a:r>
          </a:p>
        </p:txBody>
      </p:sp>
    </p:spTree>
    <p:extLst>
      <p:ext uri="{BB962C8B-B14F-4D97-AF65-F5344CB8AC3E}">
        <p14:creationId xmlns:p14="http://schemas.microsoft.com/office/powerpoint/2010/main" val="178219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-3">
            <a:extLst>
              <a:ext uri="{FF2B5EF4-FFF2-40B4-BE49-F238E27FC236}">
                <a16:creationId xmlns:a16="http://schemas.microsoft.com/office/drawing/2014/main" id="{9D9422F6-DEFC-4ECD-8C2E-8315C34A070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VALUE UNLOCKED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A7BF5A8-00EC-4785-875B-9D2A2F04D14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One platform unlocks a portfolio of payment optimization products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38BCE0F9-1466-4645-B3B1-34B64E69317D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2A26D293-2F4C-4E03-8A24-443C6EBE5457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03</a:t>
            </a:r>
          </a:p>
        </p:txBody>
      </p:sp>
      <p:sp>
        <p:nvSpPr>
          <p:cNvPr id="5" name="pool-0">
            <a:extLst>
              <a:ext uri="{FF2B5EF4-FFF2-40B4-BE49-F238E27FC236}">
                <a16:creationId xmlns:a16="http://schemas.microsoft.com/office/drawing/2014/main" id="{46827B20-D12A-4824-9F86-9DC520B8A21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381250" cy="331470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ol-top-0">
            <a:extLst>
              <a:ext uri="{FF2B5EF4-FFF2-40B4-BE49-F238E27FC236}">
                <a16:creationId xmlns:a16="http://schemas.microsoft.com/office/drawing/2014/main" id="{DF5151BF-A026-49FE-B808-1434BCF8B12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381250" cy="952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ol-label-0">
            <a:extLst>
              <a:ext uri="{FF2B5EF4-FFF2-40B4-BE49-F238E27FC236}">
                <a16:creationId xmlns:a16="http://schemas.microsoft.com/office/drawing/2014/main" id="{E20F4293-341A-41CE-8266-19935B299039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APPROVAL + REVENUE</a:t>
            </a:r>
          </a:p>
        </p:txBody>
      </p:sp>
      <p:sp>
        <p:nvSpPr>
          <p:cNvPr id="8" name="pool-head-0">
            <a:extLst>
              <a:ext uri="{FF2B5EF4-FFF2-40B4-BE49-F238E27FC236}">
                <a16:creationId xmlns:a16="http://schemas.microsoft.com/office/drawing/2014/main" id="{37F0B9B5-994C-4086-AF54-AC1AD3627A0A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Recover more good payments</a:t>
            </a:r>
          </a:p>
        </p:txBody>
      </p:sp>
      <p:sp>
        <p:nvSpPr>
          <p:cNvPr id="9" name="pool-items-0">
            <a:extLst>
              <a:ext uri="{FF2B5EF4-FFF2-40B4-BE49-F238E27FC236}">
                <a16:creationId xmlns:a16="http://schemas.microsoft.com/office/drawing/2014/main" id="{C16B2B28-50AD-4E14-AFDC-2CEA969AD11D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2000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Smart retries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Authentication optimization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Message augmentation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Intelligent routing</a:t>
            </a:r>
          </a:p>
        </p:txBody>
      </p:sp>
      <p:sp>
        <p:nvSpPr>
          <p:cNvPr id="10" name="pool-1">
            <a:extLst>
              <a:ext uri="{FF2B5EF4-FFF2-40B4-BE49-F238E27FC236}">
                <a16:creationId xmlns:a16="http://schemas.microsoft.com/office/drawing/2014/main" id="{26ED857A-A4D4-4E11-9073-6F7BFC6E05F2}"/>
              </a:ext>
            </a:extLst>
          </p:cNvPr>
          <p:cNvSpPr>
            <a:spLocks noGrp="1"/>
          </p:cNvSpPr>
          <p:nvPr/>
        </p:nvSpPr>
        <p:spPr>
          <a:xfrm>
            <a:off x="3409950" y="1809750"/>
            <a:ext cx="2381250" cy="331470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ol-top-1">
            <a:extLst>
              <a:ext uri="{FF2B5EF4-FFF2-40B4-BE49-F238E27FC236}">
                <a16:creationId xmlns:a16="http://schemas.microsoft.com/office/drawing/2014/main" id="{C54B074F-F66C-4212-986E-E6DC18ABAAB2}"/>
              </a:ext>
            </a:extLst>
          </p:cNvPr>
          <p:cNvSpPr>
            <a:spLocks noGrp="1"/>
          </p:cNvSpPr>
          <p:nvPr/>
        </p:nvSpPr>
        <p:spPr>
          <a:xfrm>
            <a:off x="3409950" y="1809750"/>
            <a:ext cx="2381250" cy="952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ol-label-1">
            <a:extLst>
              <a:ext uri="{FF2B5EF4-FFF2-40B4-BE49-F238E27FC236}">
                <a16:creationId xmlns:a16="http://schemas.microsoft.com/office/drawing/2014/main" id="{73531206-C8E7-4C14-9DCA-EDCC89809CB0}"/>
              </a:ext>
            </a:extLst>
          </p:cNvPr>
          <p:cNvSpPr>
            <a:spLocks noGrp="1"/>
          </p:cNvSpPr>
          <p:nvPr/>
        </p:nvSpPr>
        <p:spPr>
          <a:xfrm>
            <a:off x="3600450" y="2095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A6C8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A6C8"/>
                </a:solidFill>
                <a:latin typeface="AmplitudeTF"/>
                <a:ea typeface="AmplitudeTF"/>
                <a:cs typeface="AmplitudeTF"/>
              </a:rPr>
              <a:t>PAYMENT COST</a:t>
            </a:r>
          </a:p>
        </p:txBody>
      </p:sp>
      <p:sp>
        <p:nvSpPr>
          <p:cNvPr id="13" name="pool-head-1">
            <a:extLst>
              <a:ext uri="{FF2B5EF4-FFF2-40B4-BE49-F238E27FC236}">
                <a16:creationId xmlns:a16="http://schemas.microsoft.com/office/drawing/2014/main" id="{218E90DA-D77D-4863-9294-AF54BA97C604}"/>
              </a:ext>
            </a:extLst>
          </p:cNvPr>
          <p:cNvSpPr>
            <a:spLocks noGrp="1"/>
          </p:cNvSpPr>
          <p:nvPr/>
        </p:nvSpPr>
        <p:spPr>
          <a:xfrm>
            <a:off x="3600450" y="24574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Select the best economic path</a:t>
            </a:r>
          </a:p>
        </p:txBody>
      </p:sp>
      <p:sp>
        <p:nvSpPr>
          <p:cNvPr id="14" name="pool-items-1">
            <a:extLst>
              <a:ext uri="{FF2B5EF4-FFF2-40B4-BE49-F238E27FC236}">
                <a16:creationId xmlns:a16="http://schemas.microsoft.com/office/drawing/2014/main" id="{4B844C77-2357-41EB-A103-9C084E179B8B}"/>
              </a:ext>
            </a:extLst>
          </p:cNvPr>
          <p:cNvSpPr>
            <a:spLocks noGrp="1"/>
          </p:cNvSpPr>
          <p:nvPr/>
        </p:nvSpPr>
        <p:spPr>
          <a:xfrm>
            <a:off x="3600450" y="3371850"/>
            <a:ext cx="2000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Least-cost debit routing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Rail and network selection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Acquirer optimization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Cost–performance balancing</a:t>
            </a:r>
          </a:p>
        </p:txBody>
      </p:sp>
      <p:sp>
        <p:nvSpPr>
          <p:cNvPr id="15" name="pool-2">
            <a:extLst>
              <a:ext uri="{FF2B5EF4-FFF2-40B4-BE49-F238E27FC236}">
                <a16:creationId xmlns:a16="http://schemas.microsoft.com/office/drawing/2014/main" id="{8E418531-F610-4873-9C42-D9A14A26EBB0}"/>
              </a:ext>
            </a:extLst>
          </p:cNvPr>
          <p:cNvSpPr>
            <a:spLocks noGrp="1"/>
          </p:cNvSpPr>
          <p:nvPr/>
        </p:nvSpPr>
        <p:spPr>
          <a:xfrm>
            <a:off x="6134100" y="1809750"/>
            <a:ext cx="2381250" cy="331470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ool-top-2">
            <a:extLst>
              <a:ext uri="{FF2B5EF4-FFF2-40B4-BE49-F238E27FC236}">
                <a16:creationId xmlns:a16="http://schemas.microsoft.com/office/drawing/2014/main" id="{2F9337AF-6A4F-4D7C-8F92-F99E35C6AE44}"/>
              </a:ext>
            </a:extLst>
          </p:cNvPr>
          <p:cNvSpPr>
            <a:spLocks noGrp="1"/>
          </p:cNvSpPr>
          <p:nvPr/>
        </p:nvSpPr>
        <p:spPr>
          <a:xfrm>
            <a:off x="6134100" y="1809750"/>
            <a:ext cx="2381250" cy="95250"/>
          </a:xfrm>
          <a:prstGeom prst="rect">
            <a:avLst/>
          </a:prstGeom>
          <a:solidFill>
            <a:srgbClr val="4E7C8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ool-label-2">
            <a:extLst>
              <a:ext uri="{FF2B5EF4-FFF2-40B4-BE49-F238E27FC236}">
                <a16:creationId xmlns:a16="http://schemas.microsoft.com/office/drawing/2014/main" id="{C3C529A6-0B47-41FC-917A-AEACE605F6F0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E7C8C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4E7C8C"/>
                </a:solidFill>
                <a:latin typeface="AmplitudeTF"/>
                <a:ea typeface="AmplitudeTF"/>
                <a:cs typeface="AmplitudeTF"/>
              </a:rPr>
              <a:t>RESILIENCE + CONTROL</a:t>
            </a:r>
          </a:p>
        </p:txBody>
      </p:sp>
      <p:sp>
        <p:nvSpPr>
          <p:cNvPr id="18" name="pool-head-2">
            <a:extLst>
              <a:ext uri="{FF2B5EF4-FFF2-40B4-BE49-F238E27FC236}">
                <a16:creationId xmlns:a16="http://schemas.microsoft.com/office/drawing/2014/main" id="{E878A4E8-EC45-4720-BE2B-53AC8B8351BF}"/>
              </a:ext>
            </a:extLst>
          </p:cNvPr>
          <p:cNvSpPr>
            <a:spLocks noGrp="1"/>
          </p:cNvSpPr>
          <p:nvPr/>
        </p:nvSpPr>
        <p:spPr>
          <a:xfrm>
            <a:off x="6324600" y="24574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Change safely under live traffic</a:t>
            </a:r>
          </a:p>
        </p:txBody>
      </p:sp>
      <p:sp>
        <p:nvSpPr>
          <p:cNvPr id="19" name="pool-items-2">
            <a:extLst>
              <a:ext uri="{FF2B5EF4-FFF2-40B4-BE49-F238E27FC236}">
                <a16:creationId xmlns:a16="http://schemas.microsoft.com/office/drawing/2014/main" id="{F46426BB-65A5-4F8B-91B7-2B4CE911BFE2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2000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Failover and guardrails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Progressive rollout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Automated rollback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Decision traceability</a:t>
            </a:r>
          </a:p>
        </p:txBody>
      </p:sp>
      <p:sp>
        <p:nvSpPr>
          <p:cNvPr id="20" name="pool-3">
            <a:extLst>
              <a:ext uri="{FF2B5EF4-FFF2-40B4-BE49-F238E27FC236}">
                <a16:creationId xmlns:a16="http://schemas.microsoft.com/office/drawing/2014/main" id="{7E863CAA-DF5D-4515-A6F1-CA32BB36C54F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381250" cy="331470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ool-top-3">
            <a:extLst>
              <a:ext uri="{FF2B5EF4-FFF2-40B4-BE49-F238E27FC236}">
                <a16:creationId xmlns:a16="http://schemas.microsoft.com/office/drawing/2014/main" id="{601C9F49-9448-4665-807E-7F8B25E983CE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381250" cy="95250"/>
          </a:xfrm>
          <a:prstGeom prst="rect">
            <a:avLst/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ool-label-3">
            <a:extLst>
              <a:ext uri="{FF2B5EF4-FFF2-40B4-BE49-F238E27FC236}">
                <a16:creationId xmlns:a16="http://schemas.microsoft.com/office/drawing/2014/main" id="{AB4D52E9-E6AA-420E-A008-3A3E37404420}"/>
              </a:ext>
            </a:extLst>
          </p:cNvPr>
          <p:cNvSpPr>
            <a:spLocks noGrp="1"/>
          </p:cNvSpPr>
          <p:nvPr/>
        </p:nvSpPr>
        <p:spPr>
          <a:xfrm>
            <a:off x="9048750" y="2095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COMMERCIAL PRODUCTS</a:t>
            </a:r>
          </a:p>
        </p:txBody>
      </p:sp>
      <p:sp>
        <p:nvSpPr>
          <p:cNvPr id="23" name="pool-head-3">
            <a:extLst>
              <a:ext uri="{FF2B5EF4-FFF2-40B4-BE49-F238E27FC236}">
                <a16:creationId xmlns:a16="http://schemas.microsoft.com/office/drawing/2014/main" id="{D34332C4-04D7-4167-BEED-61038BFC3041}"/>
              </a:ext>
            </a:extLst>
          </p:cNvPr>
          <p:cNvSpPr>
            <a:spLocks noGrp="1"/>
          </p:cNvSpPr>
          <p:nvPr/>
        </p:nvSpPr>
        <p:spPr>
          <a:xfrm>
            <a:off x="9048750" y="24574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Package optimization as a service</a:t>
            </a:r>
          </a:p>
        </p:txBody>
      </p:sp>
      <p:sp>
        <p:nvSpPr>
          <p:cNvPr id="24" name="pool-items-3">
            <a:extLst>
              <a:ext uri="{FF2B5EF4-FFF2-40B4-BE49-F238E27FC236}">
                <a16:creationId xmlns:a16="http://schemas.microsoft.com/office/drawing/2014/main" id="{823ADC41-0413-4AF1-84FB-CDB173C1F893}"/>
              </a:ext>
            </a:extLst>
          </p:cNvPr>
          <p:cNvSpPr>
            <a:spLocks noGrp="1"/>
          </p:cNvSpPr>
          <p:nvPr/>
        </p:nvSpPr>
        <p:spPr>
          <a:xfrm>
            <a:off x="9048750" y="3371850"/>
            <a:ext cx="2000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Premium optimization tier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Merchant-specific strategies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Usage-based pricing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Outcome-based pricing</a:t>
            </a:r>
          </a:p>
        </p:txBody>
      </p:sp>
      <p:sp>
        <p:nvSpPr>
          <p:cNvPr id="25" name="platform-line">
            <a:extLst>
              <a:ext uri="{FF2B5EF4-FFF2-40B4-BE49-F238E27FC236}">
                <a16:creationId xmlns:a16="http://schemas.microsoft.com/office/drawing/2014/main" id="{68074231-698E-40F3-B128-358F3F517E08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These are not separate engines. They are strategies running on the same decision, experimentation and measurement platform.</a:t>
            </a:r>
          </a:p>
        </p:txBody>
      </p:sp>
    </p:spTree>
    <p:extLst>
      <p:ext uri="{BB962C8B-B14F-4D97-AF65-F5344CB8AC3E}">
        <p14:creationId xmlns:p14="http://schemas.microsoft.com/office/powerpoint/2010/main" val="40957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4">
            <a:extLst>
              <a:ext uri="{FF2B5EF4-FFF2-40B4-BE49-F238E27FC236}">
                <a16:creationId xmlns:a16="http://schemas.microsoft.com/office/drawing/2014/main" id="{8361DE22-D307-45DB-BA76-2E9B232FBAB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TARGET STATE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FDBE0860-1052-4783-A74B-335B39D6D02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Every payment becomes a measurable decision—not a fixed code path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D887B329-708A-4C1E-B691-E9241DBF7218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25A50860-6872-4C63-BB9D-80FB6C378851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04</a:t>
            </a:r>
          </a:p>
        </p:txBody>
      </p:sp>
      <p:sp>
        <p:nvSpPr>
          <p:cNvPr id="5" name="flow-line-0">
            <a:extLst>
              <a:ext uri="{FF2B5EF4-FFF2-40B4-BE49-F238E27FC236}">
                <a16:creationId xmlns:a16="http://schemas.microsoft.com/office/drawing/2014/main" id="{9E085F9D-A3CD-431D-8C21-39FB00F98428}"/>
              </a:ext>
            </a:extLst>
          </p:cNvPr>
          <p:cNvSpPr>
            <a:spLocks noGrp="1"/>
          </p:cNvSpPr>
          <p:nvPr/>
        </p:nvSpPr>
        <p:spPr>
          <a:xfrm>
            <a:off x="2333625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arrow-0">
            <a:extLst>
              <a:ext uri="{FF2B5EF4-FFF2-40B4-BE49-F238E27FC236}">
                <a16:creationId xmlns:a16="http://schemas.microsoft.com/office/drawing/2014/main" id="{04FF93AB-DFA5-495A-84FB-45986C391BCE}"/>
              </a:ext>
            </a:extLst>
          </p:cNvPr>
          <p:cNvSpPr>
            <a:spLocks noGrp="1"/>
          </p:cNvSpPr>
          <p:nvPr/>
        </p:nvSpPr>
        <p:spPr>
          <a:xfrm>
            <a:off x="2571750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7" name="flow-line-1">
            <a:extLst>
              <a:ext uri="{FF2B5EF4-FFF2-40B4-BE49-F238E27FC236}">
                <a16:creationId xmlns:a16="http://schemas.microsoft.com/office/drawing/2014/main" id="{15559E02-F7A6-447E-B8D2-619AE8CD058C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-arrow-1">
            <a:extLst>
              <a:ext uri="{FF2B5EF4-FFF2-40B4-BE49-F238E27FC236}">
                <a16:creationId xmlns:a16="http://schemas.microsoft.com/office/drawing/2014/main" id="{1C5B1DFD-A356-40E4-8D8E-4998E6A768C6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9" name="flow-line-2">
            <a:extLst>
              <a:ext uri="{FF2B5EF4-FFF2-40B4-BE49-F238E27FC236}">
                <a16:creationId xmlns:a16="http://schemas.microsoft.com/office/drawing/2014/main" id="{59493325-2981-420E-B8CC-07ABB5051055}"/>
              </a:ext>
            </a:extLst>
          </p:cNvPr>
          <p:cNvSpPr>
            <a:spLocks noGrp="1"/>
          </p:cNvSpPr>
          <p:nvPr/>
        </p:nvSpPr>
        <p:spPr>
          <a:xfrm>
            <a:off x="6810375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low-arrow-2">
            <a:extLst>
              <a:ext uri="{FF2B5EF4-FFF2-40B4-BE49-F238E27FC236}">
                <a16:creationId xmlns:a16="http://schemas.microsoft.com/office/drawing/2014/main" id="{EF7676D7-39F7-451D-AAD2-75943C41FBA0}"/>
              </a:ext>
            </a:extLst>
          </p:cNvPr>
          <p:cNvSpPr>
            <a:spLocks noGrp="1"/>
          </p:cNvSpPr>
          <p:nvPr/>
        </p:nvSpPr>
        <p:spPr>
          <a:xfrm>
            <a:off x="7048500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11" name="flow-line-3">
            <a:extLst>
              <a:ext uri="{FF2B5EF4-FFF2-40B4-BE49-F238E27FC236}">
                <a16:creationId xmlns:a16="http://schemas.microsoft.com/office/drawing/2014/main" id="{DFB3AA14-C51C-4EF0-8DD7-E435DC468F70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low-arrow-3">
            <a:extLst>
              <a:ext uri="{FF2B5EF4-FFF2-40B4-BE49-F238E27FC236}">
                <a16:creationId xmlns:a16="http://schemas.microsoft.com/office/drawing/2014/main" id="{6500146B-6415-43EA-8780-E64916F5FC48}"/>
              </a:ext>
            </a:extLst>
          </p:cNvPr>
          <p:cNvSpPr>
            <a:spLocks noGrp="1"/>
          </p:cNvSpPr>
          <p:nvPr/>
        </p:nvSpPr>
        <p:spPr>
          <a:xfrm>
            <a:off x="9286875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13" name="step-0">
            <a:extLst>
              <a:ext uri="{FF2B5EF4-FFF2-40B4-BE49-F238E27FC236}">
                <a16:creationId xmlns:a16="http://schemas.microsoft.com/office/drawing/2014/main" id="{7A4D88B9-5505-48B8-9176-0D9CA2F66D04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-num-0">
            <a:extLst>
              <a:ext uri="{FF2B5EF4-FFF2-40B4-BE49-F238E27FC236}">
                <a16:creationId xmlns:a16="http://schemas.microsoft.com/office/drawing/2014/main" id="{3D87DFD2-C288-42AA-B1CF-D2851145E1CA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01</a:t>
            </a:r>
          </a:p>
        </p:txBody>
      </p:sp>
      <p:sp>
        <p:nvSpPr>
          <p:cNvPr id="15" name="step-h-0">
            <a:extLst>
              <a:ext uri="{FF2B5EF4-FFF2-40B4-BE49-F238E27FC236}">
                <a16:creationId xmlns:a16="http://schemas.microsoft.com/office/drawing/2014/main" id="{7DB35647-656E-4ABF-847C-47BC56C2D7AE}"/>
              </a:ext>
            </a:extLst>
          </p:cNvPr>
          <p:cNvSpPr>
            <a:spLocks noGrp="1"/>
          </p:cNvSpPr>
          <p:nvPr/>
        </p:nvSpPr>
        <p:spPr>
          <a:xfrm>
            <a:off x="87630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DECIDE</a:t>
            </a:r>
          </a:p>
        </p:txBody>
      </p:sp>
      <p:sp>
        <p:nvSpPr>
          <p:cNvPr id="16" name="step-b-0">
            <a:extLst>
              <a:ext uri="{FF2B5EF4-FFF2-40B4-BE49-F238E27FC236}">
                <a16:creationId xmlns:a16="http://schemas.microsoft.com/office/drawing/2014/main" id="{7464C93C-796E-4598-9ABB-B3BA9F68BAA0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Choose the best available treatment</a:t>
            </a:r>
          </a:p>
        </p:txBody>
      </p:sp>
      <p:sp>
        <p:nvSpPr>
          <p:cNvPr id="17" name="step-1">
            <a:extLst>
              <a:ext uri="{FF2B5EF4-FFF2-40B4-BE49-F238E27FC236}">
                <a16:creationId xmlns:a16="http://schemas.microsoft.com/office/drawing/2014/main" id="{B235E3F9-0E58-4222-8E1A-DEB73D269612}"/>
              </a:ext>
            </a:extLst>
          </p:cNvPr>
          <p:cNvSpPr>
            <a:spLocks noGrp="1"/>
          </p:cNvSpPr>
          <p:nvPr/>
        </p:nvSpPr>
        <p:spPr>
          <a:xfrm>
            <a:off x="2924175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-num-1">
            <a:extLst>
              <a:ext uri="{FF2B5EF4-FFF2-40B4-BE49-F238E27FC236}">
                <a16:creationId xmlns:a16="http://schemas.microsoft.com/office/drawing/2014/main" id="{382C84BC-E91D-4ECA-B4AA-E7434AE6578A}"/>
              </a:ext>
            </a:extLst>
          </p:cNvPr>
          <p:cNvSpPr>
            <a:spLocks noGrp="1"/>
          </p:cNvSpPr>
          <p:nvPr/>
        </p:nvSpPr>
        <p:spPr>
          <a:xfrm>
            <a:off x="3114675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02</a:t>
            </a:r>
          </a:p>
        </p:txBody>
      </p:sp>
      <p:sp>
        <p:nvSpPr>
          <p:cNvPr id="19" name="step-h-1">
            <a:extLst>
              <a:ext uri="{FF2B5EF4-FFF2-40B4-BE49-F238E27FC236}">
                <a16:creationId xmlns:a16="http://schemas.microsoft.com/office/drawing/2014/main" id="{AC4B321E-5E1D-414B-96A8-318C7642282C}"/>
              </a:ext>
            </a:extLst>
          </p:cNvPr>
          <p:cNvSpPr>
            <a:spLocks noGrp="1"/>
          </p:cNvSpPr>
          <p:nvPr/>
        </p:nvSpPr>
        <p:spPr>
          <a:xfrm>
            <a:off x="3114675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</a:t>
            </a:r>
          </a:p>
        </p:txBody>
      </p:sp>
      <p:sp>
        <p:nvSpPr>
          <p:cNvPr id="20" name="step-b-1">
            <a:extLst>
              <a:ext uri="{FF2B5EF4-FFF2-40B4-BE49-F238E27FC236}">
                <a16:creationId xmlns:a16="http://schemas.microsoft.com/office/drawing/2014/main" id="{15E74149-098A-4738-9A00-C75E4980FB9C}"/>
              </a:ext>
            </a:extLst>
          </p:cNvPr>
          <p:cNvSpPr>
            <a:spLocks noGrp="1"/>
          </p:cNvSpPr>
          <p:nvPr/>
        </p:nvSpPr>
        <p:spPr>
          <a:xfrm>
            <a:off x="3114675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Allocate traffic with controls and guardrails</a:t>
            </a:r>
          </a:p>
        </p:txBody>
      </p:sp>
      <p:sp>
        <p:nvSpPr>
          <p:cNvPr id="21" name="step-2">
            <a:extLst>
              <a:ext uri="{FF2B5EF4-FFF2-40B4-BE49-F238E27FC236}">
                <a16:creationId xmlns:a16="http://schemas.microsoft.com/office/drawing/2014/main" id="{12A978B0-1EDC-45D1-97EA-32D001C4A059}"/>
              </a:ext>
            </a:extLst>
          </p:cNvPr>
          <p:cNvSpPr>
            <a:spLocks noGrp="1"/>
          </p:cNvSpPr>
          <p:nvPr/>
        </p:nvSpPr>
        <p:spPr>
          <a:xfrm>
            <a:off x="516255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-num-2">
            <a:extLst>
              <a:ext uri="{FF2B5EF4-FFF2-40B4-BE49-F238E27FC236}">
                <a16:creationId xmlns:a16="http://schemas.microsoft.com/office/drawing/2014/main" id="{6E1E5C81-75EC-4D63-AF9E-A64EB511BA60}"/>
              </a:ext>
            </a:extLst>
          </p:cNvPr>
          <p:cNvSpPr>
            <a:spLocks noGrp="1"/>
          </p:cNvSpPr>
          <p:nvPr/>
        </p:nvSpPr>
        <p:spPr>
          <a:xfrm>
            <a:off x="535305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03</a:t>
            </a:r>
          </a:p>
        </p:txBody>
      </p:sp>
      <p:sp>
        <p:nvSpPr>
          <p:cNvPr id="23" name="step-h-2">
            <a:extLst>
              <a:ext uri="{FF2B5EF4-FFF2-40B4-BE49-F238E27FC236}">
                <a16:creationId xmlns:a16="http://schemas.microsoft.com/office/drawing/2014/main" id="{D5681299-B858-40AF-9EF2-EA62281EA184}"/>
              </a:ext>
            </a:extLst>
          </p:cNvPr>
          <p:cNvSpPr>
            <a:spLocks noGrp="1"/>
          </p:cNvSpPr>
          <p:nvPr/>
        </p:nvSpPr>
        <p:spPr>
          <a:xfrm>
            <a:off x="535305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EXECUTE</a:t>
            </a:r>
          </a:p>
        </p:txBody>
      </p:sp>
      <p:sp>
        <p:nvSpPr>
          <p:cNvPr id="24" name="step-b-2">
            <a:extLst>
              <a:ext uri="{FF2B5EF4-FFF2-40B4-BE49-F238E27FC236}">
                <a16:creationId xmlns:a16="http://schemas.microsoft.com/office/drawing/2014/main" id="{EAD95BE1-F9E6-4A9A-BDED-596FF8DEB648}"/>
              </a:ext>
            </a:extLst>
          </p:cNvPr>
          <p:cNvSpPr>
            <a:spLocks noGrp="1"/>
          </p:cNvSpPr>
          <p:nvPr/>
        </p:nvSpPr>
        <p:spPr>
          <a:xfrm>
            <a:off x="535305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Apply the selected route or payment strategy</a:t>
            </a:r>
          </a:p>
        </p:txBody>
      </p:sp>
      <p:sp>
        <p:nvSpPr>
          <p:cNvPr id="25" name="step-3">
            <a:extLst>
              <a:ext uri="{FF2B5EF4-FFF2-40B4-BE49-F238E27FC236}">
                <a16:creationId xmlns:a16="http://schemas.microsoft.com/office/drawing/2014/main" id="{F96E7190-DE21-44B5-9EA5-32A325760B7F}"/>
              </a:ext>
            </a:extLst>
          </p:cNvPr>
          <p:cNvSpPr>
            <a:spLocks noGrp="1"/>
          </p:cNvSpPr>
          <p:nvPr/>
        </p:nvSpPr>
        <p:spPr>
          <a:xfrm>
            <a:off x="7400925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-num-3">
            <a:extLst>
              <a:ext uri="{FF2B5EF4-FFF2-40B4-BE49-F238E27FC236}">
                <a16:creationId xmlns:a16="http://schemas.microsoft.com/office/drawing/2014/main" id="{D21D6642-4AFC-44D6-8784-16BCFDA8284E}"/>
              </a:ext>
            </a:extLst>
          </p:cNvPr>
          <p:cNvSpPr>
            <a:spLocks noGrp="1"/>
          </p:cNvSpPr>
          <p:nvPr/>
        </p:nvSpPr>
        <p:spPr>
          <a:xfrm>
            <a:off x="7591425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04</a:t>
            </a:r>
          </a:p>
        </p:txBody>
      </p:sp>
      <p:sp>
        <p:nvSpPr>
          <p:cNvPr id="27" name="step-h-3">
            <a:extLst>
              <a:ext uri="{FF2B5EF4-FFF2-40B4-BE49-F238E27FC236}">
                <a16:creationId xmlns:a16="http://schemas.microsoft.com/office/drawing/2014/main" id="{639B0694-1EA4-42C7-ACF8-5867DA3D8AF2}"/>
              </a:ext>
            </a:extLst>
          </p:cNvPr>
          <p:cNvSpPr>
            <a:spLocks noGrp="1"/>
          </p:cNvSpPr>
          <p:nvPr/>
        </p:nvSpPr>
        <p:spPr>
          <a:xfrm>
            <a:off x="7591425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MEASURE</a:t>
            </a:r>
          </a:p>
        </p:txBody>
      </p:sp>
      <p:sp>
        <p:nvSpPr>
          <p:cNvPr id="28" name="step-b-3">
            <a:extLst>
              <a:ext uri="{FF2B5EF4-FFF2-40B4-BE49-F238E27FC236}">
                <a16:creationId xmlns:a16="http://schemas.microsoft.com/office/drawing/2014/main" id="{8F08FF55-3144-49AA-8208-67C976EDDEB9}"/>
              </a:ext>
            </a:extLst>
          </p:cNvPr>
          <p:cNvSpPr>
            <a:spLocks noGrp="1"/>
          </p:cNvSpPr>
          <p:nvPr/>
        </p:nvSpPr>
        <p:spPr>
          <a:xfrm>
            <a:off x="7591425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Link the decision to cost and authorization outcomes</a:t>
            </a:r>
          </a:p>
        </p:txBody>
      </p:sp>
      <p:sp>
        <p:nvSpPr>
          <p:cNvPr id="29" name="step-4">
            <a:extLst>
              <a:ext uri="{FF2B5EF4-FFF2-40B4-BE49-F238E27FC236}">
                <a16:creationId xmlns:a16="http://schemas.microsoft.com/office/drawing/2014/main" id="{940F5D35-8258-4AED-B5A2-9D0A5418E3B1}"/>
              </a:ext>
            </a:extLst>
          </p:cNvPr>
          <p:cNvSpPr>
            <a:spLocks noGrp="1"/>
          </p:cNvSpPr>
          <p:nvPr/>
        </p:nvSpPr>
        <p:spPr>
          <a:xfrm>
            <a:off x="963930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-num-4">
            <a:extLst>
              <a:ext uri="{FF2B5EF4-FFF2-40B4-BE49-F238E27FC236}">
                <a16:creationId xmlns:a16="http://schemas.microsoft.com/office/drawing/2014/main" id="{FAD5EE7B-4E25-4FBE-8B8A-5EB8DA0C64C8}"/>
              </a:ext>
            </a:extLst>
          </p:cNvPr>
          <p:cNvSpPr>
            <a:spLocks noGrp="1"/>
          </p:cNvSpPr>
          <p:nvPr/>
        </p:nvSpPr>
        <p:spPr>
          <a:xfrm>
            <a:off x="982980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05</a:t>
            </a:r>
          </a:p>
        </p:txBody>
      </p:sp>
      <p:sp>
        <p:nvSpPr>
          <p:cNvPr id="31" name="step-h-4">
            <a:extLst>
              <a:ext uri="{FF2B5EF4-FFF2-40B4-BE49-F238E27FC236}">
                <a16:creationId xmlns:a16="http://schemas.microsoft.com/office/drawing/2014/main" id="{8D30BD68-FEF1-47F5-82A4-D7EB446170A6}"/>
              </a:ext>
            </a:extLst>
          </p:cNvPr>
          <p:cNvSpPr>
            <a:spLocks noGrp="1"/>
          </p:cNvSpPr>
          <p:nvPr/>
        </p:nvSpPr>
        <p:spPr>
          <a:xfrm>
            <a:off x="982980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LEARN + GOVERN</a:t>
            </a:r>
          </a:p>
        </p:txBody>
      </p:sp>
      <p:sp>
        <p:nvSpPr>
          <p:cNvPr id="32" name="step-b-4">
            <a:extLst>
              <a:ext uri="{FF2B5EF4-FFF2-40B4-BE49-F238E27FC236}">
                <a16:creationId xmlns:a16="http://schemas.microsoft.com/office/drawing/2014/main" id="{DBE5853B-0EAF-49FB-89AA-0A6D6263BC8A}"/>
              </a:ext>
            </a:extLst>
          </p:cNvPr>
          <p:cNvSpPr>
            <a:spLocks noGrp="1"/>
          </p:cNvSpPr>
          <p:nvPr/>
        </p:nvSpPr>
        <p:spPr>
          <a:xfrm>
            <a:off x="982980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Improve, version and safely release strategies</a:t>
            </a:r>
          </a:p>
        </p:txBody>
      </p:sp>
      <p:sp>
        <p:nvSpPr>
          <p:cNvPr id="33" name="loop-band">
            <a:extLst>
              <a:ext uri="{FF2B5EF4-FFF2-40B4-BE49-F238E27FC236}">
                <a16:creationId xmlns:a16="http://schemas.microsoft.com/office/drawing/2014/main" id="{3B590A8E-F56D-4B76-B322-F4A15B4EA76F}"/>
              </a:ext>
            </a:extLst>
          </p:cNvPr>
          <p:cNvSpPr>
            <a:spLocks noGrp="1"/>
          </p:cNvSpPr>
          <p:nvPr/>
        </p:nvSpPr>
        <p:spPr>
          <a:xfrm>
            <a:off x="1524000" y="4514850"/>
            <a:ext cx="914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loop">
            <a:extLst>
              <a:ext uri="{FF2B5EF4-FFF2-40B4-BE49-F238E27FC236}">
                <a16:creationId xmlns:a16="http://schemas.microsoft.com/office/drawing/2014/main" id="{715644E7-9954-4501-A9D7-AFD1435DC8E5}"/>
              </a:ext>
            </a:extLst>
          </p:cNvPr>
          <p:cNvSpPr>
            <a:spLocks noGrp="1"/>
          </p:cNvSpPr>
          <p:nvPr/>
        </p:nvSpPr>
        <p:spPr>
          <a:xfrm>
            <a:off x="1790700" y="4810125"/>
            <a:ext cx="861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Payment intent  →  decision  →  strategy  →  execution  →  outcome  →  optimization</a:t>
            </a:r>
          </a:p>
        </p:txBody>
      </p:sp>
      <p:sp>
        <p:nvSpPr>
          <p:cNvPr id="35" name="loop-note">
            <a:extLst>
              <a:ext uri="{FF2B5EF4-FFF2-40B4-BE49-F238E27FC236}">
                <a16:creationId xmlns:a16="http://schemas.microsoft.com/office/drawing/2014/main" id="{F38BA8B0-0164-439B-B81F-6B6CD4A19F3F}"/>
              </a:ext>
            </a:extLst>
          </p:cNvPr>
          <p:cNvSpPr>
            <a:spLocks noGrp="1"/>
          </p:cNvSpPr>
          <p:nvPr/>
        </p:nvSpPr>
        <p:spPr>
          <a:xfrm>
            <a:off x="1790700" y="5219700"/>
            <a:ext cx="861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 common control plane provides strategy versioning, auditability, rollback and performance evidence across every use case.</a:t>
            </a:r>
          </a:p>
        </p:txBody>
      </p:sp>
    </p:spTree>
    <p:extLst>
      <p:ext uri="{BB962C8B-B14F-4D97-AF65-F5344CB8AC3E}">
        <p14:creationId xmlns:p14="http://schemas.microsoft.com/office/powerpoint/2010/main" val="121885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5">
            <a:extLst>
              <a:ext uri="{FF2B5EF4-FFF2-40B4-BE49-F238E27FC236}">
                <a16:creationId xmlns:a16="http://schemas.microsoft.com/office/drawing/2014/main" id="{923D621E-FE8F-4F2B-8A29-4D05A5031AE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INVESTMENT REQUEST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4E758083-B2BF-44D9-8506-21A438704BB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Fund in phases, prove measurable value early, then scale and monetize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0641572F-1DD5-4EC9-AA77-EA7C321FAF10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1461842E-9D41-4153-8F83-BB6DD34F0888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05</a:t>
            </a:r>
          </a:p>
        </p:txBody>
      </p:sp>
      <p:sp>
        <p:nvSpPr>
          <p:cNvPr id="5" name="phase-0">
            <a:extLst>
              <a:ext uri="{FF2B5EF4-FFF2-40B4-BE49-F238E27FC236}">
                <a16:creationId xmlns:a16="http://schemas.microsoft.com/office/drawing/2014/main" id="{B7F8BDDE-9039-44F1-A574-7BF2D603A96F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hase-label-0">
            <a:extLst>
              <a:ext uri="{FF2B5EF4-FFF2-40B4-BE49-F238E27FC236}">
                <a16:creationId xmlns:a16="http://schemas.microsoft.com/office/drawing/2014/main" id="{6607F664-58C3-4BFC-826B-FB6E8A7F88AF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1  FOUNDATION</a:t>
            </a:r>
          </a:p>
        </p:txBody>
      </p:sp>
      <p:sp>
        <p:nvSpPr>
          <p:cNvPr id="7" name="phase-head-0">
            <a:extLst>
              <a:ext uri="{FF2B5EF4-FFF2-40B4-BE49-F238E27FC236}">
                <a16:creationId xmlns:a16="http://schemas.microsoft.com/office/drawing/2014/main" id="{01E178EE-6B51-4C88-B5B3-4AFBA014CF2C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Build the orchestration spine</a:t>
            </a:r>
          </a:p>
        </p:txBody>
      </p:sp>
      <p:sp>
        <p:nvSpPr>
          <p:cNvPr id="8" name="phase-body-0">
            <a:extLst>
              <a:ext uri="{FF2B5EF4-FFF2-40B4-BE49-F238E27FC236}">
                <a16:creationId xmlns:a16="http://schemas.microsoft.com/office/drawing/2014/main" id="{A0A6FDEF-6CA9-4923-AAE7-1A87FB9A2688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Decision identity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Strategy versioning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Traffic allocation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Event + outcome capture</a:t>
            </a:r>
          </a:p>
        </p:txBody>
      </p:sp>
      <p:sp>
        <p:nvSpPr>
          <p:cNvPr id="9" name="phase-1">
            <a:extLst>
              <a:ext uri="{FF2B5EF4-FFF2-40B4-BE49-F238E27FC236}">
                <a16:creationId xmlns:a16="http://schemas.microsoft.com/office/drawing/2014/main" id="{7220E0DC-2B1C-4403-9CBF-31E1ADC69418}"/>
              </a:ext>
            </a:extLst>
          </p:cNvPr>
          <p:cNvSpPr>
            <a:spLocks noGrp="1"/>
          </p:cNvSpPr>
          <p:nvPr/>
        </p:nvSpPr>
        <p:spPr>
          <a:xfrm>
            <a:off x="32766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hase-label-1">
            <a:extLst>
              <a:ext uri="{FF2B5EF4-FFF2-40B4-BE49-F238E27FC236}">
                <a16:creationId xmlns:a16="http://schemas.microsoft.com/office/drawing/2014/main" id="{D8459868-F092-47D6-B3F7-F5BF76A53198}"/>
              </a:ext>
            </a:extLst>
          </p:cNvPr>
          <p:cNvSpPr>
            <a:spLocks noGrp="1"/>
          </p:cNvSpPr>
          <p:nvPr/>
        </p:nvSpPr>
        <p:spPr>
          <a:xfrm>
            <a:off x="34671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2  PROVE VALUE</a:t>
            </a:r>
          </a:p>
        </p:txBody>
      </p:sp>
      <p:sp>
        <p:nvSpPr>
          <p:cNvPr id="11" name="phase-head-1">
            <a:extLst>
              <a:ext uri="{FF2B5EF4-FFF2-40B4-BE49-F238E27FC236}">
                <a16:creationId xmlns:a16="http://schemas.microsoft.com/office/drawing/2014/main" id="{5B0B63F3-C08F-4B01-95A5-2A5ADBAA163C}"/>
              </a:ext>
            </a:extLst>
          </p:cNvPr>
          <p:cNvSpPr>
            <a:spLocks noGrp="1"/>
          </p:cNvSpPr>
          <p:nvPr/>
        </p:nvSpPr>
        <p:spPr>
          <a:xfrm>
            <a:off x="34671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Launch two controlled use cases</a:t>
            </a:r>
          </a:p>
        </p:txBody>
      </p:sp>
      <p:sp>
        <p:nvSpPr>
          <p:cNvPr id="12" name="phase-body-1">
            <a:extLst>
              <a:ext uri="{FF2B5EF4-FFF2-40B4-BE49-F238E27FC236}">
                <a16:creationId xmlns:a16="http://schemas.microsoft.com/office/drawing/2014/main" id="{826BAD81-0CA0-47F1-A5E9-4E68D932555D}"/>
              </a:ext>
            </a:extLst>
          </p:cNvPr>
          <p:cNvSpPr>
            <a:spLocks noGrp="1"/>
          </p:cNvSpPr>
          <p:nvPr/>
        </p:nvSpPr>
        <p:spPr>
          <a:xfrm>
            <a:off x="34671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Revenue: smart retries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Cost: intelligent / least-cost routing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Validated lift on controlled traffic</a:t>
            </a:r>
          </a:p>
        </p:txBody>
      </p:sp>
      <p:sp>
        <p:nvSpPr>
          <p:cNvPr id="13" name="phase-2">
            <a:extLst>
              <a:ext uri="{FF2B5EF4-FFF2-40B4-BE49-F238E27FC236}">
                <a16:creationId xmlns:a16="http://schemas.microsoft.com/office/drawing/2014/main" id="{514758D4-C0F7-4F27-85FE-2B5DC8DC3186}"/>
              </a:ext>
            </a:extLst>
          </p:cNvPr>
          <p:cNvSpPr>
            <a:spLocks noGrp="1"/>
          </p:cNvSpPr>
          <p:nvPr/>
        </p:nvSpPr>
        <p:spPr>
          <a:xfrm>
            <a:off x="58674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hase-label-2">
            <a:extLst>
              <a:ext uri="{FF2B5EF4-FFF2-40B4-BE49-F238E27FC236}">
                <a16:creationId xmlns:a16="http://schemas.microsoft.com/office/drawing/2014/main" id="{0D76CFB3-4129-48CE-8B7D-024FB451AD6A}"/>
              </a:ext>
            </a:extLst>
          </p:cNvPr>
          <p:cNvSpPr>
            <a:spLocks noGrp="1"/>
          </p:cNvSpPr>
          <p:nvPr/>
        </p:nvSpPr>
        <p:spPr>
          <a:xfrm>
            <a:off x="60579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3  SCALE</a:t>
            </a:r>
          </a:p>
        </p:txBody>
      </p:sp>
      <p:sp>
        <p:nvSpPr>
          <p:cNvPr id="15" name="phase-head-2">
            <a:extLst>
              <a:ext uri="{FF2B5EF4-FFF2-40B4-BE49-F238E27FC236}">
                <a16:creationId xmlns:a16="http://schemas.microsoft.com/office/drawing/2014/main" id="{EEA62F5A-FED1-4157-935C-693A5D7AC67C}"/>
              </a:ext>
            </a:extLst>
          </p:cNvPr>
          <p:cNvSpPr>
            <a:spLocks noGrp="1"/>
          </p:cNvSpPr>
          <p:nvPr/>
        </p:nvSpPr>
        <p:spPr>
          <a:xfrm>
            <a:off x="60579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Expand the strategy portfolio</a:t>
            </a:r>
          </a:p>
        </p:txBody>
      </p:sp>
      <p:sp>
        <p:nvSpPr>
          <p:cNvPr id="16" name="phase-body-2">
            <a:extLst>
              <a:ext uri="{FF2B5EF4-FFF2-40B4-BE49-F238E27FC236}">
                <a16:creationId xmlns:a16="http://schemas.microsoft.com/office/drawing/2014/main" id="{874E4E51-F976-4CCA-BCBD-B6A876838940}"/>
              </a:ext>
            </a:extLst>
          </p:cNvPr>
          <p:cNvSpPr>
            <a:spLocks noGrp="1"/>
          </p:cNvSpPr>
          <p:nvPr/>
        </p:nvSpPr>
        <p:spPr>
          <a:xfrm>
            <a:off x="60579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Authentication + message strategies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Merchant controls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Broader routing coverage</a:t>
            </a:r>
          </a:p>
        </p:txBody>
      </p:sp>
      <p:sp>
        <p:nvSpPr>
          <p:cNvPr id="17" name="phase-3">
            <a:extLst>
              <a:ext uri="{FF2B5EF4-FFF2-40B4-BE49-F238E27FC236}">
                <a16:creationId xmlns:a16="http://schemas.microsoft.com/office/drawing/2014/main" id="{CB718609-9F41-4A2F-A8FA-146F27DFE7C8}"/>
              </a:ext>
            </a:extLst>
          </p:cNvPr>
          <p:cNvSpPr>
            <a:spLocks noGrp="1"/>
          </p:cNvSpPr>
          <p:nvPr/>
        </p:nvSpPr>
        <p:spPr>
          <a:xfrm>
            <a:off x="84582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hase-label-3">
            <a:extLst>
              <a:ext uri="{FF2B5EF4-FFF2-40B4-BE49-F238E27FC236}">
                <a16:creationId xmlns:a16="http://schemas.microsoft.com/office/drawing/2014/main" id="{4BE30DC4-E3C3-4219-8F31-24251315D688}"/>
              </a:ext>
            </a:extLst>
          </p:cNvPr>
          <p:cNvSpPr>
            <a:spLocks noGrp="1"/>
          </p:cNvSpPr>
          <p:nvPr/>
        </p:nvSpPr>
        <p:spPr>
          <a:xfrm>
            <a:off x="86487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4  MONETIZE</a:t>
            </a:r>
          </a:p>
        </p:txBody>
      </p:sp>
      <p:sp>
        <p:nvSpPr>
          <p:cNvPr id="19" name="phase-head-3">
            <a:extLst>
              <a:ext uri="{FF2B5EF4-FFF2-40B4-BE49-F238E27FC236}">
                <a16:creationId xmlns:a16="http://schemas.microsoft.com/office/drawing/2014/main" id="{457B49CD-6580-45F5-B38A-5352455731C2}"/>
              </a:ext>
            </a:extLst>
          </p:cNvPr>
          <p:cNvSpPr>
            <a:spLocks noGrp="1"/>
          </p:cNvSpPr>
          <p:nvPr/>
        </p:nvSpPr>
        <p:spPr>
          <a:xfrm>
            <a:off x="86487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Create commercial packages</a:t>
            </a:r>
          </a:p>
        </p:txBody>
      </p:sp>
      <p:sp>
        <p:nvSpPr>
          <p:cNvPr id="20" name="phase-body-3">
            <a:extLst>
              <a:ext uri="{FF2B5EF4-FFF2-40B4-BE49-F238E27FC236}">
                <a16:creationId xmlns:a16="http://schemas.microsoft.com/office/drawing/2014/main" id="{0FD37B12-18D0-477E-B3F3-DFA1444D4E24}"/>
              </a:ext>
            </a:extLst>
          </p:cNvPr>
          <p:cNvSpPr>
            <a:spLocks noGrp="1"/>
          </p:cNvSpPr>
          <p:nvPr/>
        </p:nvSpPr>
        <p:spPr>
          <a:xfrm>
            <a:off x="86487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Merchant reporting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Premium tiers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Usage- or outcome-based pricing</a:t>
            </a:r>
          </a:p>
        </p:txBody>
      </p:sp>
      <p:sp>
        <p:nvSpPr>
          <p:cNvPr id="21" name="ask">
            <a:extLst>
              <a:ext uri="{FF2B5EF4-FFF2-40B4-BE49-F238E27FC236}">
                <a16:creationId xmlns:a16="http://schemas.microsoft.com/office/drawing/2014/main" id="{F8470C8F-FC64-4DBA-A8DE-1E1BDC9936E1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1352550"/>
          </a:xfrm>
          <a:prstGeom prst="roundRect">
            <a:avLst>
              <a:gd name="adj" fmla="val 5634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sk-title">
            <a:extLst>
              <a:ext uri="{FF2B5EF4-FFF2-40B4-BE49-F238E27FC236}">
                <a16:creationId xmlns:a16="http://schemas.microsoft.com/office/drawing/2014/main" id="{500A538E-5D04-4D81-A929-FF3B5954E5C8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DECISION REQUIRED</a:t>
            </a:r>
          </a:p>
        </p:txBody>
      </p:sp>
      <p:sp>
        <p:nvSpPr>
          <p:cNvPr id="23" name="ask-copy">
            <a:extLst>
              <a:ext uri="{FF2B5EF4-FFF2-40B4-BE49-F238E27FC236}">
                <a16:creationId xmlns:a16="http://schemas.microsoft.com/office/drawing/2014/main" id="{7C62FF19-52D2-4E66-BFB3-433228B5CD1B}"/>
              </a:ext>
            </a:extLst>
          </p:cNvPr>
          <p:cNvSpPr>
            <a:spLocks noGrp="1"/>
          </p:cNvSpPr>
          <p:nvPr/>
        </p:nvSpPr>
        <p:spPr>
          <a:xfrm>
            <a:off x="933450" y="52387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Approve Phase 1 capacity and governance, anchored on smart retries plus routing optimization, with scale funding released against measurable proof points.</a:t>
            </a:r>
          </a:p>
        </p:txBody>
      </p:sp>
      <p:sp>
        <p:nvSpPr>
          <p:cNvPr id="24" name="ask-fields">
            <a:extLst>
              <a:ext uri="{FF2B5EF4-FFF2-40B4-BE49-F238E27FC236}">
                <a16:creationId xmlns:a16="http://schemas.microsoft.com/office/drawing/2014/main" id="{35AD8489-836E-4973-9082-B6B925852827}"/>
              </a:ext>
            </a:extLst>
          </p:cNvPr>
          <p:cNvSpPr>
            <a:spLocks noGrp="1"/>
          </p:cNvSpPr>
          <p:nvPr/>
        </p:nvSpPr>
        <p:spPr>
          <a:xfrm>
            <a:off x="8134350" y="4905375"/>
            <a:ext cx="304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Confirm before approval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• Investment envelope + delivery horizon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• Executive sponsor + operating governance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• Baseline metrics + value thresholds</a:t>
            </a:r>
          </a:p>
        </p:txBody>
      </p:sp>
    </p:spTree>
    <p:extLst>
      <p:ext uri="{BB962C8B-B14F-4D97-AF65-F5344CB8AC3E}">
        <p14:creationId xmlns:p14="http://schemas.microsoft.com/office/powerpoint/2010/main" val="4043214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513</Words>
  <Application>Microsoft Office PowerPoint</Application>
  <DocSecurity>0</DocSecurity>
  <PresentationFormat>Widescreen</PresentationFormat>
  <Paragraphs>105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AmplitudeTF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James Nampalam</cp:lastModifiedBy>
  <cp:revision>1</cp:revision>
  <dcterms:created xsi:type="dcterms:W3CDTF">2026-08-02T22:38:42Z</dcterms:created>
  <dcterms:modified xsi:type="dcterms:W3CDTF">2026-08-02T23:32:23Z</dcterms:modified>
</cp:coreProperties>
</file>