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38DC511-5AD2-4914-BEAD-02516F31253C}"/>
              </a:ext>
            </a:extLst>
          </p:cNvPr>
          <p:cNvSpPr>
            <a:spLocks noGrp="1"/>
          </p:cNvSpPr>
          <p:nvPr/>
        </p:nvSpPr>
        <p:spPr>
          <a:xfrm>
            <a:off x="514350" y="21907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>
                <a:solidFill>
                  <a:srgbClr val="062B49"/>
                </a:solidFill>
              </a:defRPr>
            </a:pPr>
            <a:r>
              <a:rPr sz="2400" b="1">
                <a:solidFill>
                  <a:srgbClr val="062B49"/>
                </a:solidFill>
              </a:rPr>
              <a:t>Build the Pricing Hub foundation first—then scale models in coordinated waves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80AE211-CAE8-4407-9EAD-BE7B14D889E6}"/>
              </a:ext>
            </a:extLst>
          </p:cNvPr>
          <p:cNvSpPr>
            <a:spLocks noGrp="1"/>
          </p:cNvSpPr>
          <p:nvPr/>
        </p:nvSpPr>
        <p:spPr>
          <a:xfrm>
            <a:off x="523875" y="657225"/>
            <a:ext cx="1071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526774"/>
                </a:solidFill>
              </a:defRPr>
            </a:pPr>
            <a:r>
              <a:rPr sz="1275" b="0">
                <a:solidFill>
                  <a:srgbClr val="526774"/>
                </a:solidFill>
              </a:rPr>
              <a:t>Three workstreams share one release path: the Hub commercializes each model, the Engine executes it, and Service Code Configuration enables it.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7D8142E5-D988-4A0A-AD2B-6ED9584049DE}"/>
              </a:ext>
            </a:extLst>
          </p:cNvPr>
          <p:cNvSpPr>
            <a:spLocks noGrp="1"/>
          </p:cNvSpPr>
          <p:nvPr/>
        </p:nvSpPr>
        <p:spPr>
          <a:xfrm>
            <a:off x="11258550" y="276225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00878D"/>
                </a:solidFill>
              </a:defRPr>
            </a:pPr>
            <a:r>
              <a:rPr sz="975" b="1">
                <a:solidFill>
                  <a:srgbClr val="00878D"/>
                </a:solidFill>
              </a:rPr>
              <a:t>04</a:t>
            </a:r>
          </a:p>
        </p:txBody>
      </p:sp>
      <p:sp>
        <p:nvSpPr>
          <p:cNvPr id="5" name="sequence-arrow">
            <a:extLst>
              <a:ext uri="{FF2B5EF4-FFF2-40B4-BE49-F238E27FC236}">
                <a16:creationId xmlns:a16="http://schemas.microsoft.com/office/drawing/2014/main" id="{C622E594-7C9F-456C-9FD7-2FA08377881C}"/>
              </a:ext>
            </a:extLst>
          </p:cNvPr>
          <p:cNvSpPr>
            <a:spLocks noGrp="1"/>
          </p:cNvSpPr>
          <p:nvPr/>
        </p:nvSpPr>
        <p:spPr>
          <a:xfrm>
            <a:off x="1933575" y="1057275"/>
            <a:ext cx="9686925" cy="266700"/>
          </a:xfrm>
          <a:prstGeom prst="rightArrow">
            <a:avLst/>
          </a:prstGeom>
          <a:solidFill>
            <a:srgbClr val="DCECF3"/>
          </a:solidFill>
          <a:ln w="0">
            <a:solidFill>
              <a:srgbClr val="DC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hase-foundation">
            <a:extLst>
              <a:ext uri="{FF2B5EF4-FFF2-40B4-BE49-F238E27FC236}">
                <a16:creationId xmlns:a16="http://schemas.microsoft.com/office/drawing/2014/main" id="{BBBC69ED-BE7C-4E8F-A544-8E20B76C1D2A}"/>
              </a:ext>
            </a:extLst>
          </p:cNvPr>
          <p:cNvSpPr>
            <a:spLocks noGrp="1"/>
          </p:cNvSpPr>
          <p:nvPr/>
        </p:nvSpPr>
        <p:spPr>
          <a:xfrm>
            <a:off x="1952625" y="1028700"/>
            <a:ext cx="2543175" cy="333375"/>
          </a:xfrm>
          <a:prstGeom prst="roundRect">
            <a:avLst>
              <a:gd name="adj" fmla="val 22857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FOUNDATION  |  Q1</a:t>
            </a:r>
            <a:r>
              <a:rPr lang="en-US" sz="1200" b="1" dirty="0">
                <a:solidFill>
                  <a:srgbClr val="FFFFFF"/>
                </a:solidFill>
              </a:rPr>
              <a:t> 2027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8" name="phase-wave1">
            <a:extLst>
              <a:ext uri="{FF2B5EF4-FFF2-40B4-BE49-F238E27FC236}">
                <a16:creationId xmlns:a16="http://schemas.microsoft.com/office/drawing/2014/main" id="{AB7D01AF-F2DF-4526-888E-78F907FB80CA}"/>
              </a:ext>
            </a:extLst>
          </p:cNvPr>
          <p:cNvSpPr>
            <a:spLocks noGrp="1"/>
          </p:cNvSpPr>
          <p:nvPr/>
        </p:nvSpPr>
        <p:spPr>
          <a:xfrm>
            <a:off x="4600575" y="1028700"/>
            <a:ext cx="2305050" cy="333375"/>
          </a:xfrm>
          <a:prstGeom prst="roundRect">
            <a:avLst>
              <a:gd name="adj" fmla="val 22857"/>
            </a:avLst>
          </a:prstGeom>
          <a:solidFill>
            <a:srgbClr val="00878D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WAVE 1  |  </a:t>
            </a:r>
            <a:r>
              <a:rPr lang="en-US" sz="1200" b="1" dirty="0">
                <a:solidFill>
                  <a:srgbClr val="FFFFFF"/>
                </a:solidFill>
              </a:rPr>
              <a:t>Q2-Q3 </a:t>
            </a:r>
            <a:r>
              <a:rPr sz="1200" b="1" dirty="0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9" name="phase-wave2">
            <a:extLst>
              <a:ext uri="{FF2B5EF4-FFF2-40B4-BE49-F238E27FC236}">
                <a16:creationId xmlns:a16="http://schemas.microsoft.com/office/drawing/2014/main" id="{E3A23021-409D-471C-B47C-6C20FE3B8DCB}"/>
              </a:ext>
            </a:extLst>
          </p:cNvPr>
          <p:cNvSpPr>
            <a:spLocks noGrp="1"/>
          </p:cNvSpPr>
          <p:nvPr/>
        </p:nvSpPr>
        <p:spPr>
          <a:xfrm>
            <a:off x="7010400" y="1028700"/>
            <a:ext cx="2305050" cy="333375"/>
          </a:xfrm>
          <a:prstGeom prst="roundRect">
            <a:avLst>
              <a:gd name="adj" fmla="val 22857"/>
            </a:avLst>
          </a:prstGeom>
          <a:solidFill>
            <a:srgbClr val="9552A6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WAVE 2  |  Q</a:t>
            </a:r>
            <a:r>
              <a:rPr lang="en-US" sz="1200" b="1" dirty="0">
                <a:solidFill>
                  <a:srgbClr val="FFFFFF"/>
                </a:solidFill>
              </a:rPr>
              <a:t>4 2027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0" name="phase-wave3">
            <a:extLst>
              <a:ext uri="{FF2B5EF4-FFF2-40B4-BE49-F238E27FC236}">
                <a16:creationId xmlns:a16="http://schemas.microsoft.com/office/drawing/2014/main" id="{90EC94CF-5BED-41A5-9506-E76E9C9AFB7D}"/>
              </a:ext>
            </a:extLst>
          </p:cNvPr>
          <p:cNvSpPr>
            <a:spLocks noGrp="1"/>
          </p:cNvSpPr>
          <p:nvPr/>
        </p:nvSpPr>
        <p:spPr>
          <a:xfrm>
            <a:off x="9420225" y="1028700"/>
            <a:ext cx="2247900" cy="333375"/>
          </a:xfrm>
          <a:prstGeom prst="roundRect">
            <a:avLst>
              <a:gd name="adj" fmla="val 22857"/>
            </a:avLst>
          </a:prstGeom>
          <a:solidFill>
            <a:srgbClr val="33865E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 dirty="0">
                <a:solidFill>
                  <a:srgbClr val="FFFFFF"/>
                </a:solidFill>
              </a:rPr>
              <a:t>WAVE 3  |  </a:t>
            </a:r>
            <a:r>
              <a:rPr lang="en-US" sz="1200" b="1" dirty="0">
                <a:solidFill>
                  <a:srgbClr val="FFFFFF"/>
                </a:solidFill>
              </a:rPr>
              <a:t>2028</a:t>
            </a:r>
            <a:endParaRPr sz="1200" b="1" dirty="0">
              <a:solidFill>
                <a:srgbClr val="FFFFFF"/>
              </a:solidFill>
            </a:endParaRPr>
          </a:p>
        </p:txBody>
      </p:sp>
      <p:sp>
        <p:nvSpPr>
          <p:cNvPr id="12" name="lane-hub">
            <a:extLst>
              <a:ext uri="{FF2B5EF4-FFF2-40B4-BE49-F238E27FC236}">
                <a16:creationId xmlns:a16="http://schemas.microsoft.com/office/drawing/2014/main" id="{64AEF53F-4629-49D0-8F4B-A4EE11F4F611}"/>
              </a:ext>
            </a:extLst>
          </p:cNvPr>
          <p:cNvSpPr>
            <a:spLocks noGrp="1"/>
          </p:cNvSpPr>
          <p:nvPr/>
        </p:nvSpPr>
        <p:spPr>
          <a:xfrm>
            <a:off x="523875" y="1695450"/>
            <a:ext cx="1304925" cy="1019175"/>
          </a:xfrm>
          <a:prstGeom prst="roundRect">
            <a:avLst>
              <a:gd name="adj" fmla="val 7477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PRICING HUB</a:t>
            </a:r>
          </a:p>
        </p:txBody>
      </p:sp>
      <p:sp>
        <p:nvSpPr>
          <p:cNvPr id="13" name="lane-engine">
            <a:extLst>
              <a:ext uri="{FF2B5EF4-FFF2-40B4-BE49-F238E27FC236}">
                <a16:creationId xmlns:a16="http://schemas.microsoft.com/office/drawing/2014/main" id="{C8D999B0-F5B2-42F8-97A3-758AA0D4B4CF}"/>
              </a:ext>
            </a:extLst>
          </p:cNvPr>
          <p:cNvSpPr>
            <a:spLocks noGrp="1"/>
          </p:cNvSpPr>
          <p:nvPr/>
        </p:nvSpPr>
        <p:spPr>
          <a:xfrm>
            <a:off x="523875" y="2809875"/>
            <a:ext cx="1304925" cy="1019175"/>
          </a:xfrm>
          <a:prstGeom prst="roundRect">
            <a:avLst>
              <a:gd name="adj" fmla="val 7477"/>
            </a:avLst>
          </a:prstGeom>
          <a:solidFill>
            <a:srgbClr val="9552A6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MONETIZATION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ENGINE</a:t>
            </a:r>
          </a:p>
        </p:txBody>
      </p:sp>
      <p:sp>
        <p:nvSpPr>
          <p:cNvPr id="14" name="lane-service">
            <a:extLst>
              <a:ext uri="{FF2B5EF4-FFF2-40B4-BE49-F238E27FC236}">
                <a16:creationId xmlns:a16="http://schemas.microsoft.com/office/drawing/2014/main" id="{277F8606-AB6E-4758-A0C7-38F06A33A4CC}"/>
              </a:ext>
            </a:extLst>
          </p:cNvPr>
          <p:cNvSpPr>
            <a:spLocks noGrp="1"/>
          </p:cNvSpPr>
          <p:nvPr/>
        </p:nvSpPr>
        <p:spPr>
          <a:xfrm>
            <a:off x="523875" y="3924300"/>
            <a:ext cx="1304925" cy="1019175"/>
          </a:xfrm>
          <a:prstGeom prst="roundRect">
            <a:avLst>
              <a:gd name="adj" fmla="val 7477"/>
            </a:avLst>
          </a:prstGeom>
          <a:solidFill>
            <a:srgbClr val="33865E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SERVICE CODE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CONFIG.</a:t>
            </a:r>
          </a:p>
        </p:txBody>
      </p:sp>
      <p:sp>
        <p:nvSpPr>
          <p:cNvPr id="15" name="hub-foundation">
            <a:extLst>
              <a:ext uri="{FF2B5EF4-FFF2-40B4-BE49-F238E27FC236}">
                <a16:creationId xmlns:a16="http://schemas.microsoft.com/office/drawing/2014/main" id="{8170206A-9788-40B6-97A3-9AE2C5A07C2E}"/>
              </a:ext>
            </a:extLst>
          </p:cNvPr>
          <p:cNvSpPr>
            <a:spLocks noGrp="1"/>
          </p:cNvSpPr>
          <p:nvPr/>
        </p:nvSpPr>
        <p:spPr>
          <a:xfrm>
            <a:off x="1952625" y="1695450"/>
            <a:ext cx="2543175" cy="1019175"/>
          </a:xfrm>
          <a:prstGeom prst="roundRect">
            <a:avLst>
              <a:gd name="adj" fmla="val 7477"/>
            </a:avLst>
          </a:prstGeom>
          <a:solidFill>
            <a:srgbClr val="DCECF3"/>
          </a:solidFill>
          <a:ln w="9525">
            <a:solidFill>
              <a:srgbClr val="86B1C4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 dirty="0">
                <a:solidFill>
                  <a:srgbClr val="172B3A"/>
                </a:solidFill>
              </a:rPr>
              <a:t>Modern Hub + pricing data store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 dirty="0">
                <a:solidFill>
                  <a:srgbClr val="172B3A"/>
                </a:solidFill>
              </a:rPr>
              <a:t>Templates </a:t>
            </a:r>
            <a:r>
              <a:rPr lang="en-US" sz="1200" b="0" dirty="0">
                <a:solidFill>
                  <a:srgbClr val="172B3A"/>
                </a:solidFill>
              </a:rPr>
              <a:t>Management</a:t>
            </a:r>
            <a:endParaRPr sz="1200" b="0" dirty="0">
              <a:solidFill>
                <a:srgbClr val="172B3A"/>
              </a:solidFill>
            </a:endParaRP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 dirty="0">
                <a:solidFill>
                  <a:srgbClr val="172B3A"/>
                </a:solidFill>
              </a:rPr>
              <a:t>UPC–Engine automation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 dirty="0">
                <a:solidFill>
                  <a:srgbClr val="172B3A"/>
                </a:solidFill>
              </a:rPr>
              <a:t>UPC for Commerce Platform</a:t>
            </a:r>
          </a:p>
        </p:txBody>
      </p:sp>
      <p:sp>
        <p:nvSpPr>
          <p:cNvPr id="16" name="hub-wave1">
            <a:extLst>
              <a:ext uri="{FF2B5EF4-FFF2-40B4-BE49-F238E27FC236}">
                <a16:creationId xmlns:a16="http://schemas.microsoft.com/office/drawing/2014/main" id="{8B127DEB-9AB8-4662-A603-2E906D44045E}"/>
              </a:ext>
            </a:extLst>
          </p:cNvPr>
          <p:cNvSpPr>
            <a:spLocks noGrp="1"/>
          </p:cNvSpPr>
          <p:nvPr/>
        </p:nvSpPr>
        <p:spPr>
          <a:xfrm>
            <a:off x="4600575" y="1695450"/>
            <a:ext cx="2305050" cy="1019175"/>
          </a:xfrm>
          <a:prstGeom prst="roundRect">
            <a:avLst>
              <a:gd name="adj" fmla="val 7477"/>
            </a:avLst>
          </a:prstGeom>
          <a:solidFill>
            <a:srgbClr val="E8F5F5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Schedule A integration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(Commerce Center, PS/CPS)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Approval workflow automation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ECR activation automation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Pricing updates &amp; servicing</a:t>
            </a:r>
          </a:p>
        </p:txBody>
      </p:sp>
      <p:sp>
        <p:nvSpPr>
          <p:cNvPr id="17" name="hub-wave2">
            <a:extLst>
              <a:ext uri="{FF2B5EF4-FFF2-40B4-BE49-F238E27FC236}">
                <a16:creationId xmlns:a16="http://schemas.microsoft.com/office/drawing/2014/main" id="{429F0CF4-9E49-45E7-AA30-B2FF9E6A66D1}"/>
              </a:ext>
            </a:extLst>
          </p:cNvPr>
          <p:cNvSpPr>
            <a:spLocks noGrp="1"/>
          </p:cNvSpPr>
          <p:nvPr/>
        </p:nvSpPr>
        <p:spPr>
          <a:xfrm>
            <a:off x="7010400" y="1695450"/>
            <a:ext cx="2305050" cy="1019175"/>
          </a:xfrm>
          <a:prstGeom prst="roundRect">
            <a:avLst>
              <a:gd name="adj" fmla="val 7477"/>
            </a:avLst>
          </a:prstGeom>
          <a:solidFill>
            <a:srgbClr val="F0E6F3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Pricing A/B testing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Bundle configurator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Temporary + bundled discount configuration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Model validation and guardrails</a:t>
            </a:r>
          </a:p>
        </p:txBody>
      </p:sp>
      <p:sp>
        <p:nvSpPr>
          <p:cNvPr id="18" name="hub-wave3">
            <a:extLst>
              <a:ext uri="{FF2B5EF4-FFF2-40B4-BE49-F238E27FC236}">
                <a16:creationId xmlns:a16="http://schemas.microsoft.com/office/drawing/2014/main" id="{E59D8E76-D37A-4A94-9868-9584C50B43DF}"/>
              </a:ext>
            </a:extLst>
          </p:cNvPr>
          <p:cNvSpPr>
            <a:spLocks noGrp="1"/>
          </p:cNvSpPr>
          <p:nvPr/>
        </p:nvSpPr>
        <p:spPr>
          <a:xfrm>
            <a:off x="9420225" y="1695450"/>
            <a:ext cx="2247900" cy="1019175"/>
          </a:xfrm>
          <a:prstGeom prst="roundRect">
            <a:avLst>
              <a:gd name="adj" fmla="val 7477"/>
            </a:avLst>
          </a:prstGeom>
          <a:solidFill>
            <a:srgbClr val="E7F2EC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Revenue-share templates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Multi-party share configuration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Partner residual configuration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Bulk updates, audit &amp; reporting</a:t>
            </a:r>
          </a:p>
        </p:txBody>
      </p:sp>
      <p:sp>
        <p:nvSpPr>
          <p:cNvPr id="19" name="engine-foundation">
            <a:extLst>
              <a:ext uri="{FF2B5EF4-FFF2-40B4-BE49-F238E27FC236}">
                <a16:creationId xmlns:a16="http://schemas.microsoft.com/office/drawing/2014/main" id="{D2E3F1CC-29AB-415F-A58D-9F8B467BB42F}"/>
              </a:ext>
            </a:extLst>
          </p:cNvPr>
          <p:cNvSpPr>
            <a:spLocks noGrp="1"/>
          </p:cNvSpPr>
          <p:nvPr/>
        </p:nvSpPr>
        <p:spPr>
          <a:xfrm>
            <a:off x="1952625" y="2809875"/>
            <a:ext cx="2543175" cy="1019175"/>
          </a:xfrm>
          <a:prstGeom prst="roundRect">
            <a:avLst>
              <a:gd name="adj" fmla="val 7477"/>
            </a:avLst>
          </a:prstGeom>
          <a:solidFill>
            <a:srgbClr val="F4F7F9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Reusable model framework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Configuration + publishing APIs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Common calculations, validation and effective dating</a:t>
            </a:r>
          </a:p>
        </p:txBody>
      </p:sp>
      <p:sp>
        <p:nvSpPr>
          <p:cNvPr id="20" name="engine-wave1">
            <a:extLst>
              <a:ext uri="{FF2B5EF4-FFF2-40B4-BE49-F238E27FC236}">
                <a16:creationId xmlns:a16="http://schemas.microsoft.com/office/drawing/2014/main" id="{2EFBC058-5141-4879-A316-5D4EBDFD1AF0}"/>
              </a:ext>
            </a:extLst>
          </p:cNvPr>
          <p:cNvSpPr>
            <a:spLocks noGrp="1"/>
          </p:cNvSpPr>
          <p:nvPr/>
        </p:nvSpPr>
        <p:spPr>
          <a:xfrm>
            <a:off x="4600575" y="2809875"/>
            <a:ext cx="2305050" cy="1019175"/>
          </a:xfrm>
          <a:prstGeom prst="roundRect">
            <a:avLst>
              <a:gd name="adj" fmla="val 7477"/>
            </a:avLst>
          </a:prstGeom>
          <a:solidFill>
            <a:srgbClr val="E8F5F5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 dirty="0">
                <a:solidFill>
                  <a:srgbClr val="172B3A"/>
                </a:solidFill>
              </a:rPr>
              <a:t>TIERING &amp; DISCOUNTS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 dirty="0">
                <a:solidFill>
                  <a:srgbClr val="172B3A"/>
                </a:solidFill>
              </a:rPr>
              <a:t>Simple tiering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 dirty="0">
                <a:solidFill>
                  <a:srgbClr val="172B3A"/>
                </a:solidFill>
              </a:rPr>
              <a:t>Tier pricing models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 dirty="0">
                <a:solidFill>
                  <a:srgbClr val="172B3A"/>
                </a:solidFill>
              </a:rPr>
              <a:t>Progressive + automated tiering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 dirty="0">
                <a:solidFill>
                  <a:srgbClr val="172B3A"/>
                </a:solidFill>
              </a:rPr>
              <a:t>Single discount model</a:t>
            </a:r>
          </a:p>
        </p:txBody>
      </p:sp>
      <p:sp>
        <p:nvSpPr>
          <p:cNvPr id="21" name="engine-wave2">
            <a:extLst>
              <a:ext uri="{FF2B5EF4-FFF2-40B4-BE49-F238E27FC236}">
                <a16:creationId xmlns:a16="http://schemas.microsoft.com/office/drawing/2014/main" id="{20EDAAA1-2CD8-4C24-9403-09A7A8FA91E1}"/>
              </a:ext>
            </a:extLst>
          </p:cNvPr>
          <p:cNvSpPr>
            <a:spLocks noGrp="1"/>
          </p:cNvSpPr>
          <p:nvPr/>
        </p:nvSpPr>
        <p:spPr>
          <a:xfrm>
            <a:off x="7010400" y="2809875"/>
            <a:ext cx="2305050" cy="1019175"/>
          </a:xfrm>
          <a:prstGeom prst="roundRect">
            <a:avLst>
              <a:gd name="adj" fmla="val 7477"/>
            </a:avLst>
          </a:prstGeom>
          <a:solidFill>
            <a:srgbClr val="F0E6F3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BUNDLES &amp; PACKAGING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Dynamic bundles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Temporary discounts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Bundled discounts</a:t>
            </a:r>
          </a:p>
        </p:txBody>
      </p:sp>
      <p:sp>
        <p:nvSpPr>
          <p:cNvPr id="22" name="engine-wave3">
            <a:extLst>
              <a:ext uri="{FF2B5EF4-FFF2-40B4-BE49-F238E27FC236}">
                <a16:creationId xmlns:a16="http://schemas.microsoft.com/office/drawing/2014/main" id="{808529CC-B2A4-457E-8AF9-2220452A8549}"/>
              </a:ext>
            </a:extLst>
          </p:cNvPr>
          <p:cNvSpPr>
            <a:spLocks noGrp="1"/>
          </p:cNvSpPr>
          <p:nvPr/>
        </p:nvSpPr>
        <p:spPr>
          <a:xfrm>
            <a:off x="9420225" y="2809875"/>
            <a:ext cx="2247900" cy="1019175"/>
          </a:xfrm>
          <a:prstGeom prst="roundRect">
            <a:avLst>
              <a:gd name="adj" fmla="val 7477"/>
            </a:avLst>
          </a:prstGeom>
          <a:solidFill>
            <a:srgbClr val="E7F2EC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REVENUE SHARE &amp; PARTNER ECONOMICS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Revenue-share calculations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Multi-party revenue share</a:t>
            </a:r>
          </a:p>
          <a:p>
            <a:pPr algn="l">
              <a:defRPr sz="1200" b="1">
                <a:solidFill>
                  <a:srgbClr val="172B3A"/>
                </a:solidFill>
              </a:defRPr>
            </a:pPr>
            <a:r>
              <a:rPr sz="1200" b="1">
                <a:solidFill>
                  <a:srgbClr val="172B3A"/>
                </a:solidFill>
              </a:rPr>
              <a:t>Partner residuals + billing API</a:t>
            </a:r>
          </a:p>
        </p:txBody>
      </p:sp>
      <p:sp>
        <p:nvSpPr>
          <p:cNvPr id="23" name="service-foundation">
            <a:extLst>
              <a:ext uri="{FF2B5EF4-FFF2-40B4-BE49-F238E27FC236}">
                <a16:creationId xmlns:a16="http://schemas.microsoft.com/office/drawing/2014/main" id="{41A0B6BA-89A4-4B0D-89FA-D88ED0B8E36E}"/>
              </a:ext>
            </a:extLst>
          </p:cNvPr>
          <p:cNvSpPr>
            <a:spLocks noGrp="1"/>
          </p:cNvSpPr>
          <p:nvPr/>
        </p:nvSpPr>
        <p:spPr>
          <a:xfrm>
            <a:off x="1952625" y="3924300"/>
            <a:ext cx="2543175" cy="1019175"/>
          </a:xfrm>
          <a:prstGeom prst="roundRect">
            <a:avLst>
              <a:gd name="adj" fmla="val 7477"/>
            </a:avLst>
          </a:prstGeom>
          <a:solidFill>
            <a:srgbClr val="F4F7F9"/>
          </a:solidFill>
          <a:ln w="9525">
            <a:solidFill>
              <a:srgbClr val="C9D7DE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Modern SCO portal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Product catalog → service code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AI-driven service-code helper</a:t>
            </a:r>
          </a:p>
        </p:txBody>
      </p:sp>
      <p:sp>
        <p:nvSpPr>
          <p:cNvPr id="24" name="service-wave1">
            <a:extLst>
              <a:ext uri="{FF2B5EF4-FFF2-40B4-BE49-F238E27FC236}">
                <a16:creationId xmlns:a16="http://schemas.microsoft.com/office/drawing/2014/main" id="{38790476-1977-4B76-878B-ED6F9494B34E}"/>
              </a:ext>
            </a:extLst>
          </p:cNvPr>
          <p:cNvSpPr>
            <a:spLocks noGrp="1"/>
          </p:cNvSpPr>
          <p:nvPr/>
        </p:nvSpPr>
        <p:spPr>
          <a:xfrm>
            <a:off x="4600575" y="3924300"/>
            <a:ext cx="2305050" cy="1019175"/>
          </a:xfrm>
          <a:prstGeom prst="roundRect">
            <a:avLst>
              <a:gd name="adj" fmla="val 7477"/>
            </a:avLst>
          </a:prstGeom>
          <a:solidFill>
            <a:srgbClr val="E8F5F5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Automate source-of-truth updates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Automate deprecation workflow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Governed mappings for activation</a:t>
            </a:r>
          </a:p>
        </p:txBody>
      </p:sp>
      <p:sp>
        <p:nvSpPr>
          <p:cNvPr id="25" name="service-wave2">
            <a:extLst>
              <a:ext uri="{FF2B5EF4-FFF2-40B4-BE49-F238E27FC236}">
                <a16:creationId xmlns:a16="http://schemas.microsoft.com/office/drawing/2014/main" id="{BD415A2A-B480-4C17-8E32-75B7F00F3E54}"/>
              </a:ext>
            </a:extLst>
          </p:cNvPr>
          <p:cNvSpPr>
            <a:spLocks noGrp="1"/>
          </p:cNvSpPr>
          <p:nvPr/>
        </p:nvSpPr>
        <p:spPr>
          <a:xfrm>
            <a:off x="7010400" y="3924300"/>
            <a:ext cx="2305050" cy="1019175"/>
          </a:xfrm>
          <a:prstGeom prst="roundRect">
            <a:avLst>
              <a:gd name="adj" fmla="val 7477"/>
            </a:avLst>
          </a:prstGeom>
          <a:solidFill>
            <a:srgbClr val="F0E6F3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GenAI-assisted service-code creation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Service-code auto approval</a:t>
            </a:r>
          </a:p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Model-aligned validation</a:t>
            </a:r>
          </a:p>
        </p:txBody>
      </p:sp>
      <p:sp>
        <p:nvSpPr>
          <p:cNvPr id="26" name="service-wave3">
            <a:extLst>
              <a:ext uri="{FF2B5EF4-FFF2-40B4-BE49-F238E27FC236}">
                <a16:creationId xmlns:a16="http://schemas.microsoft.com/office/drawing/2014/main" id="{F3810F4C-C9B2-43F6-87F7-7D100B05C3E8}"/>
              </a:ext>
            </a:extLst>
          </p:cNvPr>
          <p:cNvSpPr>
            <a:spLocks noGrp="1"/>
          </p:cNvSpPr>
          <p:nvPr/>
        </p:nvSpPr>
        <p:spPr>
          <a:xfrm>
            <a:off x="9420225" y="3924300"/>
            <a:ext cx="2247900" cy="1019175"/>
          </a:xfrm>
          <a:prstGeom prst="roundRect">
            <a:avLst>
              <a:gd name="adj" fmla="val 7477"/>
            </a:avLst>
          </a:prstGeom>
          <a:solidFill>
            <a:srgbClr val="E7F2EC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2B3A"/>
                </a:solidFill>
              </a:defRPr>
            </a:pPr>
            <a:r>
              <a:rPr sz="1200" b="0">
                <a:solidFill>
                  <a:srgbClr val="172B3A"/>
                </a:solidFill>
              </a:rPr>
              <a:t>Scale governed configuration across products, platforms and partner models</a:t>
            </a:r>
          </a:p>
        </p:txBody>
      </p:sp>
      <p:sp>
        <p:nvSpPr>
          <p:cNvPr id="27" name="end-state-label">
            <a:extLst>
              <a:ext uri="{FF2B5EF4-FFF2-40B4-BE49-F238E27FC236}">
                <a16:creationId xmlns:a16="http://schemas.microsoft.com/office/drawing/2014/main" id="{D0E33F35-DBF8-4FBF-B436-E66FD9EF7552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4714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062B49"/>
                </a:solidFill>
              </a:defRPr>
            </a:pPr>
            <a:r>
              <a:rPr sz="1200" b="1">
                <a:solidFill>
                  <a:srgbClr val="062B49"/>
                </a:solidFill>
              </a:rPr>
              <a:t>END-STATE FOR EVERY NEW MONETIZATION MODEL</a:t>
            </a:r>
          </a:p>
        </p:txBody>
      </p:sp>
      <p:sp>
        <p:nvSpPr>
          <p:cNvPr id="28" name="end-state-subtitle">
            <a:extLst>
              <a:ext uri="{FF2B5EF4-FFF2-40B4-BE49-F238E27FC236}">
                <a16:creationId xmlns:a16="http://schemas.microsoft.com/office/drawing/2014/main" id="{DD726A98-F544-48B3-A175-1EA61F206102}"/>
              </a:ext>
            </a:extLst>
          </p:cNvPr>
          <p:cNvSpPr>
            <a:spLocks noGrp="1"/>
          </p:cNvSpPr>
          <p:nvPr/>
        </p:nvSpPr>
        <p:spPr>
          <a:xfrm>
            <a:off x="6477000" y="5143500"/>
            <a:ext cx="519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200" b="1">
                <a:solidFill>
                  <a:srgbClr val="00878D"/>
                </a:solidFill>
              </a:defRPr>
            </a:pPr>
            <a:r>
              <a:rPr sz="1200" b="1">
                <a:solidFill>
                  <a:srgbClr val="00878D"/>
                </a:solidFill>
              </a:rPr>
              <a:t>One coordinated release—not separate Hub and Engine projects</a:t>
            </a:r>
          </a:p>
        </p:txBody>
      </p:sp>
      <p:sp>
        <p:nvSpPr>
          <p:cNvPr id="29" name="end-arrow-259">
            <a:extLst>
              <a:ext uri="{FF2B5EF4-FFF2-40B4-BE49-F238E27FC236}">
                <a16:creationId xmlns:a16="http://schemas.microsoft.com/office/drawing/2014/main" id="{3581AB25-3713-4A63-A104-3ADBBC77B629}"/>
              </a:ext>
            </a:extLst>
          </p:cNvPr>
          <p:cNvSpPr>
            <a:spLocks noGrp="1"/>
          </p:cNvSpPr>
          <p:nvPr/>
        </p:nvSpPr>
        <p:spPr>
          <a:xfrm>
            <a:off x="2466975" y="5600700"/>
            <a:ext cx="428625" cy="228600"/>
          </a:xfrm>
          <a:prstGeom prst="rightArrow">
            <a:avLst/>
          </a:prstGeom>
          <a:solidFill>
            <a:srgbClr val="C9D7DE"/>
          </a:solidFill>
          <a:ln w="0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nd-arrow-463">
            <a:extLst>
              <a:ext uri="{FF2B5EF4-FFF2-40B4-BE49-F238E27FC236}">
                <a16:creationId xmlns:a16="http://schemas.microsoft.com/office/drawing/2014/main" id="{2F7F05C5-0C9B-41CC-89FC-4598EE0C1E8F}"/>
              </a:ext>
            </a:extLst>
          </p:cNvPr>
          <p:cNvSpPr>
            <a:spLocks noGrp="1"/>
          </p:cNvSpPr>
          <p:nvPr/>
        </p:nvSpPr>
        <p:spPr>
          <a:xfrm>
            <a:off x="4410075" y="5600700"/>
            <a:ext cx="428625" cy="228600"/>
          </a:xfrm>
          <a:prstGeom prst="rightArrow">
            <a:avLst/>
          </a:prstGeom>
          <a:solidFill>
            <a:srgbClr val="C9D7DE"/>
          </a:solidFill>
          <a:ln w="0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end-arrow-667">
            <a:extLst>
              <a:ext uri="{FF2B5EF4-FFF2-40B4-BE49-F238E27FC236}">
                <a16:creationId xmlns:a16="http://schemas.microsoft.com/office/drawing/2014/main" id="{E8DDCE63-B230-4DB6-88AB-6D6CF36BE125}"/>
              </a:ext>
            </a:extLst>
          </p:cNvPr>
          <p:cNvSpPr>
            <a:spLocks noGrp="1"/>
          </p:cNvSpPr>
          <p:nvPr/>
        </p:nvSpPr>
        <p:spPr>
          <a:xfrm>
            <a:off x="6353175" y="5600700"/>
            <a:ext cx="428625" cy="228600"/>
          </a:xfrm>
          <a:prstGeom prst="rightArrow">
            <a:avLst/>
          </a:prstGeom>
          <a:solidFill>
            <a:srgbClr val="C9D7DE"/>
          </a:solidFill>
          <a:ln w="0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end-arrow-871">
            <a:extLst>
              <a:ext uri="{FF2B5EF4-FFF2-40B4-BE49-F238E27FC236}">
                <a16:creationId xmlns:a16="http://schemas.microsoft.com/office/drawing/2014/main" id="{166E6843-2C02-4C7D-923D-5544CDE2B2F8}"/>
              </a:ext>
            </a:extLst>
          </p:cNvPr>
          <p:cNvSpPr>
            <a:spLocks noGrp="1"/>
          </p:cNvSpPr>
          <p:nvPr/>
        </p:nvSpPr>
        <p:spPr>
          <a:xfrm>
            <a:off x="8296275" y="5600700"/>
            <a:ext cx="428625" cy="228600"/>
          </a:xfrm>
          <a:prstGeom prst="rightArrow">
            <a:avLst/>
          </a:prstGeom>
          <a:solidFill>
            <a:srgbClr val="C9D7DE"/>
          </a:solidFill>
          <a:ln w="0">
            <a:solidFill>
              <a:srgbClr val="C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age-0">
            <a:extLst>
              <a:ext uri="{FF2B5EF4-FFF2-40B4-BE49-F238E27FC236}">
                <a16:creationId xmlns:a16="http://schemas.microsoft.com/office/drawing/2014/main" id="{AF70DB10-F94D-4868-8EAB-78B580A12AED}"/>
              </a:ext>
            </a:extLst>
          </p:cNvPr>
          <p:cNvSpPr>
            <a:spLocks noGrp="1"/>
          </p:cNvSpPr>
          <p:nvPr/>
        </p:nvSpPr>
        <p:spPr>
          <a:xfrm>
            <a:off x="523875" y="5410200"/>
            <a:ext cx="19431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9525">
            <a:solidFill>
              <a:srgbClr val="9552A6"/>
            </a:solidFill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1  ENGINE LOGIC</a:t>
            </a:r>
          </a:p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Calculations + guardrails</a:t>
            </a:r>
          </a:p>
        </p:txBody>
      </p:sp>
      <p:sp>
        <p:nvSpPr>
          <p:cNvPr id="34" name="stage-1">
            <a:extLst>
              <a:ext uri="{FF2B5EF4-FFF2-40B4-BE49-F238E27FC236}">
                <a16:creationId xmlns:a16="http://schemas.microsoft.com/office/drawing/2014/main" id="{CDA9EBBF-E2F3-4FAF-9CED-2BCB0D4E22E6}"/>
              </a:ext>
            </a:extLst>
          </p:cNvPr>
          <p:cNvSpPr>
            <a:spLocks noGrp="1"/>
          </p:cNvSpPr>
          <p:nvPr/>
        </p:nvSpPr>
        <p:spPr>
          <a:xfrm>
            <a:off x="2886075" y="5410200"/>
            <a:ext cx="1524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2  HUB SETUP</a:t>
            </a:r>
          </a:p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Configuration + versioning</a:t>
            </a:r>
          </a:p>
        </p:txBody>
      </p:sp>
      <p:sp>
        <p:nvSpPr>
          <p:cNvPr id="35" name="stage-2">
            <a:extLst>
              <a:ext uri="{FF2B5EF4-FFF2-40B4-BE49-F238E27FC236}">
                <a16:creationId xmlns:a16="http://schemas.microsoft.com/office/drawing/2014/main" id="{97377463-1269-4A89-82C5-8C1AD2A14738}"/>
              </a:ext>
            </a:extLst>
          </p:cNvPr>
          <p:cNvSpPr>
            <a:spLocks noGrp="1"/>
          </p:cNvSpPr>
          <p:nvPr/>
        </p:nvSpPr>
        <p:spPr>
          <a:xfrm>
            <a:off x="4829175" y="5410200"/>
            <a:ext cx="1524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9525">
            <a:solidFill>
              <a:srgbClr val="E5A528"/>
            </a:solidFill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3  UPC / TEMPLATES</a:t>
            </a:r>
          </a:p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Enable the selling experience</a:t>
            </a:r>
          </a:p>
        </p:txBody>
      </p:sp>
      <p:sp>
        <p:nvSpPr>
          <p:cNvPr id="36" name="stage-3">
            <a:extLst>
              <a:ext uri="{FF2B5EF4-FFF2-40B4-BE49-F238E27FC236}">
                <a16:creationId xmlns:a16="http://schemas.microsoft.com/office/drawing/2014/main" id="{5E748FC1-932F-4892-861F-356DE9A2079A}"/>
              </a:ext>
            </a:extLst>
          </p:cNvPr>
          <p:cNvSpPr>
            <a:spLocks noGrp="1"/>
          </p:cNvSpPr>
          <p:nvPr/>
        </p:nvSpPr>
        <p:spPr>
          <a:xfrm>
            <a:off x="6772275" y="5410200"/>
            <a:ext cx="152400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9525">
            <a:solidFill>
              <a:srgbClr val="00878D"/>
            </a:solidFill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4  APPROVE + PUBLISH</a:t>
            </a:r>
          </a:p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Instruction → Engine</a:t>
            </a:r>
          </a:p>
        </p:txBody>
      </p:sp>
      <p:sp>
        <p:nvSpPr>
          <p:cNvPr id="37" name="stage-4">
            <a:extLst>
              <a:ext uri="{FF2B5EF4-FFF2-40B4-BE49-F238E27FC236}">
                <a16:creationId xmlns:a16="http://schemas.microsoft.com/office/drawing/2014/main" id="{92495DF6-615C-419E-83A9-FA8AE695E0A3}"/>
              </a:ext>
            </a:extLst>
          </p:cNvPr>
          <p:cNvSpPr>
            <a:spLocks noGrp="1"/>
          </p:cNvSpPr>
          <p:nvPr/>
        </p:nvSpPr>
        <p:spPr>
          <a:xfrm>
            <a:off x="8715375" y="5410200"/>
            <a:ext cx="295275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9525">
            <a:solidFill>
              <a:srgbClr val="33865E"/>
            </a:solidFill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5  SERVICE + SCALE</a:t>
            </a:r>
          </a:p>
          <a:p>
            <a:pPr algn="l">
              <a:defRPr sz="1125" b="1">
                <a:solidFill>
                  <a:srgbClr val="172B3A"/>
                </a:solidFill>
              </a:defRPr>
            </a:pPr>
            <a:r>
              <a:rPr sz="1125" b="1">
                <a:solidFill>
                  <a:srgbClr val="172B3A"/>
                </a:solidFill>
              </a:rPr>
              <a:t>Updates, audit + reporting</a:t>
            </a:r>
          </a:p>
        </p:txBody>
      </p:sp>
      <p:sp>
        <p:nvSpPr>
          <p:cNvPr id="38" name="outcome">
            <a:extLst>
              <a:ext uri="{FF2B5EF4-FFF2-40B4-BE49-F238E27FC236}">
                <a16:creationId xmlns:a16="http://schemas.microsoft.com/office/drawing/2014/main" id="{57682E6F-D510-413B-8ACA-4ECEA7D5ED6C}"/>
              </a:ext>
            </a:extLst>
          </p:cNvPr>
          <p:cNvSpPr>
            <a:spLocks noGrp="1"/>
          </p:cNvSpPr>
          <p:nvPr/>
        </p:nvSpPr>
        <p:spPr>
          <a:xfrm>
            <a:off x="938377" y="6267450"/>
            <a:ext cx="9715500" cy="266700"/>
          </a:xfrm>
          <a:prstGeom prst="roundRect">
            <a:avLst>
              <a:gd name="adj" fmla="val 28571"/>
            </a:avLst>
          </a:prstGeom>
          <a:solidFill>
            <a:srgbClr val="062B49"/>
          </a:solidFill>
          <a:ln w="9525">
            <a:solidFill>
              <a:srgbClr val="062B49"/>
            </a:solidFill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RESULT  |  Models move from definition to merchant activation through a reusable, governed commercialization path</a:t>
            </a:r>
          </a:p>
        </p:txBody>
      </p:sp>
    </p:spTree>
    <p:extLst>
      <p:ext uri="{BB962C8B-B14F-4D97-AF65-F5344CB8AC3E}">
        <p14:creationId xmlns:p14="http://schemas.microsoft.com/office/powerpoint/2010/main" val="20432141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293</Words>
  <Application>Microsoft Office PowerPoint</Application>
  <DocSecurity>0</DocSecurity>
  <PresentationFormat>Widescreen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James Nampalam</cp:lastModifiedBy>
  <cp:revision>3</cp:revision>
  <dcterms:created xsi:type="dcterms:W3CDTF">2026-08-04T15:47:43Z</dcterms:created>
  <dcterms:modified xsi:type="dcterms:W3CDTF">2026-08-04T16:47:54Z</dcterms:modified>
</cp:coreProperties>
</file>