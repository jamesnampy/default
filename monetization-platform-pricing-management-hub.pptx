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rule">
            <a:extLst>
              <a:ext uri="{FF2B5EF4-FFF2-40B4-BE49-F238E27FC236}">
                <a16:creationId xmlns:a16="http://schemas.microsoft.com/office/drawing/2014/main" id="{08893421-908E-4809-A59B-B6F1829C58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878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452E91F-1CBC-425B-92EE-82E15310F82E}"/>
              </a:ext>
            </a:extLst>
          </p:cNvPr>
          <p:cNvSpPr>
            <a:spLocks noGrp="1"/>
          </p:cNvSpPr>
          <p:nvPr/>
        </p:nvSpPr>
        <p:spPr>
          <a:xfrm>
            <a:off x="514350" y="23812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062B49"/>
                </a:solidFill>
              </a:defRPr>
            </a:pPr>
            <a:r>
              <a:rPr sz="2625" b="1">
                <a:solidFill>
                  <a:srgbClr val="062B49"/>
                </a:solidFill>
              </a:rPr>
              <a:t>Monetization Platform Investment Case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8CE1236-621E-4C03-A86E-658CA3B2D6AC}"/>
              </a:ext>
            </a:extLst>
          </p:cNvPr>
          <p:cNvSpPr>
            <a:spLocks noGrp="1"/>
          </p:cNvSpPr>
          <p:nvPr/>
        </p:nvSpPr>
        <p:spPr>
          <a:xfrm>
            <a:off x="523875" y="72390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6774"/>
                </a:solidFill>
              </a:defRPr>
            </a:pPr>
            <a:r>
              <a:rPr sz="1275" b="0" dirty="0">
                <a:solidFill>
                  <a:srgbClr val="526774"/>
                </a:solidFill>
              </a:rPr>
              <a:t>Two strategic capability gaps are limiting commercialization velocity, pricing servicing, and future revenue growth.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E8901275-2BEA-4027-A441-3D58D01F05CF}"/>
              </a:ext>
            </a:extLst>
          </p:cNvPr>
          <p:cNvSpPr>
            <a:spLocks noGrp="1"/>
          </p:cNvSpPr>
          <p:nvPr/>
        </p:nvSpPr>
        <p:spPr>
          <a:xfrm>
            <a:off x="11287125" y="2952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01</a:t>
            </a:r>
          </a:p>
        </p:txBody>
      </p:sp>
      <p:sp>
        <p:nvSpPr>
          <p:cNvPr id="5" name="current-label">
            <a:extLst>
              <a:ext uri="{FF2B5EF4-FFF2-40B4-BE49-F238E27FC236}">
                <a16:creationId xmlns:a16="http://schemas.microsoft.com/office/drawing/2014/main" id="{962EE862-F269-4B8C-A688-74F6549074E7}"/>
              </a:ext>
            </a:extLst>
          </p:cNvPr>
          <p:cNvSpPr>
            <a:spLocks noGrp="1"/>
          </p:cNvSpPr>
          <p:nvPr/>
        </p:nvSpPr>
        <p:spPr>
          <a:xfrm>
            <a:off x="523875" y="1012126"/>
            <a:ext cx="561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00878D"/>
                </a:solidFill>
              </a:defRPr>
            </a:pPr>
            <a:r>
              <a:rPr sz="1200" b="1" dirty="0">
                <a:solidFill>
                  <a:srgbClr val="00878D"/>
                </a:solidFill>
              </a:rPr>
              <a:t>CURRENT STATE — TWO STRATEGIC GAPS</a:t>
            </a:r>
          </a:p>
        </p:txBody>
      </p:sp>
      <p:sp>
        <p:nvSpPr>
          <p:cNvPr id="6" name="legacy-header">
            <a:extLst>
              <a:ext uri="{FF2B5EF4-FFF2-40B4-BE49-F238E27FC236}">
                <a16:creationId xmlns:a16="http://schemas.microsoft.com/office/drawing/2014/main" id="{FC446F76-F96B-4C15-B60C-24D2530D4CD7}"/>
              </a:ext>
            </a:extLst>
          </p:cNvPr>
          <p:cNvSpPr>
            <a:spLocks noGrp="1"/>
          </p:cNvSpPr>
          <p:nvPr/>
        </p:nvSpPr>
        <p:spPr>
          <a:xfrm>
            <a:off x="523875" y="1383792"/>
            <a:ext cx="2905125" cy="428625"/>
          </a:xfrm>
          <a:prstGeom prst="roundRect">
            <a:avLst>
              <a:gd name="adj" fmla="val 26667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200" b="1" dirty="0">
                <a:solidFill>
                  <a:srgbClr val="FFFFFF"/>
                </a:solidFill>
              </a:rPr>
              <a:t>LIMITED PLATFORM AUTOMATION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7" name="legacy-body">
            <a:extLst>
              <a:ext uri="{FF2B5EF4-FFF2-40B4-BE49-F238E27FC236}">
                <a16:creationId xmlns:a16="http://schemas.microsoft.com/office/drawing/2014/main" id="{07EDB4AA-EB3A-40C5-B643-DC9DF3664D57}"/>
              </a:ext>
            </a:extLst>
          </p:cNvPr>
          <p:cNvSpPr>
            <a:spLocks noGrp="1"/>
          </p:cNvSpPr>
          <p:nvPr/>
        </p:nvSpPr>
        <p:spPr>
          <a:xfrm>
            <a:off x="523875" y="1860042"/>
            <a:ext cx="2905125" cy="2428875"/>
          </a:xfrm>
          <a:prstGeom prst="roundRect">
            <a:avLst>
              <a:gd name="adj" fmla="val 4706"/>
            </a:avLst>
          </a:prstGeom>
          <a:solidFill>
            <a:srgbClr val="F3F7F9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sz="1200" b="0" dirty="0">
                <a:solidFill>
                  <a:srgbClr val="172B3A"/>
                </a:solidFill>
              </a:rPr>
              <a:t>Manual pricing setup</a:t>
            </a:r>
            <a:r>
              <a:rPr lang="en-US" sz="1200" b="0" dirty="0">
                <a:solidFill>
                  <a:srgbClr val="172B3A"/>
                </a:solidFill>
              </a:rPr>
              <a:t> for new client onboarding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lang="en-US" sz="1200" dirty="0">
                <a:solidFill>
                  <a:srgbClr val="172B3A"/>
                </a:solidFill>
              </a:rPr>
              <a:t>No integration to UPC for pricing approval to activation.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lang="en-US" sz="1200" dirty="0">
                <a:solidFill>
                  <a:srgbClr val="172B3A"/>
                </a:solidFill>
              </a:rPr>
              <a:t>UPC only available for Core (in US). No regional support available</a:t>
            </a:r>
            <a:endParaRPr sz="1200" b="0" dirty="0">
              <a:solidFill>
                <a:srgbClr val="172B3A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lang="en-US" sz="1200" b="0" dirty="0">
                <a:solidFill>
                  <a:srgbClr val="172B3A"/>
                </a:solidFill>
              </a:rPr>
              <a:t>P</a:t>
            </a:r>
            <a:r>
              <a:rPr sz="1200" b="0" dirty="0">
                <a:solidFill>
                  <a:srgbClr val="172B3A"/>
                </a:solidFill>
              </a:rPr>
              <a:t>ricing updates are </a:t>
            </a:r>
            <a:r>
              <a:rPr lang="en-US" sz="1200" b="0" dirty="0">
                <a:solidFill>
                  <a:srgbClr val="172B3A"/>
                </a:solidFill>
              </a:rPr>
              <a:t>manual and individual (no bulk-updates)</a:t>
            </a:r>
            <a:endParaRPr sz="1200" b="0" dirty="0">
              <a:solidFill>
                <a:srgbClr val="172B3A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lang="en-US" sz="1200" b="0" dirty="0">
                <a:solidFill>
                  <a:srgbClr val="172B3A"/>
                </a:solidFill>
              </a:rPr>
              <a:t>Pricing Templates are scripted – no UI</a:t>
            </a:r>
            <a:endParaRPr sz="1200" b="0" dirty="0">
              <a:solidFill>
                <a:srgbClr val="172B3A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sz="1200" b="0" dirty="0">
                <a:solidFill>
                  <a:srgbClr val="172B3A"/>
                </a:solidFill>
              </a:rPr>
              <a:t>No automated onboarding handoff</a:t>
            </a:r>
          </a:p>
        </p:txBody>
      </p:sp>
      <p:sp>
        <p:nvSpPr>
          <p:cNvPr id="8" name="gap-header">
            <a:extLst>
              <a:ext uri="{FF2B5EF4-FFF2-40B4-BE49-F238E27FC236}">
                <a16:creationId xmlns:a16="http://schemas.microsoft.com/office/drawing/2014/main" id="{E4BCBEBD-86C4-459F-85E9-364CDDE819C7}"/>
              </a:ext>
            </a:extLst>
          </p:cNvPr>
          <p:cNvSpPr>
            <a:spLocks noGrp="1"/>
          </p:cNvSpPr>
          <p:nvPr/>
        </p:nvSpPr>
        <p:spPr>
          <a:xfrm>
            <a:off x="3571875" y="1383792"/>
            <a:ext cx="3048000" cy="428625"/>
          </a:xfrm>
          <a:prstGeom prst="roundRect">
            <a:avLst>
              <a:gd name="adj" fmla="val 26667"/>
            </a:avLst>
          </a:prstGeom>
          <a:solidFill>
            <a:srgbClr val="00878D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lang="en-US" sz="1200" b="1" dirty="0">
                <a:solidFill>
                  <a:srgbClr val="FFFFFF"/>
                </a:solidFill>
              </a:rPr>
              <a:t>LIMITED</a:t>
            </a:r>
            <a:r>
              <a:rPr sz="1200" b="1" dirty="0">
                <a:solidFill>
                  <a:srgbClr val="FFFFFF"/>
                </a:solidFill>
              </a:rPr>
              <a:t> MONETIZATION CAPABILITIES</a:t>
            </a:r>
          </a:p>
        </p:txBody>
      </p:sp>
      <p:sp>
        <p:nvSpPr>
          <p:cNvPr id="9" name="gap-body">
            <a:extLst>
              <a:ext uri="{FF2B5EF4-FFF2-40B4-BE49-F238E27FC236}">
                <a16:creationId xmlns:a16="http://schemas.microsoft.com/office/drawing/2014/main" id="{9BD0102F-8F7A-442D-AD8E-31C0D31D700E}"/>
              </a:ext>
            </a:extLst>
          </p:cNvPr>
          <p:cNvSpPr>
            <a:spLocks noGrp="1"/>
          </p:cNvSpPr>
          <p:nvPr/>
        </p:nvSpPr>
        <p:spPr>
          <a:xfrm>
            <a:off x="3571875" y="1860042"/>
            <a:ext cx="3048000" cy="2428875"/>
          </a:xfrm>
          <a:prstGeom prst="roundRect">
            <a:avLst>
              <a:gd name="adj" fmla="val 4706"/>
            </a:avLst>
          </a:prstGeom>
          <a:solidFill>
            <a:srgbClr val="F3F7F9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lang="en-US" sz="1200" b="0" dirty="0">
                <a:solidFill>
                  <a:srgbClr val="172B3A"/>
                </a:solidFill>
              </a:rPr>
              <a:t>Lack of new pricing models: Tiered Pricing, Metering, Thresholds</a:t>
            </a:r>
            <a:endParaRPr sz="1200" b="0" dirty="0">
              <a:solidFill>
                <a:srgbClr val="172B3A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lang="en-US" sz="1200" b="0" dirty="0">
                <a:solidFill>
                  <a:srgbClr val="172B3A"/>
                </a:solidFill>
              </a:rPr>
              <a:t>Limited Bundlin</a:t>
            </a:r>
            <a:r>
              <a:rPr lang="en-US" sz="1200" dirty="0">
                <a:solidFill>
                  <a:srgbClr val="172B3A"/>
                </a:solidFill>
              </a:rPr>
              <a:t>g and packaging capabilities</a:t>
            </a:r>
            <a:endParaRPr sz="1200" b="0" dirty="0">
              <a:solidFill>
                <a:srgbClr val="172B3A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lang="en-US" sz="1200" b="0" dirty="0">
                <a:solidFill>
                  <a:srgbClr val="172B3A"/>
                </a:solidFill>
              </a:rPr>
              <a:t>Limited Revenue Sharing capabilities for partners</a:t>
            </a:r>
            <a:endParaRPr sz="1200" b="0" dirty="0">
              <a:solidFill>
                <a:srgbClr val="172B3A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172B3A"/>
                </a:solidFill>
              </a:defRPr>
            </a:pPr>
            <a:r>
              <a:rPr sz="1200" b="0" dirty="0">
                <a:solidFill>
                  <a:srgbClr val="172B3A"/>
                </a:solidFill>
              </a:rPr>
              <a:t>Difficult to launch new commercial models</a:t>
            </a:r>
          </a:p>
        </p:txBody>
      </p:sp>
      <p:sp>
        <p:nvSpPr>
          <p:cNvPr id="10" name="impact">
            <a:extLst>
              <a:ext uri="{FF2B5EF4-FFF2-40B4-BE49-F238E27FC236}">
                <a16:creationId xmlns:a16="http://schemas.microsoft.com/office/drawing/2014/main" id="{74893AC3-D4A4-4F76-84CD-917E82C5D3FF}"/>
              </a:ext>
            </a:extLst>
          </p:cNvPr>
          <p:cNvSpPr>
            <a:spLocks noGrp="1"/>
          </p:cNvSpPr>
          <p:nvPr/>
        </p:nvSpPr>
        <p:spPr>
          <a:xfrm>
            <a:off x="523875" y="4405122"/>
            <a:ext cx="6096000" cy="1133475"/>
          </a:xfrm>
          <a:prstGeom prst="roundRect">
            <a:avLst>
              <a:gd name="adj" fmla="val 10084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 dirty="0">
                <a:solidFill>
                  <a:srgbClr val="FFFFFF"/>
                </a:solidFill>
              </a:rPr>
              <a:t>BUSINESS IMPACT</a:t>
            </a:r>
          </a:p>
          <a:p>
            <a:pPr algn="l">
              <a:defRPr sz="1125" b="1">
                <a:solidFill>
                  <a:srgbClr val="FFFFFF"/>
                </a:solidFill>
              </a:defRPr>
            </a:pPr>
            <a:endParaRPr sz="1125" b="1" dirty="0">
              <a:solidFill>
                <a:srgbClr val="FFFFFF"/>
              </a:solidFill>
            </a:endParaRPr>
          </a:p>
        </p:txBody>
      </p:sp>
      <p:sp>
        <p:nvSpPr>
          <p:cNvPr id="11" name="investment-label">
            <a:extLst>
              <a:ext uri="{FF2B5EF4-FFF2-40B4-BE49-F238E27FC236}">
                <a16:creationId xmlns:a16="http://schemas.microsoft.com/office/drawing/2014/main" id="{EBE0537B-BE5A-4D2F-8F28-DB8DB77FA32A}"/>
              </a:ext>
            </a:extLst>
          </p:cNvPr>
          <p:cNvSpPr>
            <a:spLocks noGrp="1"/>
          </p:cNvSpPr>
          <p:nvPr/>
        </p:nvSpPr>
        <p:spPr>
          <a:xfrm>
            <a:off x="7000875" y="1014412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00878D"/>
                </a:solidFill>
              </a:defRPr>
            </a:pPr>
            <a:r>
              <a:rPr sz="1200" b="1" dirty="0">
                <a:solidFill>
                  <a:srgbClr val="00878D"/>
                </a:solidFill>
              </a:rPr>
              <a:t>THE INVESTMENT</a:t>
            </a:r>
          </a:p>
        </p:txBody>
      </p:sp>
      <p:sp>
        <p:nvSpPr>
          <p:cNvPr id="12" name="investment-title">
            <a:extLst>
              <a:ext uri="{FF2B5EF4-FFF2-40B4-BE49-F238E27FC236}">
                <a16:creationId xmlns:a16="http://schemas.microsoft.com/office/drawing/2014/main" id="{B4AE07CE-D2E0-404A-9C5C-96B999A73162}"/>
              </a:ext>
            </a:extLst>
          </p:cNvPr>
          <p:cNvSpPr>
            <a:spLocks noGrp="1"/>
          </p:cNvSpPr>
          <p:nvPr/>
        </p:nvSpPr>
        <p:spPr>
          <a:xfrm>
            <a:off x="7000875" y="1326261"/>
            <a:ext cx="466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62B49"/>
                </a:solidFill>
              </a:defRPr>
            </a:pPr>
            <a:r>
              <a:rPr sz="1800" b="1">
                <a:solidFill>
                  <a:srgbClr val="062B49"/>
                </a:solidFill>
              </a:rPr>
              <a:t>Unified Monetization Platform</a:t>
            </a:r>
          </a:p>
        </p:txBody>
      </p:sp>
      <p:sp>
        <p:nvSpPr>
          <p:cNvPr id="13" name="investment-head">
            <a:extLst>
              <a:ext uri="{FF2B5EF4-FFF2-40B4-BE49-F238E27FC236}">
                <a16:creationId xmlns:a16="http://schemas.microsoft.com/office/drawing/2014/main" id="{2E44DE3E-69BE-484E-BF77-CF95C861678C}"/>
              </a:ext>
            </a:extLst>
          </p:cNvPr>
          <p:cNvSpPr>
            <a:spLocks noGrp="1"/>
          </p:cNvSpPr>
          <p:nvPr/>
        </p:nvSpPr>
        <p:spPr>
          <a:xfrm>
            <a:off x="7000875" y="1688211"/>
            <a:ext cx="4667250" cy="504825"/>
          </a:xfrm>
          <a:prstGeom prst="roundRect">
            <a:avLst>
              <a:gd name="adj" fmla="val 22642"/>
            </a:avLst>
          </a:prstGeom>
          <a:solidFill>
            <a:srgbClr val="00878D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DEFINE ONCE  •  MANAGE CENTRALLY  •  EXECUTE CONSISTENTLY</a:t>
            </a:r>
          </a:p>
        </p:txBody>
      </p:sp>
      <p:sp>
        <p:nvSpPr>
          <p:cNvPr id="14" name="model-layer">
            <a:extLst>
              <a:ext uri="{FF2B5EF4-FFF2-40B4-BE49-F238E27FC236}">
                <a16:creationId xmlns:a16="http://schemas.microsoft.com/office/drawing/2014/main" id="{6EDFDD62-72F8-4928-BEDB-162348D6A159}"/>
              </a:ext>
            </a:extLst>
          </p:cNvPr>
          <p:cNvSpPr>
            <a:spLocks noGrp="1"/>
          </p:cNvSpPr>
          <p:nvPr/>
        </p:nvSpPr>
        <p:spPr>
          <a:xfrm>
            <a:off x="7191375" y="2354961"/>
            <a:ext cx="4286250" cy="838200"/>
          </a:xfrm>
          <a:prstGeom prst="roundRect">
            <a:avLst>
              <a:gd name="adj" fmla="val 13636"/>
            </a:avLst>
          </a:prstGeom>
          <a:solidFill>
            <a:srgbClr val="F0E6F3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62B49"/>
                </a:solidFill>
              </a:defRPr>
            </a:pPr>
            <a:r>
              <a:rPr sz="1200" b="1" dirty="0">
                <a:solidFill>
                  <a:srgbClr val="062B49"/>
                </a:solidFill>
              </a:rPr>
              <a:t>01  MONETIZATION ENGINE &amp; NEW MODELS</a:t>
            </a:r>
          </a:p>
          <a:p>
            <a:pPr algn="l">
              <a:defRPr sz="1200" b="1">
                <a:solidFill>
                  <a:srgbClr val="062B49"/>
                </a:solidFill>
              </a:defRPr>
            </a:pPr>
            <a:r>
              <a:rPr sz="1200" b="1" dirty="0">
                <a:solidFill>
                  <a:srgbClr val="062B49"/>
                </a:solidFill>
              </a:rPr>
              <a:t>Defines executable model capabilities, calculations and guardrails</a:t>
            </a:r>
          </a:p>
        </p:txBody>
      </p:sp>
      <p:sp>
        <p:nvSpPr>
          <p:cNvPr id="15" name="hub-layer">
            <a:extLst>
              <a:ext uri="{FF2B5EF4-FFF2-40B4-BE49-F238E27FC236}">
                <a16:creationId xmlns:a16="http://schemas.microsoft.com/office/drawing/2014/main" id="{210B2015-899E-4F5E-A02D-97E537F3DBCD}"/>
              </a:ext>
            </a:extLst>
          </p:cNvPr>
          <p:cNvSpPr>
            <a:spLocks noGrp="1"/>
          </p:cNvSpPr>
          <p:nvPr/>
        </p:nvSpPr>
        <p:spPr>
          <a:xfrm>
            <a:off x="7191375" y="3336036"/>
            <a:ext cx="4286250" cy="838200"/>
          </a:xfrm>
          <a:prstGeom prst="roundRect">
            <a:avLst>
              <a:gd name="adj" fmla="val 13636"/>
            </a:avLst>
          </a:prstGeom>
          <a:solidFill>
            <a:srgbClr val="FFF4D9"/>
          </a:solidFill>
          <a:ln w="9525">
            <a:solidFill>
              <a:srgbClr val="E5A528"/>
            </a:solidFill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62B49"/>
                </a:solidFill>
              </a:defRPr>
            </a:pPr>
            <a:r>
              <a:rPr sz="1200" b="1" dirty="0">
                <a:solidFill>
                  <a:srgbClr val="062B49"/>
                </a:solidFill>
              </a:rPr>
              <a:t>02  PRICING MANAGEMENT HUB</a:t>
            </a:r>
          </a:p>
          <a:p>
            <a:pPr algn="l">
              <a:defRPr sz="1200" b="1">
                <a:solidFill>
                  <a:srgbClr val="062B49"/>
                </a:solidFill>
              </a:defRPr>
            </a:pPr>
            <a:r>
              <a:rPr sz="1200" b="1" dirty="0">
                <a:solidFill>
                  <a:srgbClr val="062B49"/>
                </a:solidFill>
              </a:rPr>
              <a:t>Configures, governs, approves and services merchant pricing</a:t>
            </a:r>
          </a:p>
        </p:txBody>
      </p:sp>
      <p:sp>
        <p:nvSpPr>
          <p:cNvPr id="16" name="activation-layer">
            <a:extLst>
              <a:ext uri="{FF2B5EF4-FFF2-40B4-BE49-F238E27FC236}">
                <a16:creationId xmlns:a16="http://schemas.microsoft.com/office/drawing/2014/main" id="{310C1194-8440-4FDE-9526-B51ABA3AD79A}"/>
              </a:ext>
            </a:extLst>
          </p:cNvPr>
          <p:cNvSpPr>
            <a:spLocks noGrp="1"/>
          </p:cNvSpPr>
          <p:nvPr/>
        </p:nvSpPr>
        <p:spPr>
          <a:xfrm>
            <a:off x="7191375" y="4317111"/>
            <a:ext cx="4286250" cy="838200"/>
          </a:xfrm>
          <a:prstGeom prst="roundRect">
            <a:avLst>
              <a:gd name="adj" fmla="val 13636"/>
            </a:avLst>
          </a:prstGeom>
          <a:solidFill>
            <a:srgbClr val="E7F2EC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03  AUTOMATED ACTIVATION</a:t>
            </a:r>
          </a:p>
          <a:p>
            <a:pPr algn="l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Publishes governed instructions to the engine and downstream platforms</a:t>
            </a:r>
          </a:p>
        </p:txBody>
      </p:sp>
      <p:sp>
        <p:nvSpPr>
          <p:cNvPr id="17" name="investment-result">
            <a:extLst>
              <a:ext uri="{FF2B5EF4-FFF2-40B4-BE49-F238E27FC236}">
                <a16:creationId xmlns:a16="http://schemas.microsoft.com/office/drawing/2014/main" id="{0897EF04-7BF8-4686-93DF-F7DE4F1545A3}"/>
              </a:ext>
            </a:extLst>
          </p:cNvPr>
          <p:cNvSpPr>
            <a:spLocks noGrp="1"/>
          </p:cNvSpPr>
          <p:nvPr/>
        </p:nvSpPr>
        <p:spPr>
          <a:xfrm>
            <a:off x="7191375" y="5279136"/>
            <a:ext cx="4286250" cy="323850"/>
          </a:xfrm>
          <a:prstGeom prst="roundRect">
            <a:avLst>
              <a:gd name="adj" fmla="val 35294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ONE GOVERNED LIFECYCLE ACROSS ONBOARDING AND SERVICING</a:t>
            </a:r>
          </a:p>
        </p:txBody>
      </p:sp>
      <p:sp>
        <p:nvSpPr>
          <p:cNvPr id="18" name="outcome-bg">
            <a:extLst>
              <a:ext uri="{FF2B5EF4-FFF2-40B4-BE49-F238E27FC236}">
                <a16:creationId xmlns:a16="http://schemas.microsoft.com/office/drawing/2014/main" id="{C0240E57-1F5F-4A91-B5EA-440E7677A6CA}"/>
              </a:ext>
            </a:extLst>
          </p:cNvPr>
          <p:cNvSpPr>
            <a:spLocks noGrp="1"/>
          </p:cNvSpPr>
          <p:nvPr/>
        </p:nvSpPr>
        <p:spPr>
          <a:xfrm>
            <a:off x="0" y="5838825"/>
            <a:ext cx="12192000" cy="752475"/>
          </a:xfrm>
          <a:prstGeom prst="rect">
            <a:avLst/>
          </a:prstGeom>
          <a:solidFill>
            <a:srgbClr val="0B395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utcome-1">
            <a:extLst>
              <a:ext uri="{FF2B5EF4-FFF2-40B4-BE49-F238E27FC236}">
                <a16:creationId xmlns:a16="http://schemas.microsoft.com/office/drawing/2014/main" id="{E9469C11-C0F3-4678-9831-5EF84A51045A}"/>
              </a:ext>
            </a:extLst>
          </p:cNvPr>
          <p:cNvSpPr>
            <a:spLocks noGrp="1"/>
          </p:cNvSpPr>
          <p:nvPr/>
        </p:nvSpPr>
        <p:spPr>
          <a:xfrm>
            <a:off x="1952625" y="5962650"/>
            <a:ext cx="2190750" cy="457200"/>
          </a:xfrm>
          <a:prstGeom prst="roundRect">
            <a:avLst>
              <a:gd name="adj" fmla="val 0"/>
            </a:avLst>
          </a:prstGeom>
          <a:solidFill>
            <a:srgbClr val="0B3958"/>
          </a:solidFill>
          <a:ln w="9525">
            <a:solidFill>
              <a:srgbClr val="46627A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01</a:t>
            </a:r>
          </a:p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FASTER COMMERCIALIZATION</a:t>
            </a:r>
          </a:p>
        </p:txBody>
      </p:sp>
      <p:sp>
        <p:nvSpPr>
          <p:cNvPr id="20" name="outcome-2">
            <a:extLst>
              <a:ext uri="{FF2B5EF4-FFF2-40B4-BE49-F238E27FC236}">
                <a16:creationId xmlns:a16="http://schemas.microsoft.com/office/drawing/2014/main" id="{F836B7E1-D82E-47AD-8934-FABF3D284035}"/>
              </a:ext>
            </a:extLst>
          </p:cNvPr>
          <p:cNvSpPr>
            <a:spLocks noGrp="1"/>
          </p:cNvSpPr>
          <p:nvPr/>
        </p:nvSpPr>
        <p:spPr>
          <a:xfrm>
            <a:off x="4333875" y="5962650"/>
            <a:ext cx="2190750" cy="457200"/>
          </a:xfrm>
          <a:prstGeom prst="roundRect">
            <a:avLst>
              <a:gd name="adj" fmla="val 0"/>
            </a:avLst>
          </a:prstGeom>
          <a:solidFill>
            <a:srgbClr val="0B3958"/>
          </a:solidFill>
          <a:ln w="9525">
            <a:solidFill>
              <a:srgbClr val="46627A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02</a:t>
            </a:r>
          </a:p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LOWER OPERATING COST</a:t>
            </a:r>
          </a:p>
        </p:txBody>
      </p:sp>
      <p:sp>
        <p:nvSpPr>
          <p:cNvPr id="21" name="outcome-3">
            <a:extLst>
              <a:ext uri="{FF2B5EF4-FFF2-40B4-BE49-F238E27FC236}">
                <a16:creationId xmlns:a16="http://schemas.microsoft.com/office/drawing/2014/main" id="{35AE6A9B-C81D-480A-9CBE-4DCE5AF1FB68}"/>
              </a:ext>
            </a:extLst>
          </p:cNvPr>
          <p:cNvSpPr>
            <a:spLocks noGrp="1"/>
          </p:cNvSpPr>
          <p:nvPr/>
        </p:nvSpPr>
        <p:spPr>
          <a:xfrm>
            <a:off x="6715125" y="5962650"/>
            <a:ext cx="2190750" cy="457200"/>
          </a:xfrm>
          <a:prstGeom prst="roundRect">
            <a:avLst>
              <a:gd name="adj" fmla="val 0"/>
            </a:avLst>
          </a:prstGeom>
          <a:solidFill>
            <a:srgbClr val="0B3958"/>
          </a:solidFill>
          <a:ln w="9525">
            <a:solidFill>
              <a:srgbClr val="46627A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03</a:t>
            </a:r>
          </a:p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NEW REVENUE OPPORTUNITIES</a:t>
            </a:r>
          </a:p>
        </p:txBody>
      </p:sp>
      <p:sp>
        <p:nvSpPr>
          <p:cNvPr id="22" name="outcome-4">
            <a:extLst>
              <a:ext uri="{FF2B5EF4-FFF2-40B4-BE49-F238E27FC236}">
                <a16:creationId xmlns:a16="http://schemas.microsoft.com/office/drawing/2014/main" id="{074E54EB-289A-4C61-8B93-075B33F6A593}"/>
              </a:ext>
            </a:extLst>
          </p:cNvPr>
          <p:cNvSpPr>
            <a:spLocks noGrp="1"/>
          </p:cNvSpPr>
          <p:nvPr/>
        </p:nvSpPr>
        <p:spPr>
          <a:xfrm>
            <a:off x="9096375" y="5962650"/>
            <a:ext cx="2190750" cy="457200"/>
          </a:xfrm>
          <a:prstGeom prst="roundRect">
            <a:avLst>
              <a:gd name="adj" fmla="val 0"/>
            </a:avLst>
          </a:prstGeom>
          <a:solidFill>
            <a:srgbClr val="0B3958"/>
          </a:solidFill>
          <a:ln w="9525">
            <a:solidFill>
              <a:srgbClr val="46627A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04</a:t>
            </a:r>
          </a:p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SIMPLER PRICING SERVICING</a:t>
            </a:r>
          </a:p>
        </p:txBody>
      </p:sp>
      <p:sp>
        <p:nvSpPr>
          <p:cNvPr id="23" name="outcome-label">
            <a:extLst>
              <a:ext uri="{FF2B5EF4-FFF2-40B4-BE49-F238E27FC236}">
                <a16:creationId xmlns:a16="http://schemas.microsoft.com/office/drawing/2014/main" id="{7AE0573F-1367-4549-B6A4-F905F10B21E2}"/>
              </a:ext>
            </a:extLst>
          </p:cNvPr>
          <p:cNvSpPr>
            <a:spLocks noGrp="1"/>
          </p:cNvSpPr>
          <p:nvPr/>
        </p:nvSpPr>
        <p:spPr>
          <a:xfrm>
            <a:off x="523875" y="6048375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A8AA"/>
                </a:solidFill>
              </a:defRPr>
            </a:pPr>
            <a:r>
              <a:rPr sz="1125" b="1" dirty="0">
                <a:solidFill>
                  <a:srgbClr val="00A8AA"/>
                </a:solidFill>
              </a:rPr>
              <a:t>EXPECTED</a:t>
            </a:r>
          </a:p>
          <a:p>
            <a:pPr algn="l">
              <a:defRPr sz="1125" b="1">
                <a:solidFill>
                  <a:srgbClr val="00A8AA"/>
                </a:solidFill>
              </a:defRPr>
            </a:pPr>
            <a:r>
              <a:rPr sz="1125" b="1" dirty="0">
                <a:solidFill>
                  <a:srgbClr val="00A8AA"/>
                </a:solidFill>
              </a:rPr>
              <a:t>OUTCOMES</a:t>
            </a:r>
          </a:p>
        </p:txBody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A4D932F5-20AF-4D51-BA64-17F2507FE30B}"/>
              </a:ext>
            </a:extLst>
          </p:cNvPr>
          <p:cNvSpPr>
            <a:spLocks noGrp="1"/>
          </p:cNvSpPr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62B49"/>
          </a:solidFill>
          <a:ln w="0">
            <a:noFill/>
            <a:prstDash val="solid"/>
          </a:ln>
        </p:spPr>
        <p:txBody>
          <a:bodyPr anchor="ctr"/>
          <a:lstStyle/>
          <a:p>
            <a:pPr>
              <a:defRPr sz="825">
                <a:solidFill>
                  <a:srgbClr val="D4E1E8"/>
                </a:solidFill>
              </a:defRPr>
            </a:pPr>
            <a:r>
              <a:rPr sz="825" dirty="0">
                <a:solidFill>
                  <a:srgbClr val="D4E1E8"/>
                </a:solidFill>
              </a:rPr>
              <a:t>Strategic vision | Modernize model definition, pricing management, activation and ongoing servicing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A998DC-09D4-46C0-6C78-078F3A464421}"/>
              </a:ext>
            </a:extLst>
          </p:cNvPr>
          <p:cNvSpPr txBox="1"/>
          <p:nvPr/>
        </p:nvSpPr>
        <p:spPr>
          <a:xfrm>
            <a:off x="714375" y="4704944"/>
            <a:ext cx="21992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25" b="1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rgbClr val="FFFFFF"/>
                </a:solidFill>
              </a:rPr>
              <a:t>Weeks to commercialize 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1">
                <a:solidFill>
                  <a:srgbClr val="FFFFFF"/>
                </a:solidFill>
              </a:defRPr>
            </a:pPr>
            <a:endParaRPr lang="en-US" sz="1400" b="1" dirty="0">
              <a:solidFill>
                <a:srgbClr val="FFFFF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25" b="1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rgbClr val="FFFFFF"/>
                </a:solidFill>
              </a:rPr>
              <a:t>High cost of operations </a:t>
            </a:r>
            <a:endParaRPr lang="en-US" sz="1100" b="1" dirty="0">
              <a:solidFill>
                <a:srgbClr val="FFFF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5D890-DD72-0703-0C41-4FA6A7113253}"/>
              </a:ext>
            </a:extLst>
          </p:cNvPr>
          <p:cNvSpPr txBox="1"/>
          <p:nvPr/>
        </p:nvSpPr>
        <p:spPr>
          <a:xfrm>
            <a:off x="3834343" y="4704944"/>
            <a:ext cx="25230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25" b="1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rgbClr val="FFFFFF"/>
                </a:solidFill>
              </a:rPr>
              <a:t>Delayed revenue realization 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1">
                <a:solidFill>
                  <a:srgbClr val="FFFFFF"/>
                </a:solidFill>
              </a:defRPr>
            </a:pPr>
            <a:endParaRPr lang="en-US" sz="1400" b="1" dirty="0">
              <a:solidFill>
                <a:srgbClr val="FFFFF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25" b="1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rgbClr val="FFFFFF"/>
                </a:solidFill>
              </a:rPr>
              <a:t>Missed growth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337261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op-rule">
            <a:extLst>
              <a:ext uri="{FF2B5EF4-FFF2-40B4-BE49-F238E27FC236}">
                <a16:creationId xmlns:a16="http://schemas.microsoft.com/office/drawing/2014/main" id="{840FA0E0-A68E-459E-97DD-1CE94F5D9B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878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158D763-088C-450C-BDB2-8E59FD3AB49A}"/>
              </a:ext>
            </a:extLst>
          </p:cNvPr>
          <p:cNvSpPr>
            <a:spLocks noGrp="1"/>
          </p:cNvSpPr>
          <p:nvPr/>
        </p:nvSpPr>
        <p:spPr>
          <a:xfrm>
            <a:off x="514350" y="23812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062B49"/>
                </a:solidFill>
              </a:defRPr>
            </a:pPr>
            <a:r>
              <a:rPr sz="2625" b="1">
                <a:solidFill>
                  <a:srgbClr val="062B49"/>
                </a:solidFill>
              </a:rPr>
              <a:t>Pricing Management Hub governs merchant pricing end to end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AAE4A0F-B5BB-40FB-9E8C-4F1FB11A36DA}"/>
              </a:ext>
            </a:extLst>
          </p:cNvPr>
          <p:cNvSpPr>
            <a:spLocks noGrp="1"/>
          </p:cNvSpPr>
          <p:nvPr/>
        </p:nvSpPr>
        <p:spPr>
          <a:xfrm>
            <a:off x="523875" y="72390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6774"/>
                </a:solidFill>
              </a:defRPr>
            </a:pPr>
            <a:r>
              <a:rPr sz="1275" b="0">
                <a:solidFill>
                  <a:srgbClr val="526774"/>
                </a:solidFill>
              </a:rPr>
              <a:t>A single management experience configures pricing objects and publishes governed instructions to the Monetization Engine.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7E10786-810A-4220-87E6-0E606C36B65B}"/>
              </a:ext>
            </a:extLst>
          </p:cNvPr>
          <p:cNvSpPr>
            <a:spLocks noGrp="1"/>
          </p:cNvSpPr>
          <p:nvPr/>
        </p:nvSpPr>
        <p:spPr>
          <a:xfrm>
            <a:off x="11287125" y="2952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02</a:t>
            </a:r>
          </a:p>
        </p:txBody>
      </p:sp>
      <p:sp>
        <p:nvSpPr>
          <p:cNvPr id="5" name="architecture-label">
            <a:extLst>
              <a:ext uri="{FF2B5EF4-FFF2-40B4-BE49-F238E27FC236}">
                <a16:creationId xmlns:a16="http://schemas.microsoft.com/office/drawing/2014/main" id="{28F8A969-0D3A-48B3-8AE1-62DB40A5FB85}"/>
              </a:ext>
            </a:extLst>
          </p:cNvPr>
          <p:cNvSpPr>
            <a:spLocks noGrp="1"/>
          </p:cNvSpPr>
          <p:nvPr/>
        </p:nvSpPr>
        <p:spPr>
          <a:xfrm>
            <a:off x="523875" y="11334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PLATFORM ARCHITECTURE</a:t>
            </a:r>
          </a:p>
        </p:txBody>
      </p:sp>
      <p:sp>
        <p:nvSpPr>
          <p:cNvPr id="6" name="arrow-channels">
            <a:extLst>
              <a:ext uri="{FF2B5EF4-FFF2-40B4-BE49-F238E27FC236}">
                <a16:creationId xmlns:a16="http://schemas.microsoft.com/office/drawing/2014/main" id="{33D72DA7-74BF-41E6-A761-582EE2F4C909}"/>
              </a:ext>
            </a:extLst>
          </p:cNvPr>
          <p:cNvSpPr>
            <a:spLocks noGrp="1"/>
          </p:cNvSpPr>
          <p:nvPr/>
        </p:nvSpPr>
        <p:spPr>
          <a:xfrm>
            <a:off x="5924550" y="1714500"/>
            <a:ext cx="342900" cy="247650"/>
          </a:xfrm>
          <a:prstGeom prst="downArrow">
            <a:avLst/>
          </a:prstGeom>
          <a:solidFill>
            <a:srgbClr val="C9D7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-hub-data">
            <a:extLst>
              <a:ext uri="{FF2B5EF4-FFF2-40B4-BE49-F238E27FC236}">
                <a16:creationId xmlns:a16="http://schemas.microsoft.com/office/drawing/2014/main" id="{000ECD4F-FD68-455B-B31D-1FC3C7E919C9}"/>
              </a:ext>
            </a:extLst>
          </p:cNvPr>
          <p:cNvSpPr>
            <a:spLocks noGrp="1"/>
          </p:cNvSpPr>
          <p:nvPr/>
        </p:nvSpPr>
        <p:spPr>
          <a:xfrm>
            <a:off x="5924550" y="3695700"/>
            <a:ext cx="342900" cy="238125"/>
          </a:xfrm>
          <a:prstGeom prst="downArrow">
            <a:avLst/>
          </a:prstGeom>
          <a:solidFill>
            <a:srgbClr val="C9D7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-data-engine">
            <a:extLst>
              <a:ext uri="{FF2B5EF4-FFF2-40B4-BE49-F238E27FC236}">
                <a16:creationId xmlns:a16="http://schemas.microsoft.com/office/drawing/2014/main" id="{55767F14-0A02-4513-BFED-9D08E065A737}"/>
              </a:ext>
            </a:extLst>
          </p:cNvPr>
          <p:cNvSpPr>
            <a:spLocks noGrp="1"/>
          </p:cNvSpPr>
          <p:nvPr/>
        </p:nvSpPr>
        <p:spPr>
          <a:xfrm>
            <a:off x="5924550" y="4457700"/>
            <a:ext cx="342900" cy="238125"/>
          </a:xfrm>
          <a:prstGeom prst="downArrow">
            <a:avLst/>
          </a:prstGeom>
          <a:solidFill>
            <a:srgbClr val="C9D7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rrow-engine-output">
            <a:extLst>
              <a:ext uri="{FF2B5EF4-FFF2-40B4-BE49-F238E27FC236}">
                <a16:creationId xmlns:a16="http://schemas.microsoft.com/office/drawing/2014/main" id="{32C064AE-E4F1-4306-A5D7-7F1D2A4273BD}"/>
              </a:ext>
            </a:extLst>
          </p:cNvPr>
          <p:cNvSpPr>
            <a:spLocks noGrp="1"/>
          </p:cNvSpPr>
          <p:nvPr/>
        </p:nvSpPr>
        <p:spPr>
          <a:xfrm>
            <a:off x="5924550" y="5353050"/>
            <a:ext cx="342900" cy="219075"/>
          </a:xfrm>
          <a:prstGeom prst="downArrow">
            <a:avLst/>
          </a:prstGeom>
          <a:solidFill>
            <a:srgbClr val="C9D7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annel-rm">
            <a:extLst>
              <a:ext uri="{FF2B5EF4-FFF2-40B4-BE49-F238E27FC236}">
                <a16:creationId xmlns:a16="http://schemas.microsoft.com/office/drawing/2014/main" id="{129AB24D-5999-439B-82FE-F83D8DDD213D}"/>
              </a:ext>
            </a:extLst>
          </p:cNvPr>
          <p:cNvSpPr>
            <a:spLocks noGrp="1"/>
          </p:cNvSpPr>
          <p:nvPr/>
        </p:nvSpPr>
        <p:spPr>
          <a:xfrm>
            <a:off x="523875" y="1352550"/>
            <a:ext cx="3333750" cy="428625"/>
          </a:xfrm>
          <a:prstGeom prst="roundRect">
            <a:avLst>
              <a:gd name="adj" fmla="val 26667"/>
            </a:avLst>
          </a:prstGeom>
          <a:solidFill>
            <a:srgbClr val="DCECF3"/>
          </a:solidFill>
          <a:ln w="9525">
            <a:solidFill>
              <a:srgbClr val="86B1C4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62B49"/>
                </a:solidFill>
              </a:defRPr>
            </a:pPr>
            <a:r>
              <a:rPr sz="1050" b="1" dirty="0">
                <a:solidFill>
                  <a:srgbClr val="062B49"/>
                </a:solidFill>
              </a:rPr>
              <a:t>RM / OPS USERS</a:t>
            </a:r>
          </a:p>
          <a:p>
            <a:pPr algn="ctr">
              <a:defRPr sz="1050" b="1">
                <a:solidFill>
                  <a:srgbClr val="062B49"/>
                </a:solidFill>
              </a:defRPr>
            </a:pPr>
            <a:r>
              <a:rPr sz="1050" b="1" dirty="0">
                <a:solidFill>
                  <a:srgbClr val="062B49"/>
                </a:solidFill>
              </a:rPr>
              <a:t>Manage and service pricing</a:t>
            </a:r>
          </a:p>
        </p:txBody>
      </p:sp>
      <p:sp>
        <p:nvSpPr>
          <p:cNvPr id="11" name="channel-upc">
            <a:extLst>
              <a:ext uri="{FF2B5EF4-FFF2-40B4-BE49-F238E27FC236}">
                <a16:creationId xmlns:a16="http://schemas.microsoft.com/office/drawing/2014/main" id="{866C8AEE-58BD-452C-BD8B-10E15C1F2722}"/>
              </a:ext>
            </a:extLst>
          </p:cNvPr>
          <p:cNvSpPr>
            <a:spLocks noGrp="1"/>
          </p:cNvSpPr>
          <p:nvPr/>
        </p:nvSpPr>
        <p:spPr>
          <a:xfrm>
            <a:off x="4429125" y="1352550"/>
            <a:ext cx="3333750" cy="428625"/>
          </a:xfrm>
          <a:prstGeom prst="roundRect">
            <a:avLst>
              <a:gd name="adj" fmla="val 26667"/>
            </a:avLst>
          </a:prstGeom>
          <a:solidFill>
            <a:srgbClr val="FFF4D9"/>
          </a:solidFill>
          <a:ln w="9525">
            <a:solidFill>
              <a:srgbClr val="E5A528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62B49"/>
                </a:solidFill>
              </a:defRPr>
            </a:pPr>
            <a:r>
              <a:rPr sz="1050" b="1" dirty="0">
                <a:solidFill>
                  <a:srgbClr val="062B49"/>
                </a:solidFill>
              </a:rPr>
              <a:t>UNIFIED PRICING CALCULATOR</a:t>
            </a:r>
          </a:p>
          <a:p>
            <a:pPr algn="ctr">
              <a:defRPr sz="1050" b="1">
                <a:solidFill>
                  <a:srgbClr val="062B49"/>
                </a:solidFill>
              </a:defRPr>
            </a:pPr>
            <a:r>
              <a:rPr sz="1050" b="1" dirty="0">
                <a:solidFill>
                  <a:srgbClr val="062B49"/>
                </a:solidFill>
              </a:rPr>
              <a:t>Model tailored scenarios</a:t>
            </a:r>
          </a:p>
        </p:txBody>
      </p:sp>
      <p:sp>
        <p:nvSpPr>
          <p:cNvPr id="12" name="channel-api">
            <a:extLst>
              <a:ext uri="{FF2B5EF4-FFF2-40B4-BE49-F238E27FC236}">
                <a16:creationId xmlns:a16="http://schemas.microsoft.com/office/drawing/2014/main" id="{A220C2EE-4732-4E9F-B37B-C8CBE1F0ABAF}"/>
              </a:ext>
            </a:extLst>
          </p:cNvPr>
          <p:cNvSpPr>
            <a:spLocks noGrp="1"/>
          </p:cNvSpPr>
          <p:nvPr/>
        </p:nvSpPr>
        <p:spPr>
          <a:xfrm>
            <a:off x="8334375" y="1352550"/>
            <a:ext cx="3333750" cy="428625"/>
          </a:xfrm>
          <a:prstGeom prst="roundRect">
            <a:avLst>
              <a:gd name="adj" fmla="val 26667"/>
            </a:avLst>
          </a:prstGeom>
          <a:solidFill>
            <a:srgbClr val="E7F2EC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62B49"/>
                </a:solidFill>
              </a:defRPr>
            </a:pPr>
            <a:r>
              <a:rPr sz="1050" b="1" dirty="0">
                <a:solidFill>
                  <a:srgbClr val="062B49"/>
                </a:solidFill>
              </a:rPr>
              <a:t>ONBOARDING &amp; APIs</a:t>
            </a:r>
          </a:p>
          <a:p>
            <a:pPr algn="ctr">
              <a:defRPr sz="1050" b="1">
                <a:solidFill>
                  <a:srgbClr val="062B49"/>
                </a:solidFill>
              </a:defRPr>
            </a:pPr>
            <a:r>
              <a:rPr sz="1050" b="1" dirty="0">
                <a:solidFill>
                  <a:srgbClr val="062B49"/>
                </a:solidFill>
              </a:rPr>
              <a:t>Instantiate templates and automate changes</a:t>
            </a:r>
          </a:p>
        </p:txBody>
      </p:sp>
      <p:sp>
        <p:nvSpPr>
          <p:cNvPr id="13" name="hub-title">
            <a:extLst>
              <a:ext uri="{FF2B5EF4-FFF2-40B4-BE49-F238E27FC236}">
                <a16:creationId xmlns:a16="http://schemas.microsoft.com/office/drawing/2014/main" id="{87F98951-0838-46DE-9A94-E6FBDF96E387}"/>
              </a:ext>
            </a:extLst>
          </p:cNvPr>
          <p:cNvSpPr>
            <a:spLocks noGrp="1"/>
          </p:cNvSpPr>
          <p:nvPr/>
        </p:nvSpPr>
        <p:spPr>
          <a:xfrm>
            <a:off x="523875" y="2000250"/>
            <a:ext cx="11144250" cy="590550"/>
          </a:xfrm>
          <a:prstGeom prst="roundRect">
            <a:avLst>
              <a:gd name="adj" fmla="val 19355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PRICING MANAGEMENT HUB</a:t>
            </a: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One governed experience to configure, approve, activate and service merchant pricing</a:t>
            </a:r>
          </a:p>
        </p:txBody>
      </p:sp>
      <p:sp>
        <p:nvSpPr>
          <p:cNvPr id="14" name="domain-0">
            <a:extLst>
              <a:ext uri="{FF2B5EF4-FFF2-40B4-BE49-F238E27FC236}">
                <a16:creationId xmlns:a16="http://schemas.microsoft.com/office/drawing/2014/main" id="{ACA90507-17CE-4067-AB6F-3D2F460F0FF1}"/>
              </a:ext>
            </a:extLst>
          </p:cNvPr>
          <p:cNvSpPr>
            <a:spLocks noGrp="1"/>
          </p:cNvSpPr>
          <p:nvPr/>
        </p:nvSpPr>
        <p:spPr>
          <a:xfrm>
            <a:off x="523875" y="2714625"/>
            <a:ext cx="2076450" cy="971550"/>
          </a:xfrm>
          <a:prstGeom prst="roundRect">
            <a:avLst>
              <a:gd name="adj" fmla="val 11765"/>
            </a:avLst>
          </a:prstGeom>
          <a:solidFill>
            <a:srgbClr val="DCECF3"/>
          </a:solidFill>
          <a:ln w="9525">
            <a:solidFill>
              <a:srgbClr val="6EA4BB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PRODUCT &amp; SERVICE CONFIGURATION</a:t>
            </a:r>
          </a:p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Products, eligibility, service codes and mappings</a:t>
            </a:r>
          </a:p>
        </p:txBody>
      </p:sp>
      <p:sp>
        <p:nvSpPr>
          <p:cNvPr id="15" name="domain-1">
            <a:extLst>
              <a:ext uri="{FF2B5EF4-FFF2-40B4-BE49-F238E27FC236}">
                <a16:creationId xmlns:a16="http://schemas.microsoft.com/office/drawing/2014/main" id="{DB2C58E4-9D07-4B6B-9BC3-497DE9CE6F5D}"/>
              </a:ext>
            </a:extLst>
          </p:cNvPr>
          <p:cNvSpPr>
            <a:spLocks noGrp="1"/>
          </p:cNvSpPr>
          <p:nvPr/>
        </p:nvSpPr>
        <p:spPr>
          <a:xfrm>
            <a:off x="2790825" y="2714625"/>
            <a:ext cx="2076450" cy="971550"/>
          </a:xfrm>
          <a:prstGeom prst="roundRect">
            <a:avLst>
              <a:gd name="adj" fmla="val 11765"/>
            </a:avLst>
          </a:prstGeom>
          <a:solidFill>
            <a:srgbClr val="E8F5F5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PRICING RULES &amp; TEMPLATES</a:t>
            </a:r>
          </a:p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Templates, tiers, A/B variants and effective dates</a:t>
            </a:r>
          </a:p>
        </p:txBody>
      </p:sp>
      <p:sp>
        <p:nvSpPr>
          <p:cNvPr id="16" name="domain-2">
            <a:extLst>
              <a:ext uri="{FF2B5EF4-FFF2-40B4-BE49-F238E27FC236}">
                <a16:creationId xmlns:a16="http://schemas.microsoft.com/office/drawing/2014/main" id="{AD1F4AEB-E5B4-4FBB-8CFE-AC54B2B32F44}"/>
              </a:ext>
            </a:extLst>
          </p:cNvPr>
          <p:cNvSpPr>
            <a:spLocks noGrp="1"/>
          </p:cNvSpPr>
          <p:nvPr/>
        </p:nvSpPr>
        <p:spPr>
          <a:xfrm>
            <a:off x="5057775" y="2714625"/>
            <a:ext cx="2076450" cy="971550"/>
          </a:xfrm>
          <a:prstGeom prst="roundRect">
            <a:avLst>
              <a:gd name="adj" fmla="val 11765"/>
            </a:avLst>
          </a:prstGeom>
          <a:solidFill>
            <a:srgbClr val="F0E6F3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NEW MONETIZATION MODELS</a:t>
            </a:r>
          </a:p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lang="en-US" sz="1050" b="1" dirty="0">
                <a:solidFill>
                  <a:srgbClr val="172B3A"/>
                </a:solidFill>
              </a:rPr>
              <a:t>Tiered Pricing, Metering, </a:t>
            </a:r>
            <a:r>
              <a:rPr sz="1050" b="1" dirty="0">
                <a:solidFill>
                  <a:srgbClr val="172B3A"/>
                </a:solidFill>
              </a:rPr>
              <a:t>Discounts, </a:t>
            </a:r>
            <a:r>
              <a:rPr lang="en-US" sz="1050" b="1" dirty="0">
                <a:solidFill>
                  <a:srgbClr val="172B3A"/>
                </a:solidFill>
              </a:rPr>
              <a:t>B</a:t>
            </a:r>
            <a:r>
              <a:rPr sz="1050" b="1" dirty="0">
                <a:solidFill>
                  <a:srgbClr val="172B3A"/>
                </a:solidFill>
              </a:rPr>
              <a:t>undles, </a:t>
            </a:r>
            <a:r>
              <a:rPr lang="en-US" sz="1050" b="1" dirty="0">
                <a:solidFill>
                  <a:srgbClr val="172B3A"/>
                </a:solidFill>
              </a:rPr>
              <a:t>S</a:t>
            </a:r>
            <a:r>
              <a:rPr sz="1050" b="1" dirty="0">
                <a:solidFill>
                  <a:srgbClr val="172B3A"/>
                </a:solidFill>
              </a:rPr>
              <a:t>ubscriptions and </a:t>
            </a:r>
            <a:r>
              <a:rPr lang="en-US" sz="1050" b="1" dirty="0">
                <a:solidFill>
                  <a:srgbClr val="172B3A"/>
                </a:solidFill>
              </a:rPr>
              <a:t>U</a:t>
            </a:r>
            <a:r>
              <a:rPr sz="1050" b="1" dirty="0">
                <a:solidFill>
                  <a:srgbClr val="172B3A"/>
                </a:solidFill>
              </a:rPr>
              <a:t>sage</a:t>
            </a:r>
          </a:p>
        </p:txBody>
      </p:sp>
      <p:sp>
        <p:nvSpPr>
          <p:cNvPr id="17" name="domain-3">
            <a:extLst>
              <a:ext uri="{FF2B5EF4-FFF2-40B4-BE49-F238E27FC236}">
                <a16:creationId xmlns:a16="http://schemas.microsoft.com/office/drawing/2014/main" id="{B1070470-E708-4400-BE79-62B5EE9DCE0A}"/>
              </a:ext>
            </a:extLst>
          </p:cNvPr>
          <p:cNvSpPr>
            <a:spLocks noGrp="1"/>
          </p:cNvSpPr>
          <p:nvPr/>
        </p:nvSpPr>
        <p:spPr>
          <a:xfrm>
            <a:off x="7324725" y="2714625"/>
            <a:ext cx="2076450" cy="971550"/>
          </a:xfrm>
          <a:prstGeom prst="roundRect">
            <a:avLst>
              <a:gd name="adj" fmla="val 11765"/>
            </a:avLst>
          </a:prstGeom>
          <a:solidFill>
            <a:srgbClr val="FFF4D9"/>
          </a:solidFill>
          <a:ln w="9525">
            <a:solidFill>
              <a:srgbClr val="E5A528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MERCHANT PRICING INSTRUCTIONS</a:t>
            </a:r>
          </a:p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UPC scenarios, </a:t>
            </a:r>
            <a:r>
              <a:rPr lang="en-US" sz="1050" b="1" dirty="0">
                <a:solidFill>
                  <a:srgbClr val="172B3A"/>
                </a:solidFill>
              </a:rPr>
              <a:t>template instances</a:t>
            </a:r>
            <a:r>
              <a:rPr sz="1050" b="1" dirty="0">
                <a:solidFill>
                  <a:srgbClr val="172B3A"/>
                </a:solidFill>
              </a:rPr>
              <a:t> and approvals</a:t>
            </a:r>
          </a:p>
        </p:txBody>
      </p:sp>
      <p:sp>
        <p:nvSpPr>
          <p:cNvPr id="18" name="domain-4">
            <a:extLst>
              <a:ext uri="{FF2B5EF4-FFF2-40B4-BE49-F238E27FC236}">
                <a16:creationId xmlns:a16="http://schemas.microsoft.com/office/drawing/2014/main" id="{38BE46F7-7C03-45BD-B4D7-86A4142B7E35}"/>
              </a:ext>
            </a:extLst>
          </p:cNvPr>
          <p:cNvSpPr>
            <a:spLocks noGrp="1"/>
          </p:cNvSpPr>
          <p:nvPr/>
        </p:nvSpPr>
        <p:spPr>
          <a:xfrm>
            <a:off x="9591675" y="2714625"/>
            <a:ext cx="2076450" cy="971550"/>
          </a:xfrm>
          <a:prstGeom prst="roundRect">
            <a:avLst>
              <a:gd name="adj" fmla="val 11765"/>
            </a:avLst>
          </a:prstGeom>
          <a:solidFill>
            <a:srgbClr val="FBEBDD"/>
          </a:solidFill>
          <a:ln w="9525">
            <a:solidFill>
              <a:srgbClr val="DF6D25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REVENUE SHARING</a:t>
            </a:r>
          </a:p>
          <a:p>
            <a:pPr algn="ctr">
              <a:defRPr sz="1050" b="1">
                <a:solidFill>
                  <a:srgbClr val="172B3A"/>
                </a:solidFill>
              </a:defRPr>
            </a:pPr>
            <a:r>
              <a:rPr sz="1050" b="1" dirty="0">
                <a:solidFill>
                  <a:srgbClr val="172B3A"/>
                </a:solidFill>
              </a:rPr>
              <a:t>Merchant, partner and network economics</a:t>
            </a:r>
          </a:p>
        </p:txBody>
      </p:sp>
      <p:sp>
        <p:nvSpPr>
          <p:cNvPr id="19" name="data-store">
            <a:extLst>
              <a:ext uri="{FF2B5EF4-FFF2-40B4-BE49-F238E27FC236}">
                <a16:creationId xmlns:a16="http://schemas.microsoft.com/office/drawing/2014/main" id="{ACAA253B-0C6B-4AC5-B9B3-DF132612831A}"/>
              </a:ext>
            </a:extLst>
          </p:cNvPr>
          <p:cNvSpPr>
            <a:spLocks noGrp="1"/>
          </p:cNvSpPr>
          <p:nvPr/>
        </p:nvSpPr>
        <p:spPr>
          <a:xfrm>
            <a:off x="523875" y="3952875"/>
            <a:ext cx="11144250" cy="495300"/>
          </a:xfrm>
          <a:prstGeom prst="roundRect">
            <a:avLst>
              <a:gd name="adj" fmla="val 23077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COMMON PRICING DATA STORE  |  Single source of truth  •  Version controlled  •  Effective dated  •  Audit logged  •  API accessible</a:t>
            </a:r>
          </a:p>
        </p:txBody>
      </p:sp>
      <p:sp>
        <p:nvSpPr>
          <p:cNvPr id="20" name="engine">
            <a:extLst>
              <a:ext uri="{FF2B5EF4-FFF2-40B4-BE49-F238E27FC236}">
                <a16:creationId xmlns:a16="http://schemas.microsoft.com/office/drawing/2014/main" id="{F021A44B-1FB8-4EDA-B807-42D104C1846D}"/>
              </a:ext>
            </a:extLst>
          </p:cNvPr>
          <p:cNvSpPr>
            <a:spLocks noGrp="1"/>
          </p:cNvSpPr>
          <p:nvPr/>
        </p:nvSpPr>
        <p:spPr>
          <a:xfrm>
            <a:off x="2476500" y="4714875"/>
            <a:ext cx="7239000" cy="628650"/>
          </a:xfrm>
          <a:prstGeom prst="roundRect">
            <a:avLst>
              <a:gd name="adj" fmla="val 18182"/>
            </a:avLst>
          </a:prstGeom>
          <a:solidFill>
            <a:srgbClr val="F0E6F3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MONETIZATION ENGINE — TRANSACTION PRICING RUNTIME</a:t>
            </a:r>
          </a:p>
          <a:p>
            <a:pPr algn="ctr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Executes approved pricing configurations, calculates transaction pricing and applies commercial economics</a:t>
            </a:r>
          </a:p>
        </p:txBody>
      </p:sp>
      <p:sp>
        <p:nvSpPr>
          <p:cNvPr id="21" name="output-0">
            <a:extLst>
              <a:ext uri="{FF2B5EF4-FFF2-40B4-BE49-F238E27FC236}">
                <a16:creationId xmlns:a16="http://schemas.microsoft.com/office/drawing/2014/main" id="{734303E0-86B0-4D40-B64E-55052F643D2F}"/>
              </a:ext>
            </a:extLst>
          </p:cNvPr>
          <p:cNvSpPr>
            <a:spLocks noGrp="1"/>
          </p:cNvSpPr>
          <p:nvPr/>
        </p:nvSpPr>
        <p:spPr>
          <a:xfrm>
            <a:off x="523875" y="5619750"/>
            <a:ext cx="1666875" cy="400050"/>
          </a:xfrm>
          <a:prstGeom prst="roundRect">
            <a:avLst>
              <a:gd name="adj" fmla="val 28571"/>
            </a:avLst>
          </a:prstGeom>
          <a:solidFill>
            <a:srgbClr val="DCECF3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62B49"/>
                </a:solidFill>
              </a:defRPr>
            </a:pPr>
            <a:r>
              <a:rPr sz="900" b="1">
                <a:solidFill>
                  <a:srgbClr val="062B49"/>
                </a:solidFill>
              </a:rPr>
              <a:t>RM / OPS UI</a:t>
            </a:r>
          </a:p>
        </p:txBody>
      </p:sp>
      <p:sp>
        <p:nvSpPr>
          <p:cNvPr id="22" name="output-1">
            <a:extLst>
              <a:ext uri="{FF2B5EF4-FFF2-40B4-BE49-F238E27FC236}">
                <a16:creationId xmlns:a16="http://schemas.microsoft.com/office/drawing/2014/main" id="{469BBC95-AAC7-48F0-A0A6-FD901C57CE3B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1666875" cy="400050"/>
          </a:xfrm>
          <a:prstGeom prst="roundRect">
            <a:avLst>
              <a:gd name="adj" fmla="val 28571"/>
            </a:avLst>
          </a:prstGeom>
          <a:solidFill>
            <a:srgbClr val="E7F2EC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62B49"/>
                </a:solidFill>
              </a:defRPr>
            </a:pPr>
            <a:r>
              <a:rPr sz="900" b="1">
                <a:solidFill>
                  <a:srgbClr val="062B49"/>
                </a:solidFill>
              </a:rPr>
              <a:t>PRICING INSTRUCTIONS</a:t>
            </a:r>
          </a:p>
        </p:txBody>
      </p:sp>
      <p:sp>
        <p:nvSpPr>
          <p:cNvPr id="23" name="output-2">
            <a:extLst>
              <a:ext uri="{FF2B5EF4-FFF2-40B4-BE49-F238E27FC236}">
                <a16:creationId xmlns:a16="http://schemas.microsoft.com/office/drawing/2014/main" id="{0986B715-A2CE-417B-9CF9-570912A519FA}"/>
              </a:ext>
            </a:extLst>
          </p:cNvPr>
          <p:cNvSpPr>
            <a:spLocks noGrp="1"/>
          </p:cNvSpPr>
          <p:nvPr/>
        </p:nvSpPr>
        <p:spPr>
          <a:xfrm>
            <a:off x="4238625" y="5619750"/>
            <a:ext cx="1666875" cy="400050"/>
          </a:xfrm>
          <a:prstGeom prst="roundRect">
            <a:avLst>
              <a:gd name="adj" fmla="val 28571"/>
            </a:avLst>
          </a:prstGeom>
          <a:solidFill>
            <a:srgbClr val="E8F5F5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62B49"/>
                </a:solidFill>
              </a:defRPr>
            </a:pPr>
            <a:r>
              <a:rPr sz="900" b="1">
                <a:solidFill>
                  <a:srgbClr val="062B49"/>
                </a:solidFill>
              </a:rPr>
              <a:t>COMMERCE PLATFORM</a:t>
            </a:r>
          </a:p>
        </p:txBody>
      </p:sp>
      <p:sp>
        <p:nvSpPr>
          <p:cNvPr id="24" name="output-3">
            <a:extLst>
              <a:ext uri="{FF2B5EF4-FFF2-40B4-BE49-F238E27FC236}">
                <a16:creationId xmlns:a16="http://schemas.microsoft.com/office/drawing/2014/main" id="{56452DD7-1CDA-4130-B489-AC9AC6D23AEB}"/>
              </a:ext>
            </a:extLst>
          </p:cNvPr>
          <p:cNvSpPr>
            <a:spLocks noGrp="1"/>
          </p:cNvSpPr>
          <p:nvPr/>
        </p:nvSpPr>
        <p:spPr>
          <a:xfrm>
            <a:off x="6096000" y="5619750"/>
            <a:ext cx="1666875" cy="400050"/>
          </a:xfrm>
          <a:prstGeom prst="roundRect">
            <a:avLst>
              <a:gd name="adj" fmla="val 28571"/>
            </a:avLst>
          </a:prstGeom>
          <a:solidFill>
            <a:srgbClr val="F0E6F3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62B49"/>
                </a:solidFill>
              </a:defRPr>
            </a:pPr>
            <a:r>
              <a:rPr sz="900" b="1">
                <a:solidFill>
                  <a:srgbClr val="062B49"/>
                </a:solidFill>
              </a:rPr>
              <a:t>PEOPLESOFT FSM</a:t>
            </a:r>
          </a:p>
        </p:txBody>
      </p:sp>
      <p:sp>
        <p:nvSpPr>
          <p:cNvPr id="25" name="output-4">
            <a:extLst>
              <a:ext uri="{FF2B5EF4-FFF2-40B4-BE49-F238E27FC236}">
                <a16:creationId xmlns:a16="http://schemas.microsoft.com/office/drawing/2014/main" id="{231FFF52-6C5F-4869-8140-DFF1C5B70958}"/>
              </a:ext>
            </a:extLst>
          </p:cNvPr>
          <p:cNvSpPr>
            <a:spLocks noGrp="1"/>
          </p:cNvSpPr>
          <p:nvPr/>
        </p:nvSpPr>
        <p:spPr>
          <a:xfrm>
            <a:off x="7953375" y="5619750"/>
            <a:ext cx="1666875" cy="400050"/>
          </a:xfrm>
          <a:prstGeom prst="roundRect">
            <a:avLst>
              <a:gd name="adj" fmla="val 28571"/>
            </a:avLst>
          </a:prstGeom>
          <a:solidFill>
            <a:srgbClr val="FBEBDD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62B49"/>
                </a:solidFill>
              </a:defRPr>
            </a:pPr>
            <a:r>
              <a:rPr sz="900" b="1">
                <a:solidFill>
                  <a:srgbClr val="062B49"/>
                </a:solidFill>
              </a:rPr>
              <a:t>SALESFORCE CRM</a:t>
            </a:r>
          </a:p>
        </p:txBody>
      </p:sp>
      <p:sp>
        <p:nvSpPr>
          <p:cNvPr id="26" name="output-5">
            <a:extLst>
              <a:ext uri="{FF2B5EF4-FFF2-40B4-BE49-F238E27FC236}">
                <a16:creationId xmlns:a16="http://schemas.microsoft.com/office/drawing/2014/main" id="{F084084E-9DDF-4382-A5DE-15CDA7B596C1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666875" cy="400050"/>
          </a:xfrm>
          <a:prstGeom prst="roundRect">
            <a:avLst>
              <a:gd name="adj" fmla="val 28571"/>
            </a:avLst>
          </a:prstGeom>
          <a:solidFill>
            <a:srgbClr val="F3F7F9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62B49"/>
                </a:solidFill>
              </a:defRPr>
            </a:pPr>
            <a:r>
              <a:rPr sz="900" b="1">
                <a:solidFill>
                  <a:srgbClr val="062B49"/>
                </a:solidFill>
              </a:rPr>
              <a:t>REPORTING / DATA</a:t>
            </a:r>
          </a:p>
        </p:txBody>
      </p:sp>
      <p:sp>
        <p:nvSpPr>
          <p:cNvPr id="27" name="architecture-message">
            <a:extLst>
              <a:ext uri="{FF2B5EF4-FFF2-40B4-BE49-F238E27FC236}">
                <a16:creationId xmlns:a16="http://schemas.microsoft.com/office/drawing/2014/main" id="{BAF991A2-BBD0-4143-B1E2-70BBB219DDB4}"/>
              </a:ext>
            </a:extLst>
          </p:cNvPr>
          <p:cNvSpPr>
            <a:spLocks noGrp="1"/>
          </p:cNvSpPr>
          <p:nvPr/>
        </p:nvSpPr>
        <p:spPr>
          <a:xfrm>
            <a:off x="2428875" y="6172200"/>
            <a:ext cx="7334250" cy="26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MANAGE IN THE HUB  →  STORE ONCE  →  PUBLISH THROUGH APIs  →  EXECUTE IN THE ENGINE</a:t>
            </a:r>
          </a:p>
        </p:txBody>
      </p:sp>
      <p:sp>
        <p:nvSpPr>
          <p:cNvPr id="28" name="footer">
            <a:extLst>
              <a:ext uri="{FF2B5EF4-FFF2-40B4-BE49-F238E27FC236}">
                <a16:creationId xmlns:a16="http://schemas.microsoft.com/office/drawing/2014/main" id="{C421F04F-C788-43A1-9966-40256FD9C6AA}"/>
              </a:ext>
            </a:extLst>
          </p:cNvPr>
          <p:cNvSpPr>
            <a:spLocks noGrp="1"/>
          </p:cNvSpPr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62B49"/>
          </a:solidFill>
          <a:ln w="0">
            <a:noFill/>
            <a:prstDash val="solid"/>
          </a:ln>
        </p:spPr>
        <p:txBody>
          <a:bodyPr anchor="ctr"/>
          <a:lstStyle/>
          <a:p>
            <a:pPr>
              <a:defRPr sz="825">
                <a:solidFill>
                  <a:srgbClr val="D4E1E8"/>
                </a:solidFill>
              </a:defRPr>
            </a:pPr>
            <a:r>
              <a:rPr sz="825">
                <a:solidFill>
                  <a:srgbClr val="D4E1E8"/>
                </a:solidFill>
              </a:rPr>
              <a:t>Platform architecture | Pricing Management Hub governs configuration; Monetization Engine executes transaction pricing</a:t>
            </a:r>
          </a:p>
        </p:txBody>
      </p:sp>
    </p:spTree>
    <p:extLst>
      <p:ext uri="{BB962C8B-B14F-4D97-AF65-F5344CB8AC3E}">
        <p14:creationId xmlns:p14="http://schemas.microsoft.com/office/powerpoint/2010/main" val="819091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rule">
            <a:extLst>
              <a:ext uri="{FF2B5EF4-FFF2-40B4-BE49-F238E27FC236}">
                <a16:creationId xmlns:a16="http://schemas.microsoft.com/office/drawing/2014/main" id="{AB698B97-52A8-4F5F-94A0-4DFEFA271D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878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1D5324-519D-4F6E-BA6B-4DF4C6EBC095}"/>
              </a:ext>
            </a:extLst>
          </p:cNvPr>
          <p:cNvSpPr>
            <a:spLocks noGrp="1"/>
          </p:cNvSpPr>
          <p:nvPr/>
        </p:nvSpPr>
        <p:spPr>
          <a:xfrm>
            <a:off x="514350" y="23812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062B49"/>
                </a:solidFill>
              </a:defRPr>
            </a:pPr>
            <a:r>
              <a:rPr sz="2625" b="1">
                <a:solidFill>
                  <a:srgbClr val="062B49"/>
                </a:solidFill>
              </a:rPr>
              <a:t>Pricing Management Hub supports two merchant pricing journeys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D1060BA-F298-409A-8B49-817C928F65A0}"/>
              </a:ext>
            </a:extLst>
          </p:cNvPr>
          <p:cNvSpPr>
            <a:spLocks noGrp="1"/>
          </p:cNvSpPr>
          <p:nvPr/>
        </p:nvSpPr>
        <p:spPr>
          <a:xfrm>
            <a:off x="523875" y="72390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6774"/>
                </a:solidFill>
              </a:defRPr>
            </a:pPr>
            <a:r>
              <a:rPr sz="1275" b="0">
                <a:solidFill>
                  <a:srgbClr val="526774"/>
                </a:solidFill>
              </a:rPr>
              <a:t>Tailored UPC scenarios and pre-approved SMB/MM templates both create governed instructions for activation and servicing.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C6C43FAF-6C7C-4ABA-AC51-CB45E7F714E2}"/>
              </a:ext>
            </a:extLst>
          </p:cNvPr>
          <p:cNvSpPr>
            <a:spLocks noGrp="1"/>
          </p:cNvSpPr>
          <p:nvPr/>
        </p:nvSpPr>
        <p:spPr>
          <a:xfrm>
            <a:off x="11287125" y="2952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03</a:t>
            </a:r>
          </a:p>
        </p:txBody>
      </p:sp>
      <p:sp>
        <p:nvSpPr>
          <p:cNvPr id="5" name="journey-label">
            <a:extLst>
              <a:ext uri="{FF2B5EF4-FFF2-40B4-BE49-F238E27FC236}">
                <a16:creationId xmlns:a16="http://schemas.microsoft.com/office/drawing/2014/main" id="{CB1BBDA4-997C-4775-82F2-5C00A00144BE}"/>
              </a:ext>
            </a:extLst>
          </p:cNvPr>
          <p:cNvSpPr>
            <a:spLocks noGrp="1"/>
          </p:cNvSpPr>
          <p:nvPr/>
        </p:nvSpPr>
        <p:spPr>
          <a:xfrm>
            <a:off x="523875" y="1133475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END-TO-END PRICING LIFECYCLE</a:t>
            </a:r>
          </a:p>
        </p:txBody>
      </p:sp>
      <p:sp>
        <p:nvSpPr>
          <p:cNvPr id="6" name="hub-to-upc">
            <a:extLst>
              <a:ext uri="{FF2B5EF4-FFF2-40B4-BE49-F238E27FC236}">
                <a16:creationId xmlns:a16="http://schemas.microsoft.com/office/drawing/2014/main" id="{11BC0A3B-052E-4B06-94DB-DD7F39F78748}"/>
              </a:ext>
            </a:extLst>
          </p:cNvPr>
          <p:cNvSpPr>
            <a:spLocks noGrp="1"/>
          </p:cNvSpPr>
          <p:nvPr/>
        </p:nvSpPr>
        <p:spPr>
          <a:xfrm>
            <a:off x="3143250" y="1895475"/>
            <a:ext cx="323850" cy="276225"/>
          </a:xfrm>
          <a:prstGeom prst="downArrow">
            <a:avLst/>
          </a:prstGeom>
          <a:solidFill>
            <a:srgbClr val="062B4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ub-to-template">
            <a:extLst>
              <a:ext uri="{FF2B5EF4-FFF2-40B4-BE49-F238E27FC236}">
                <a16:creationId xmlns:a16="http://schemas.microsoft.com/office/drawing/2014/main" id="{973B044C-74A5-4763-9A62-18392A27B575}"/>
              </a:ext>
            </a:extLst>
          </p:cNvPr>
          <p:cNvSpPr>
            <a:spLocks noGrp="1"/>
          </p:cNvSpPr>
          <p:nvPr/>
        </p:nvSpPr>
        <p:spPr>
          <a:xfrm>
            <a:off x="8724900" y="1895475"/>
            <a:ext cx="323850" cy="276225"/>
          </a:xfrm>
          <a:prstGeom prst="downArrow">
            <a:avLst/>
          </a:prstGeom>
          <a:solidFill>
            <a:srgbClr val="062B4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upc-to-inst">
            <a:extLst>
              <a:ext uri="{FF2B5EF4-FFF2-40B4-BE49-F238E27FC236}">
                <a16:creationId xmlns:a16="http://schemas.microsoft.com/office/drawing/2014/main" id="{B84C145C-700A-4307-9F34-0BF46BEC817C}"/>
              </a:ext>
            </a:extLst>
          </p:cNvPr>
          <p:cNvSpPr>
            <a:spLocks noGrp="1"/>
          </p:cNvSpPr>
          <p:nvPr/>
        </p:nvSpPr>
        <p:spPr>
          <a:xfrm>
            <a:off x="3143250" y="4029075"/>
            <a:ext cx="323850" cy="333375"/>
          </a:xfrm>
          <a:prstGeom prst="downArrow">
            <a:avLst/>
          </a:prstGeom>
          <a:solidFill>
            <a:srgbClr val="E5A5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mplate-to-inst">
            <a:extLst>
              <a:ext uri="{FF2B5EF4-FFF2-40B4-BE49-F238E27FC236}">
                <a16:creationId xmlns:a16="http://schemas.microsoft.com/office/drawing/2014/main" id="{48EFFDFB-B56D-414E-B3C9-F9C1A828497B}"/>
              </a:ext>
            </a:extLst>
          </p:cNvPr>
          <p:cNvSpPr>
            <a:spLocks noGrp="1"/>
          </p:cNvSpPr>
          <p:nvPr/>
        </p:nvSpPr>
        <p:spPr>
          <a:xfrm>
            <a:off x="8724900" y="4029075"/>
            <a:ext cx="323850" cy="333375"/>
          </a:xfrm>
          <a:prstGeom prst="downArrow">
            <a:avLst/>
          </a:prstGeom>
          <a:solidFill>
            <a:srgbClr val="00878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instruction-to-activation">
            <a:extLst>
              <a:ext uri="{FF2B5EF4-FFF2-40B4-BE49-F238E27FC236}">
                <a16:creationId xmlns:a16="http://schemas.microsoft.com/office/drawing/2014/main" id="{AEF8C1B1-A835-4561-B34B-4902B9860C51}"/>
              </a:ext>
            </a:extLst>
          </p:cNvPr>
          <p:cNvSpPr>
            <a:spLocks noGrp="1"/>
          </p:cNvSpPr>
          <p:nvPr/>
        </p:nvSpPr>
        <p:spPr>
          <a:xfrm>
            <a:off x="4619625" y="4962525"/>
            <a:ext cx="323850" cy="295275"/>
          </a:xfrm>
          <a:prstGeom prst="downArrow">
            <a:avLst/>
          </a:prstGeom>
          <a:solidFill>
            <a:srgbClr val="00878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ctivation-to-servicing">
            <a:extLst>
              <a:ext uri="{FF2B5EF4-FFF2-40B4-BE49-F238E27FC236}">
                <a16:creationId xmlns:a16="http://schemas.microsoft.com/office/drawing/2014/main" id="{EA2F4196-D0C6-45D7-BACC-1EA03758AB0E}"/>
              </a:ext>
            </a:extLst>
          </p:cNvPr>
          <p:cNvSpPr>
            <a:spLocks noGrp="1"/>
          </p:cNvSpPr>
          <p:nvPr/>
        </p:nvSpPr>
        <p:spPr>
          <a:xfrm>
            <a:off x="5753100" y="5619750"/>
            <a:ext cx="581025" cy="285750"/>
          </a:xfrm>
          <a:prstGeom prst="rightArrow">
            <a:avLst/>
          </a:prstGeom>
          <a:solidFill>
            <a:srgbClr val="3386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ub-source">
            <a:extLst>
              <a:ext uri="{FF2B5EF4-FFF2-40B4-BE49-F238E27FC236}">
                <a16:creationId xmlns:a16="http://schemas.microsoft.com/office/drawing/2014/main" id="{D1646D80-8277-419D-B325-FAA02E469F02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11144250" cy="571500"/>
          </a:xfrm>
          <a:prstGeom prst="roundRect">
            <a:avLst>
              <a:gd name="adj" fmla="val 20000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PRICING MANAGEMENT HUB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Governs models, rules, templates, approvals and merchant pricing instructions</a:t>
            </a:r>
          </a:p>
        </p:txBody>
      </p:sp>
      <p:sp>
        <p:nvSpPr>
          <p:cNvPr id="13" name="upc-path">
            <a:extLst>
              <a:ext uri="{FF2B5EF4-FFF2-40B4-BE49-F238E27FC236}">
                <a16:creationId xmlns:a16="http://schemas.microsoft.com/office/drawing/2014/main" id="{440D3B3F-CF7D-4113-B628-182D6EF451B3}"/>
              </a:ext>
            </a:extLst>
          </p:cNvPr>
          <p:cNvSpPr>
            <a:spLocks noGrp="1"/>
          </p:cNvSpPr>
          <p:nvPr/>
        </p:nvSpPr>
        <p:spPr>
          <a:xfrm>
            <a:off x="523875" y="2238375"/>
            <a:ext cx="5334000" cy="1790700"/>
          </a:xfrm>
          <a:prstGeom prst="roundRect">
            <a:avLst>
              <a:gd name="adj" fmla="val 6383"/>
            </a:avLst>
          </a:prstGeom>
          <a:solidFill>
            <a:srgbClr val="FFF4D9"/>
          </a:solidFill>
          <a:ln w="9525">
            <a:solidFill>
              <a:srgbClr val="E5A528"/>
            </a:solidFill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TAILORED / COMPLEX PRICING — UPC</a:t>
            </a:r>
          </a:p>
          <a:p>
            <a:endParaRPr sz="1200" b="1">
              <a:solidFill>
                <a:srgbClr val="172B3A"/>
              </a:solidFill>
            </a:endParaRP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• Enable supported Monetization Engine models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• Model and compare merchant-specific scenarios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• Capture merchant and internal approvals</a:t>
            </a:r>
          </a:p>
        </p:txBody>
      </p:sp>
      <p:sp>
        <p:nvSpPr>
          <p:cNvPr id="14" name="template-path">
            <a:extLst>
              <a:ext uri="{FF2B5EF4-FFF2-40B4-BE49-F238E27FC236}">
                <a16:creationId xmlns:a16="http://schemas.microsoft.com/office/drawing/2014/main" id="{5AE798EC-0E1F-41CC-B7E0-F3B93C3CD893}"/>
              </a:ext>
            </a:extLst>
          </p:cNvPr>
          <p:cNvSpPr>
            <a:spLocks noGrp="1"/>
          </p:cNvSpPr>
          <p:nvPr/>
        </p:nvSpPr>
        <p:spPr>
          <a:xfrm>
            <a:off x="6334125" y="2238375"/>
            <a:ext cx="5334000" cy="1790700"/>
          </a:xfrm>
          <a:prstGeom prst="roundRect">
            <a:avLst>
              <a:gd name="adj" fmla="val 6383"/>
            </a:avLst>
          </a:prstGeom>
          <a:solidFill>
            <a:srgbClr val="E8F5F5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SMB / MIDDLE MARKET — PRICING TEMPLATES</a:t>
            </a:r>
          </a:p>
          <a:p>
            <a:endParaRPr sz="1200" b="1">
              <a:solidFill>
                <a:srgbClr val="172B3A"/>
              </a:solidFill>
            </a:endParaRP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• Create, approve and version standard templates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• Select the appropriate template during onboarding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• Instantiate a merchant-specific pricing instruction</a:t>
            </a:r>
          </a:p>
        </p:txBody>
      </p:sp>
      <p:sp>
        <p:nvSpPr>
          <p:cNvPr id="15" name="instruction">
            <a:extLst>
              <a:ext uri="{FF2B5EF4-FFF2-40B4-BE49-F238E27FC236}">
                <a16:creationId xmlns:a16="http://schemas.microsoft.com/office/drawing/2014/main" id="{8155B17E-C607-48A9-B2F8-A1365EC9BC6B}"/>
              </a:ext>
            </a:extLst>
          </p:cNvPr>
          <p:cNvSpPr>
            <a:spLocks noGrp="1"/>
          </p:cNvSpPr>
          <p:nvPr/>
        </p:nvSpPr>
        <p:spPr>
          <a:xfrm>
            <a:off x="3238500" y="4381500"/>
            <a:ext cx="5715000" cy="628650"/>
          </a:xfrm>
          <a:prstGeom prst="roundRect">
            <a:avLst>
              <a:gd name="adj" fmla="val 18182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COMMON OUTPUT — GOVERNED MERCHANT PRICING INSTRUCTION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Created from an approved UPC scenario or an instantiated pricing template</a:t>
            </a:r>
          </a:p>
        </p:txBody>
      </p:sp>
      <p:sp>
        <p:nvSpPr>
          <p:cNvPr id="16" name="activation">
            <a:extLst>
              <a:ext uri="{FF2B5EF4-FFF2-40B4-BE49-F238E27FC236}">
                <a16:creationId xmlns:a16="http://schemas.microsoft.com/office/drawing/2014/main" id="{6567D9A2-9D53-4C92-8848-CFD38D2502FE}"/>
              </a:ext>
            </a:extLst>
          </p:cNvPr>
          <p:cNvSpPr>
            <a:spLocks noGrp="1"/>
          </p:cNvSpPr>
          <p:nvPr/>
        </p:nvSpPr>
        <p:spPr>
          <a:xfrm>
            <a:off x="2381250" y="5286375"/>
            <a:ext cx="3476625" cy="981075"/>
          </a:xfrm>
          <a:prstGeom prst="roundRect">
            <a:avLst>
              <a:gd name="adj" fmla="val 11650"/>
            </a:avLst>
          </a:prstGeom>
          <a:solidFill>
            <a:srgbClr val="E8F5F5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AUTOMATED ACTIVATION</a:t>
            </a:r>
          </a:p>
          <a:p>
            <a:pPr algn="ctr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Load the governed instruction into the Monetization Engine and downstream platforms</a:t>
            </a:r>
          </a:p>
        </p:txBody>
      </p:sp>
      <p:sp>
        <p:nvSpPr>
          <p:cNvPr id="17" name="servicing">
            <a:extLst>
              <a:ext uri="{FF2B5EF4-FFF2-40B4-BE49-F238E27FC236}">
                <a16:creationId xmlns:a16="http://schemas.microsoft.com/office/drawing/2014/main" id="{21135B5F-C51F-40F6-ACF0-128D857B023A}"/>
              </a:ext>
            </a:extLst>
          </p:cNvPr>
          <p:cNvSpPr>
            <a:spLocks noGrp="1"/>
          </p:cNvSpPr>
          <p:nvPr/>
        </p:nvSpPr>
        <p:spPr>
          <a:xfrm>
            <a:off x="6334125" y="5286375"/>
            <a:ext cx="3476625" cy="981075"/>
          </a:xfrm>
          <a:prstGeom prst="roundRect">
            <a:avLst>
              <a:gd name="adj" fmla="val 11650"/>
            </a:avLst>
          </a:prstGeom>
          <a:solidFill>
            <a:srgbClr val="E7F2EC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ONGOING PRICING SERVICING</a:t>
            </a:r>
          </a:p>
          <a:p>
            <a:pPr algn="ctr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Merchant updates, template changes, bulk actions, effective dates and reapproval</a:t>
            </a:r>
          </a:p>
        </p:txBody>
      </p:sp>
      <p:sp>
        <p:nvSpPr>
          <p:cNvPr id="18" name="service-code">
            <a:extLst>
              <a:ext uri="{FF2B5EF4-FFF2-40B4-BE49-F238E27FC236}">
                <a16:creationId xmlns:a16="http://schemas.microsoft.com/office/drawing/2014/main" id="{914ADE38-4A5D-407D-9719-3380D111A427}"/>
              </a:ext>
            </a:extLst>
          </p:cNvPr>
          <p:cNvSpPr>
            <a:spLocks noGrp="1"/>
          </p:cNvSpPr>
          <p:nvPr/>
        </p:nvSpPr>
        <p:spPr>
          <a:xfrm>
            <a:off x="10001250" y="5286375"/>
            <a:ext cx="1666875" cy="981075"/>
          </a:xfrm>
          <a:prstGeom prst="roundRect">
            <a:avLst>
              <a:gd name="adj" fmla="val 11650"/>
            </a:avLst>
          </a:prstGeom>
          <a:solidFill>
            <a:srgbClr val="F3F7F9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62B49"/>
                </a:solidFill>
              </a:defRPr>
            </a:pPr>
            <a:r>
              <a:rPr sz="900" b="1">
                <a:solidFill>
                  <a:srgbClr val="062B49"/>
                </a:solidFill>
              </a:rPr>
              <a:t>SERVICE CODE &amp; PRODUCT CONFIGURATION</a:t>
            </a:r>
          </a:p>
          <a:p>
            <a:pPr algn="ctr">
              <a:defRPr sz="900" b="1">
                <a:solidFill>
                  <a:srgbClr val="062B49"/>
                </a:solidFill>
              </a:defRPr>
            </a:pPr>
            <a:r>
              <a:rPr sz="900" b="1">
                <a:solidFill>
                  <a:srgbClr val="062B49"/>
                </a:solidFill>
              </a:rPr>
              <a:t>Governed configuration required for activation and changes</a:t>
            </a:r>
          </a:p>
        </p:txBody>
      </p:sp>
      <p:sp>
        <p:nvSpPr>
          <p:cNvPr id="19" name="footer">
            <a:extLst>
              <a:ext uri="{FF2B5EF4-FFF2-40B4-BE49-F238E27FC236}">
                <a16:creationId xmlns:a16="http://schemas.microsoft.com/office/drawing/2014/main" id="{161D542C-DE00-40A2-BF6B-9DA683584EEC}"/>
              </a:ext>
            </a:extLst>
          </p:cNvPr>
          <p:cNvSpPr>
            <a:spLocks noGrp="1"/>
          </p:cNvSpPr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62B49"/>
          </a:solidFill>
          <a:ln w="0">
            <a:noFill/>
            <a:prstDash val="solid"/>
          </a:ln>
        </p:spPr>
        <p:txBody>
          <a:bodyPr anchor="ctr"/>
          <a:lstStyle/>
          <a:p>
            <a:pPr>
              <a:defRPr sz="825">
                <a:solidFill>
                  <a:srgbClr val="D4E1E8"/>
                </a:solidFill>
              </a:defRPr>
            </a:pPr>
            <a:r>
              <a:rPr sz="825">
                <a:solidFill>
                  <a:srgbClr val="D4E1E8"/>
                </a:solidFill>
              </a:rPr>
              <a:t>Pricing lifecycle | Support tailored and template pricing across onboarding, activation and ongoing servicing</a:t>
            </a:r>
          </a:p>
        </p:txBody>
      </p:sp>
    </p:spTree>
    <p:extLst>
      <p:ext uri="{BB962C8B-B14F-4D97-AF65-F5344CB8AC3E}">
        <p14:creationId xmlns:p14="http://schemas.microsoft.com/office/powerpoint/2010/main" val="68410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rule">
            <a:extLst>
              <a:ext uri="{FF2B5EF4-FFF2-40B4-BE49-F238E27FC236}">
                <a16:creationId xmlns:a16="http://schemas.microsoft.com/office/drawing/2014/main" id="{23DA6116-97F1-40EC-9727-0B065EECE1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878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948BE57-81B0-4ECE-9F49-FE0EA71F3898}"/>
              </a:ext>
            </a:extLst>
          </p:cNvPr>
          <p:cNvSpPr>
            <a:spLocks noGrp="1"/>
          </p:cNvSpPr>
          <p:nvPr/>
        </p:nvSpPr>
        <p:spPr>
          <a:xfrm>
            <a:off x="514350" y="23812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062B49"/>
                </a:solidFill>
              </a:defRPr>
            </a:pPr>
            <a:r>
              <a:rPr sz="2625" b="1">
                <a:solidFill>
                  <a:srgbClr val="062B49"/>
                </a:solidFill>
              </a:rPr>
              <a:t>The roadmap aligns the engine, Pricing Management Hub and activation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163C58C-BE62-49C3-B350-4702F5D9175F}"/>
              </a:ext>
            </a:extLst>
          </p:cNvPr>
          <p:cNvSpPr>
            <a:spLocks noGrp="1"/>
          </p:cNvSpPr>
          <p:nvPr/>
        </p:nvSpPr>
        <p:spPr>
          <a:xfrm>
            <a:off x="523875" y="72390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6774"/>
                </a:solidFill>
              </a:defRPr>
            </a:pPr>
            <a:r>
              <a:rPr sz="1275" b="0">
                <a:solidFill>
                  <a:srgbClr val="526774"/>
                </a:solidFill>
              </a:rPr>
              <a:t>Current portfolio targets are organized around the four capabilities required to commercialize and service new models end to end.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1BBC50BB-6770-48FE-A229-314A5C1921ED}"/>
              </a:ext>
            </a:extLst>
          </p:cNvPr>
          <p:cNvSpPr>
            <a:spLocks noGrp="1"/>
          </p:cNvSpPr>
          <p:nvPr/>
        </p:nvSpPr>
        <p:spPr>
          <a:xfrm>
            <a:off x="11287125" y="2952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04</a:t>
            </a:r>
          </a:p>
        </p:txBody>
      </p:sp>
      <p:sp>
        <p:nvSpPr>
          <p:cNvPr id="5" name="roadmap-label">
            <a:extLst>
              <a:ext uri="{FF2B5EF4-FFF2-40B4-BE49-F238E27FC236}">
                <a16:creationId xmlns:a16="http://schemas.microsoft.com/office/drawing/2014/main" id="{2FC3A90E-C9F5-4774-9D15-4637E72B7A9C}"/>
              </a:ext>
            </a:extLst>
          </p:cNvPr>
          <p:cNvSpPr>
            <a:spLocks noGrp="1"/>
          </p:cNvSpPr>
          <p:nvPr/>
        </p:nvSpPr>
        <p:spPr>
          <a:xfrm>
            <a:off x="523875" y="11334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TARGET ROADMAP</a:t>
            </a:r>
          </a:p>
        </p:txBody>
      </p:sp>
      <p:sp>
        <p:nvSpPr>
          <p:cNvPr id="6" name="phase-0">
            <a:extLst>
              <a:ext uri="{FF2B5EF4-FFF2-40B4-BE49-F238E27FC236}">
                <a16:creationId xmlns:a16="http://schemas.microsoft.com/office/drawing/2014/main" id="{33F08182-FE64-4926-B44B-E7850E260717}"/>
              </a:ext>
            </a:extLst>
          </p:cNvPr>
          <p:cNvSpPr>
            <a:spLocks noGrp="1"/>
          </p:cNvSpPr>
          <p:nvPr/>
        </p:nvSpPr>
        <p:spPr>
          <a:xfrm>
            <a:off x="3000375" y="1323975"/>
            <a:ext cx="2743200" cy="533400"/>
          </a:xfrm>
          <a:prstGeom prst="roundRect">
            <a:avLst>
              <a:gd name="adj" fmla="val 21429"/>
            </a:avLst>
          </a:prstGeom>
          <a:solidFill>
            <a:srgbClr val="DCECF3"/>
          </a:solidFill>
          <a:ln w="9525">
            <a:solidFill>
              <a:srgbClr val="86B1C4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62B49"/>
                </a:solidFill>
              </a:defRPr>
            </a:pPr>
            <a:r>
              <a:rPr sz="1125" b="1">
                <a:solidFill>
                  <a:srgbClr val="062B49"/>
                </a:solidFill>
              </a:rPr>
              <a:t>H1 2027</a:t>
            </a:r>
          </a:p>
          <a:p>
            <a:pPr algn="ctr">
              <a:defRPr sz="1125" b="1">
                <a:solidFill>
                  <a:srgbClr val="062B49"/>
                </a:solidFill>
              </a:defRPr>
            </a:pPr>
            <a:r>
              <a:rPr sz="1125" b="1">
                <a:solidFill>
                  <a:srgbClr val="062B49"/>
                </a:solidFill>
              </a:rPr>
              <a:t>FOUNDATION</a:t>
            </a:r>
          </a:p>
        </p:txBody>
      </p:sp>
      <p:sp>
        <p:nvSpPr>
          <p:cNvPr id="7" name="phase-1">
            <a:extLst>
              <a:ext uri="{FF2B5EF4-FFF2-40B4-BE49-F238E27FC236}">
                <a16:creationId xmlns:a16="http://schemas.microsoft.com/office/drawing/2014/main" id="{0C2C2127-322F-4CAA-BF73-DB4850043937}"/>
              </a:ext>
            </a:extLst>
          </p:cNvPr>
          <p:cNvSpPr>
            <a:spLocks noGrp="1"/>
          </p:cNvSpPr>
          <p:nvPr/>
        </p:nvSpPr>
        <p:spPr>
          <a:xfrm>
            <a:off x="5857875" y="1323975"/>
            <a:ext cx="2743200" cy="533400"/>
          </a:xfrm>
          <a:prstGeom prst="roundRect">
            <a:avLst>
              <a:gd name="adj" fmla="val 21429"/>
            </a:avLst>
          </a:prstGeom>
          <a:solidFill>
            <a:srgbClr val="E8F5F5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62B49"/>
                </a:solidFill>
              </a:defRPr>
            </a:pPr>
            <a:r>
              <a:rPr sz="1125" b="1">
                <a:solidFill>
                  <a:srgbClr val="062B49"/>
                </a:solidFill>
              </a:rPr>
              <a:t>H2 2027</a:t>
            </a:r>
          </a:p>
          <a:p>
            <a:pPr algn="ctr">
              <a:defRPr sz="1125" b="1">
                <a:solidFill>
                  <a:srgbClr val="062B49"/>
                </a:solidFill>
              </a:defRPr>
            </a:pPr>
            <a:r>
              <a:rPr sz="1125" b="1">
                <a:solidFill>
                  <a:srgbClr val="062B49"/>
                </a:solidFill>
              </a:rPr>
              <a:t>AUTOMATE &amp; SCALE</a:t>
            </a:r>
          </a:p>
        </p:txBody>
      </p:sp>
      <p:sp>
        <p:nvSpPr>
          <p:cNvPr id="8" name="phase-2">
            <a:extLst>
              <a:ext uri="{FF2B5EF4-FFF2-40B4-BE49-F238E27FC236}">
                <a16:creationId xmlns:a16="http://schemas.microsoft.com/office/drawing/2014/main" id="{6E7ECC17-64FC-49F4-9BD2-2F0688002B3B}"/>
              </a:ext>
            </a:extLst>
          </p:cNvPr>
          <p:cNvSpPr>
            <a:spLocks noGrp="1"/>
          </p:cNvSpPr>
          <p:nvPr/>
        </p:nvSpPr>
        <p:spPr>
          <a:xfrm>
            <a:off x="8715375" y="1323975"/>
            <a:ext cx="2743200" cy="533400"/>
          </a:xfrm>
          <a:prstGeom prst="roundRect">
            <a:avLst>
              <a:gd name="adj" fmla="val 21429"/>
            </a:avLst>
          </a:prstGeom>
          <a:solidFill>
            <a:srgbClr val="F0E6F3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62B49"/>
                </a:solidFill>
              </a:defRPr>
            </a:pPr>
            <a:r>
              <a:rPr sz="1125" b="1">
                <a:solidFill>
                  <a:srgbClr val="062B49"/>
                </a:solidFill>
              </a:rPr>
              <a:t>2028+</a:t>
            </a:r>
          </a:p>
          <a:p>
            <a:pPr algn="ctr">
              <a:defRPr sz="1125" b="1">
                <a:solidFill>
                  <a:srgbClr val="062B49"/>
                </a:solidFill>
              </a:defRPr>
            </a:pPr>
            <a:r>
              <a:rPr sz="1125" b="1">
                <a:solidFill>
                  <a:srgbClr val="062B49"/>
                </a:solidFill>
              </a:rPr>
              <a:t>EXPAND MONETIZATION</a:t>
            </a:r>
          </a:p>
        </p:txBody>
      </p:sp>
      <p:sp>
        <p:nvSpPr>
          <p:cNvPr id="9" name="row-label-0">
            <a:extLst>
              <a:ext uri="{FF2B5EF4-FFF2-40B4-BE49-F238E27FC236}">
                <a16:creationId xmlns:a16="http://schemas.microsoft.com/office/drawing/2014/main" id="{E79806E3-7D9C-4095-BD4F-5DDA81C84F38}"/>
              </a:ext>
            </a:extLst>
          </p:cNvPr>
          <p:cNvSpPr>
            <a:spLocks noGrp="1"/>
          </p:cNvSpPr>
          <p:nvPr/>
        </p:nvSpPr>
        <p:spPr>
          <a:xfrm>
            <a:off x="523875" y="2000250"/>
            <a:ext cx="2362200" cy="1066800"/>
          </a:xfrm>
          <a:prstGeom prst="roundRect">
            <a:avLst>
              <a:gd name="adj" fmla="val 10714"/>
            </a:avLst>
          </a:prstGeom>
          <a:solidFill>
            <a:srgbClr val="F3F7F9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MONETIZATION ENGINE &amp; NEW MODELS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D91F0DBA-973F-40AD-9813-FA2B7BD36D55}"/>
              </a:ext>
            </a:extLst>
          </p:cNvPr>
          <p:cNvSpPr>
            <a:spLocks noGrp="1"/>
          </p:cNvSpPr>
          <p:nvPr/>
        </p:nvSpPr>
        <p:spPr>
          <a:xfrm>
            <a:off x="3000375" y="2000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 dirty="0">
                <a:solidFill>
                  <a:srgbClr val="172B3A"/>
                </a:solidFill>
              </a:rPr>
              <a:t>SMB discount automation (Q2)</a:t>
            </a:r>
          </a:p>
        </p:txBody>
      </p:sp>
      <p:sp>
        <p:nvSpPr>
          <p:cNvPr id="11" name="cell-0-1">
            <a:extLst>
              <a:ext uri="{FF2B5EF4-FFF2-40B4-BE49-F238E27FC236}">
                <a16:creationId xmlns:a16="http://schemas.microsoft.com/office/drawing/2014/main" id="{0AAF157C-8058-4F8E-B338-135234BABD4E}"/>
              </a:ext>
            </a:extLst>
          </p:cNvPr>
          <p:cNvSpPr>
            <a:spLocks noGrp="1"/>
          </p:cNvSpPr>
          <p:nvPr/>
        </p:nvSpPr>
        <p:spPr>
          <a:xfrm>
            <a:off x="5857875" y="2000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Progressive tiers (Q3)</a:t>
            </a:r>
          </a:p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Enterprise tiering (Q4)</a:t>
            </a:r>
          </a:p>
        </p:txBody>
      </p:sp>
      <p:sp>
        <p:nvSpPr>
          <p:cNvPr id="12" name="cell-0-2">
            <a:extLst>
              <a:ext uri="{FF2B5EF4-FFF2-40B4-BE49-F238E27FC236}">
                <a16:creationId xmlns:a16="http://schemas.microsoft.com/office/drawing/2014/main" id="{3A32B25D-C35A-4FAB-BA87-315763F0CE8C}"/>
              </a:ext>
            </a:extLst>
          </p:cNvPr>
          <p:cNvSpPr>
            <a:spLocks noGrp="1"/>
          </p:cNvSpPr>
          <p:nvPr/>
        </p:nvSpPr>
        <p:spPr>
          <a:xfrm>
            <a:off x="8715375" y="2000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Bundles • subscriptions • usage</a:t>
            </a:r>
          </a:p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Revenue share and partner economics</a:t>
            </a:r>
          </a:p>
        </p:txBody>
      </p:sp>
      <p:sp>
        <p:nvSpPr>
          <p:cNvPr id="13" name="row-label-1">
            <a:extLst>
              <a:ext uri="{FF2B5EF4-FFF2-40B4-BE49-F238E27FC236}">
                <a16:creationId xmlns:a16="http://schemas.microsoft.com/office/drawing/2014/main" id="{4C46E394-ABF1-4A5C-AA93-EB793D6C28F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2362200" cy="1066800"/>
          </a:xfrm>
          <a:prstGeom prst="roundRect">
            <a:avLst>
              <a:gd name="adj" fmla="val 10714"/>
            </a:avLst>
          </a:prstGeom>
          <a:solidFill>
            <a:srgbClr val="F3F7F9"/>
          </a:solidFill>
          <a:ln w="9525">
            <a:solidFill>
              <a:srgbClr val="E5A52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PRICING MANAGEMENT HUB</a:t>
            </a:r>
          </a:p>
        </p:txBody>
      </p:sp>
      <p:sp>
        <p:nvSpPr>
          <p:cNvPr id="14" name="cell-1-0">
            <a:extLst>
              <a:ext uri="{FF2B5EF4-FFF2-40B4-BE49-F238E27FC236}">
                <a16:creationId xmlns:a16="http://schemas.microsoft.com/office/drawing/2014/main" id="{E0361B76-8291-4433-8376-1E774E7FB5DB}"/>
              </a:ext>
            </a:extLst>
          </p:cNvPr>
          <p:cNvSpPr>
            <a:spLocks noGrp="1"/>
          </p:cNvSpPr>
          <p:nvPr/>
        </p:nvSpPr>
        <p:spPr>
          <a:xfrm>
            <a:off x="3000375" y="3143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UPC tiering support (Q1)</a:t>
            </a:r>
          </a:p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Template management (Q2)</a:t>
            </a:r>
          </a:p>
        </p:txBody>
      </p:sp>
      <p:sp>
        <p:nvSpPr>
          <p:cNvPr id="15" name="cell-1-1">
            <a:extLst>
              <a:ext uri="{FF2B5EF4-FFF2-40B4-BE49-F238E27FC236}">
                <a16:creationId xmlns:a16="http://schemas.microsoft.com/office/drawing/2014/main" id="{2B0FB8D4-9454-45DD-92D2-FC303688F435}"/>
              </a:ext>
            </a:extLst>
          </p:cNvPr>
          <p:cNvSpPr>
            <a:spLocks noGrp="1"/>
          </p:cNvSpPr>
          <p:nvPr/>
        </p:nvSpPr>
        <p:spPr>
          <a:xfrm>
            <a:off x="5857875" y="3143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Pricing A/B testing (Q3)</a:t>
            </a:r>
          </a:p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Template versioning and activation</a:t>
            </a:r>
          </a:p>
        </p:txBody>
      </p:sp>
      <p:sp>
        <p:nvSpPr>
          <p:cNvPr id="16" name="cell-1-2">
            <a:extLst>
              <a:ext uri="{FF2B5EF4-FFF2-40B4-BE49-F238E27FC236}">
                <a16:creationId xmlns:a16="http://schemas.microsoft.com/office/drawing/2014/main" id="{D648F4B1-3641-4645-A714-D12FF0942C84}"/>
              </a:ext>
            </a:extLst>
          </p:cNvPr>
          <p:cNvSpPr>
            <a:spLocks noGrp="1"/>
          </p:cNvSpPr>
          <p:nvPr/>
        </p:nvSpPr>
        <p:spPr>
          <a:xfrm>
            <a:off x="8715375" y="3143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4D9"/>
          </a:solidFill>
          <a:ln w="9525">
            <a:solidFill>
              <a:srgbClr val="E5A528"/>
            </a:solidFill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UPC platform/global expansion</a:t>
            </a:r>
          </a:p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Merchant updates, bulk servicing and approvals</a:t>
            </a:r>
          </a:p>
        </p:txBody>
      </p:sp>
      <p:sp>
        <p:nvSpPr>
          <p:cNvPr id="17" name="row-label-2">
            <a:extLst>
              <a:ext uri="{FF2B5EF4-FFF2-40B4-BE49-F238E27FC236}">
                <a16:creationId xmlns:a16="http://schemas.microsoft.com/office/drawing/2014/main" id="{A59E6F98-0257-4842-B29D-C00AAAEC2514}"/>
              </a:ext>
            </a:extLst>
          </p:cNvPr>
          <p:cNvSpPr>
            <a:spLocks noGrp="1"/>
          </p:cNvSpPr>
          <p:nvPr/>
        </p:nvSpPr>
        <p:spPr>
          <a:xfrm>
            <a:off x="523875" y="4286250"/>
            <a:ext cx="2362200" cy="1066800"/>
          </a:xfrm>
          <a:prstGeom prst="roundRect">
            <a:avLst>
              <a:gd name="adj" fmla="val 10714"/>
            </a:avLst>
          </a:prstGeom>
          <a:solidFill>
            <a:srgbClr val="F3F7F9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COMMERCE &amp; ONBOARDING AUTOMATION</a:t>
            </a:r>
          </a:p>
        </p:txBody>
      </p:sp>
      <p:sp>
        <p:nvSpPr>
          <p:cNvPr id="18" name="cell-2-0">
            <a:extLst>
              <a:ext uri="{FF2B5EF4-FFF2-40B4-BE49-F238E27FC236}">
                <a16:creationId xmlns:a16="http://schemas.microsoft.com/office/drawing/2014/main" id="{49EC4602-0C06-4056-9819-2CB2ED8B0EF6}"/>
              </a:ext>
            </a:extLst>
          </p:cNvPr>
          <p:cNvSpPr>
            <a:spLocks noGrp="1"/>
          </p:cNvSpPr>
          <p:nvPr/>
        </p:nvSpPr>
        <p:spPr>
          <a:xfrm>
            <a:off x="3000375" y="4286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New payment-method onboarding (Q2)</a:t>
            </a:r>
          </a:p>
        </p:txBody>
      </p:sp>
      <p:sp>
        <p:nvSpPr>
          <p:cNvPr id="19" name="cell-2-1">
            <a:extLst>
              <a:ext uri="{FF2B5EF4-FFF2-40B4-BE49-F238E27FC236}">
                <a16:creationId xmlns:a16="http://schemas.microsoft.com/office/drawing/2014/main" id="{392992FF-5B7D-48E2-824C-79E160AFAC0C}"/>
              </a:ext>
            </a:extLst>
          </p:cNvPr>
          <p:cNvSpPr>
            <a:spLocks noGrp="1"/>
          </p:cNvSpPr>
          <p:nvPr/>
        </p:nvSpPr>
        <p:spPr>
          <a:xfrm>
            <a:off x="5857875" y="4286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ECR automation (Q3)</a:t>
            </a:r>
          </a:p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Schedule A integration (Q4)</a:t>
            </a:r>
          </a:p>
        </p:txBody>
      </p:sp>
      <p:sp>
        <p:nvSpPr>
          <p:cNvPr id="20" name="cell-2-2">
            <a:extLst>
              <a:ext uri="{FF2B5EF4-FFF2-40B4-BE49-F238E27FC236}">
                <a16:creationId xmlns:a16="http://schemas.microsoft.com/office/drawing/2014/main" id="{7FC4677D-E813-43E1-89EB-56B35977593D}"/>
              </a:ext>
            </a:extLst>
          </p:cNvPr>
          <p:cNvSpPr>
            <a:spLocks noGrp="1"/>
          </p:cNvSpPr>
          <p:nvPr/>
        </p:nvSpPr>
        <p:spPr>
          <a:xfrm>
            <a:off x="8715375" y="4286250"/>
            <a:ext cx="2743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Approved-instruction activation</a:t>
            </a:r>
          </a:p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End-to-end automated onboarding</a:t>
            </a:r>
          </a:p>
        </p:txBody>
      </p:sp>
      <p:sp>
        <p:nvSpPr>
          <p:cNvPr id="21" name="row-label-3">
            <a:extLst>
              <a:ext uri="{FF2B5EF4-FFF2-40B4-BE49-F238E27FC236}">
                <a16:creationId xmlns:a16="http://schemas.microsoft.com/office/drawing/2014/main" id="{1AAED409-66EA-45E9-863D-BDB86E952FFE}"/>
              </a:ext>
            </a:extLst>
          </p:cNvPr>
          <p:cNvSpPr>
            <a:spLocks noGrp="1"/>
          </p:cNvSpPr>
          <p:nvPr/>
        </p:nvSpPr>
        <p:spPr>
          <a:xfrm>
            <a:off x="523875" y="5429250"/>
            <a:ext cx="2362200" cy="1000125"/>
          </a:xfrm>
          <a:prstGeom prst="roundRect">
            <a:avLst>
              <a:gd name="adj" fmla="val 11429"/>
            </a:avLst>
          </a:prstGeom>
          <a:solidFill>
            <a:srgbClr val="F3F7F9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SERVICE CODE &amp; PRODUCT CONFIGURATION</a:t>
            </a:r>
          </a:p>
        </p:txBody>
      </p:sp>
      <p:sp>
        <p:nvSpPr>
          <p:cNvPr id="22" name="cell-3-0">
            <a:extLst>
              <a:ext uri="{FF2B5EF4-FFF2-40B4-BE49-F238E27FC236}">
                <a16:creationId xmlns:a16="http://schemas.microsoft.com/office/drawing/2014/main" id="{FEE29222-6990-42DE-81C3-6130C8DE01D1}"/>
              </a:ext>
            </a:extLst>
          </p:cNvPr>
          <p:cNvSpPr>
            <a:spLocks noGrp="1"/>
          </p:cNvSpPr>
          <p:nvPr/>
        </p:nvSpPr>
        <p:spPr>
          <a:xfrm>
            <a:off x="3000375" y="5429250"/>
            <a:ext cx="27432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Governance portal (Q1)</a:t>
            </a:r>
          </a:p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Controlled catalog (Q2)</a:t>
            </a:r>
          </a:p>
        </p:txBody>
      </p:sp>
      <p:sp>
        <p:nvSpPr>
          <p:cNvPr id="23" name="cell-3-1">
            <a:extLst>
              <a:ext uri="{FF2B5EF4-FFF2-40B4-BE49-F238E27FC236}">
                <a16:creationId xmlns:a16="http://schemas.microsoft.com/office/drawing/2014/main" id="{5B866A67-944E-4A68-A2B7-33EEEAA405FC}"/>
              </a:ext>
            </a:extLst>
          </p:cNvPr>
          <p:cNvSpPr>
            <a:spLocks noGrp="1"/>
          </p:cNvSpPr>
          <p:nvPr/>
        </p:nvSpPr>
        <p:spPr>
          <a:xfrm>
            <a:off x="5857875" y="5429250"/>
            <a:ext cx="27432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Creation automation (Q3)</a:t>
            </a:r>
          </a:p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Deprecation workflow (Q4)</a:t>
            </a:r>
          </a:p>
        </p:txBody>
      </p:sp>
      <p:sp>
        <p:nvSpPr>
          <p:cNvPr id="24" name="cell-3-2">
            <a:extLst>
              <a:ext uri="{FF2B5EF4-FFF2-40B4-BE49-F238E27FC236}">
                <a16:creationId xmlns:a16="http://schemas.microsoft.com/office/drawing/2014/main" id="{45D25487-CFF5-42C5-999A-962D68370059}"/>
              </a:ext>
            </a:extLst>
          </p:cNvPr>
          <p:cNvSpPr>
            <a:spLocks noGrp="1"/>
          </p:cNvSpPr>
          <p:nvPr/>
        </p:nvSpPr>
        <p:spPr>
          <a:xfrm>
            <a:off x="8715375" y="5429250"/>
            <a:ext cx="27432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72B3A"/>
                </a:solidFill>
              </a:defRPr>
            </a:pPr>
            <a:r>
              <a:rPr sz="1125" b="0">
                <a:solidFill>
                  <a:srgbClr val="172B3A"/>
                </a:solidFill>
              </a:rPr>
              <a:t>Business-language recommendation engine</a:t>
            </a:r>
          </a:p>
        </p:txBody>
      </p:sp>
      <p:sp>
        <p:nvSpPr>
          <p:cNvPr id="25" name="footer">
            <a:extLst>
              <a:ext uri="{FF2B5EF4-FFF2-40B4-BE49-F238E27FC236}">
                <a16:creationId xmlns:a16="http://schemas.microsoft.com/office/drawing/2014/main" id="{09A9454E-7120-4A73-8AFB-0D2EED02E93E}"/>
              </a:ext>
            </a:extLst>
          </p:cNvPr>
          <p:cNvSpPr>
            <a:spLocks noGrp="1"/>
          </p:cNvSpPr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62B49"/>
          </a:solidFill>
          <a:ln w="0">
            <a:noFill/>
            <a:prstDash val="solid"/>
          </a:ln>
        </p:spPr>
        <p:txBody>
          <a:bodyPr anchor="ctr"/>
          <a:lstStyle/>
          <a:p>
            <a:pPr>
              <a:defRPr sz="825">
                <a:solidFill>
                  <a:srgbClr val="D4E1E8"/>
                </a:solidFill>
              </a:defRPr>
            </a:pPr>
            <a:r>
              <a:rPr sz="825">
                <a:solidFill>
                  <a:srgbClr val="D4E1E8"/>
                </a:solidFill>
              </a:rPr>
              <a:t>Timing reflects the current portfolio view; Hub servicing, UPC expansion and approval automation require confirmed sequencing.</a:t>
            </a:r>
          </a:p>
        </p:txBody>
      </p:sp>
    </p:spTree>
    <p:extLst>
      <p:ext uri="{BB962C8B-B14F-4D97-AF65-F5344CB8AC3E}">
        <p14:creationId xmlns:p14="http://schemas.microsoft.com/office/powerpoint/2010/main" val="8888282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Microsoft Office PowerPoint</Application>
  <DocSecurity>0</DocSecurity>
  <PresentationFormat>Widescreen</PresentationFormat>
  <Paragraphs>138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James Nampalam</cp:lastModifiedBy>
  <cp:revision>1</cp:revision>
  <dcterms:created xsi:type="dcterms:W3CDTF">2026-08-02T23:30:15Z</dcterms:created>
  <dcterms:modified xsi:type="dcterms:W3CDTF">2026-08-03T00:45:03Z</dcterms:modified>
</cp:coreProperties>
</file>